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382E0-BF2A-0965-5A44-9BD5BB18A2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BE86A2-BC45-0BF7-9BF0-74AD3C6183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20494-FBAE-0111-790D-734A658E8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3BC32-5FA8-4CC8-9926-2D49DEE090A5}" type="datetimeFigureOut">
              <a:rPr lang="en-BE" smtClean="0"/>
              <a:t>09/03/2026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67FBA-4E4E-15B3-0727-E365A92D3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2DAB15-78FE-C493-40AF-0E8831609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5A5D9-7111-4870-B008-A2B2BCEEBE5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49767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1DDAC-E6DF-5714-2709-17F53CD53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4C15B-5D14-BF8C-D53D-32A7D5558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94EB6B-066B-389E-EDB9-598CE38AE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3BC32-5FA8-4CC8-9926-2D49DEE090A5}" type="datetimeFigureOut">
              <a:rPr lang="en-BE" smtClean="0"/>
              <a:t>09/03/2026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DF9F2-B954-CC83-DF7F-C1974D9EA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EC0509-73FA-40E0-5889-B3B8649A3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5A5D9-7111-4870-B008-A2B2BCEEBE5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91135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06091-5DF7-B219-B336-20AC69BF4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4A1EDD-E881-2FE3-B79E-C6865AF8DA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1B37E-7146-0A3E-64B0-A72C4FBF8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3BC32-5FA8-4CC8-9926-2D49DEE090A5}" type="datetimeFigureOut">
              <a:rPr lang="en-BE" smtClean="0"/>
              <a:t>09/03/2026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2217E-883E-8AA8-8CEF-ADCB55CE8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89A42F-C819-8AD8-93A2-4CD6C7386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5A5D9-7111-4870-B008-A2B2BCEEBE5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32258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9B6C0-EB2A-CBEC-9AB5-5735AED87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A0E42A-7CE4-2335-75FF-E77CC14CF2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F7B194-5527-E211-7C78-54C29E618A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4F3942-6B0A-E6B6-7CD7-729C1E604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3BC32-5FA8-4CC8-9926-2D49DEE090A5}" type="datetimeFigureOut">
              <a:rPr lang="en-BE" smtClean="0"/>
              <a:t>09/03/2026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E09965-28EC-F064-C60B-3BE8E6032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8A0628-1CAD-B780-A568-839DFF7A0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5A5D9-7111-4870-B008-A2B2BCEEBE5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980221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5510A-3926-64AC-CF5D-325E44342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DC1A88-16FF-328D-DAB0-6C4E8C4202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D4DA2-D882-211A-0A80-3CE9D6613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27E275-AC7D-62F8-647B-6AEA2698D2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FF0C9B-EC18-B519-7127-0F595B0516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11244A-2FFA-B08B-0DE1-51A452D03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3BC32-5FA8-4CC8-9926-2D49DEE090A5}" type="datetimeFigureOut">
              <a:rPr lang="en-BE" smtClean="0"/>
              <a:t>09/03/2026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83EC8D-24C2-46CC-9B49-92F7A29E7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9C6607-BE76-B3AA-CB19-527C72EFC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5A5D9-7111-4870-B008-A2B2BCEEBE5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101246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7D8FB-E457-825A-3D46-05A0F8983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E6DBAA-B58E-8EE5-AD6E-F2FA4756F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3BC32-5FA8-4CC8-9926-2D49DEE090A5}" type="datetimeFigureOut">
              <a:rPr lang="en-BE" smtClean="0"/>
              <a:t>09/03/2026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9D095C-FFF9-E9C0-5192-7B017ABB1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2838F1-95AD-10FB-3A47-A5A4492F9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5A5D9-7111-4870-B008-A2B2BCEEBE5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719284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BF961C-BB90-FFD2-8E71-E9D33C8AA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3BC32-5FA8-4CC8-9926-2D49DEE090A5}" type="datetimeFigureOut">
              <a:rPr lang="en-BE" smtClean="0"/>
              <a:t>09/03/2026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2B9255-D8AB-436C-DE70-DB990DE00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29E48B-A377-C616-382D-4280BA5D0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5A5D9-7111-4870-B008-A2B2BCEEBE5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574879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E9621-9219-64A1-1B03-1842CCE75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917DE-A2E2-9D41-74C7-E8A06193CB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F098A9-EDC9-6576-54AB-C83ECC89D2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4BEA52-434D-5A05-567D-9347E170A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3BC32-5FA8-4CC8-9926-2D49DEE090A5}" type="datetimeFigureOut">
              <a:rPr lang="en-BE" smtClean="0"/>
              <a:t>09/03/2026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C9B47B-DB59-E0C8-F164-F118BA786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74F785-4662-748C-AFCD-8A21A885F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5A5D9-7111-4870-B008-A2B2BCEEBE5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801755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EF44B-B3C8-51C0-F7BE-11FABAAE4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8D81B3-1B24-6925-339B-86A932381B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EFA009-EA28-BF52-05B8-79181EC4F8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4287-84F9-02AB-923B-D886A9D04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3BC32-5FA8-4CC8-9926-2D49DEE090A5}" type="datetimeFigureOut">
              <a:rPr lang="en-BE" smtClean="0"/>
              <a:t>09/03/2026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FCE2C1-F0FB-E8D1-87A4-1D3512A04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ECEAAB-E40E-C95C-E8CE-E90AFB371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5A5D9-7111-4870-B008-A2B2BCEEBE5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79295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DBEC1-6E1E-8781-4E11-C61AA31A4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67708F-08B0-2CAF-E3BD-0A39B58FB6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2132A-895E-72BF-E605-3ACE12797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3BC32-5FA8-4CC8-9926-2D49DEE090A5}" type="datetimeFigureOut">
              <a:rPr lang="en-BE" smtClean="0"/>
              <a:t>09/03/2026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BEDD7-64FA-662B-531E-AB7587DFF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C76E1-ED86-54E6-7C0C-DFAB59A12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5A5D9-7111-4870-B008-A2B2BCEEBE5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091137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2A139F-51B4-0B1A-413D-198EED79D0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D6B034-CED2-ECFE-A3BD-0700CBD0C3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BF7F7-36B1-5AB9-A3BA-207F60291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3BC32-5FA8-4CC8-9926-2D49DEE090A5}" type="datetimeFigureOut">
              <a:rPr lang="en-BE" smtClean="0"/>
              <a:t>09/03/2026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42E8C-78EF-0B52-DD76-7A142B721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BC88F-EFA5-0D08-FABE-14AF54000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5A5D9-7111-4870-B008-A2B2BCEEBE5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16041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5298B4-3553-9D7A-3154-EC412FCD0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92F631-C00B-938E-7ED7-D12FF0AD6B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858E27-C04C-68C7-39FE-BAD3D2068A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73BC32-5FA8-4CC8-9926-2D49DEE090A5}" type="datetimeFigureOut">
              <a:rPr lang="en-BE" smtClean="0"/>
              <a:t>09/03/2026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6B4F1-5636-5695-729E-E24D2493BD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9373A2-B849-2535-E799-8DBDEBB5CE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F5A5D9-7111-4870-B008-A2B2BCEEBE5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34117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demy.com/course/ai-powered-data-analytics-mastery-ai-tools-vibe-coding/learn/lecture/51323369#overview" TargetMode="External"/><Relationship Id="rId7" Type="http://schemas.openxmlformats.org/officeDocument/2006/relationships/image" Target="../media/image2.png"/><Relationship Id="rId2" Type="http://schemas.openxmlformats.org/officeDocument/2006/relationships/hyperlink" Target="https://www.udemy.com/course/generative-ai-for-data-analysts-professionals/learn/lecture/50540209#questions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hyperlink" Target="https://www.udemy.com/course/generative-ai-for-data-engineering/learn/lecture/41676120#overview" TargetMode="External"/><Relationship Id="rId4" Type="http://schemas.openxmlformats.org/officeDocument/2006/relationships/hyperlink" Target="https://www.udemy.com/course/generative-ai-for-data-engineering/learn/lecture/41676070#overview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A8416-1FFD-6FD0-06E1-C9D5C6CF58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1" y="64030"/>
            <a:ext cx="9144000" cy="579437"/>
          </a:xfrm>
        </p:spPr>
        <p:txBody>
          <a:bodyPr>
            <a:noAutofit/>
          </a:bodyPr>
          <a:lstStyle/>
          <a:p>
            <a:r>
              <a:rPr lang="en-GB" sz="3600" dirty="0"/>
              <a:t>Gen AI for data </a:t>
            </a:r>
            <a:endParaRPr lang="en-BE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F98C62-8290-7731-0668-31B414D45B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800" y="1041400"/>
            <a:ext cx="11938000" cy="5752570"/>
          </a:xfrm>
        </p:spPr>
        <p:txBody>
          <a:bodyPr numCol="3">
            <a:normAutofit/>
          </a:bodyPr>
          <a:lstStyle/>
          <a:p>
            <a:pPr marL="228600" indent="-228600" algn="l">
              <a:buFont typeface="+mj-lt"/>
              <a:buAutoNum type="arabicPeriod"/>
            </a:pPr>
            <a:r>
              <a:rPr lang="en-GB" sz="900" dirty="0"/>
              <a:t>Prompt </a:t>
            </a:r>
            <a:r>
              <a:rPr lang="en-GB" sz="900" dirty="0" err="1"/>
              <a:t>engenieering</a:t>
            </a:r>
            <a:r>
              <a:rPr lang="en-GB" sz="900" dirty="0"/>
              <a:t> for data using </a:t>
            </a:r>
            <a:r>
              <a:rPr lang="en-GB" sz="900" dirty="0" err="1"/>
              <a:t>Chatgpt</a:t>
            </a:r>
            <a:r>
              <a:rPr lang="en-GB" sz="900" dirty="0"/>
              <a:t> GPT4 </a:t>
            </a:r>
            <a:r>
              <a:rPr lang="en-GB" sz="900" dirty="0">
                <a:hlinkClick r:id="rId2"/>
              </a:rPr>
              <a:t>https://www.udemy.com/course/generative-ai-for-data-analysts-professionals/learn/lecture/50540209#questions</a:t>
            </a:r>
            <a:r>
              <a:rPr lang="en-GB" sz="900" dirty="0"/>
              <a:t> 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GB" sz="900" dirty="0"/>
              <a:t>SQL query coding  and debagging support using  perplexity 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GB" sz="900" dirty="0"/>
              <a:t>Power BI reporting support with perplexity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GB" sz="900" dirty="0"/>
              <a:t>Dax leaning with </a:t>
            </a:r>
            <a:r>
              <a:rPr lang="en-GB" sz="900" dirty="0" err="1"/>
              <a:t>Preplexity</a:t>
            </a:r>
            <a:r>
              <a:rPr lang="en-GB" sz="900" dirty="0"/>
              <a:t> 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GB" sz="900" dirty="0"/>
              <a:t>Copilot enabling for PBI and Fabric </a:t>
            </a:r>
            <a:r>
              <a:rPr lang="en-GB" sz="900" dirty="0">
                <a:hlinkClick r:id="rId3"/>
              </a:rPr>
              <a:t>https://www.udemy.com/course/ai-powered-data-analytics-mastery-ai-tools-vibe-coding/learn/lecture/51323369#overview</a:t>
            </a:r>
            <a:r>
              <a:rPr lang="en-GB" sz="900" dirty="0"/>
              <a:t> 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GB" sz="900" dirty="0"/>
              <a:t>PBI Copilot use case :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en-GB" sz="800" dirty="0"/>
              <a:t>Measures and corresponding descriptions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en-GB" sz="800" dirty="0"/>
              <a:t>Explore data using copilot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en-GB" sz="800" dirty="0"/>
              <a:t>Explain DAX query using copilot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en-GB" sz="800" dirty="0"/>
              <a:t>Generate simple report based on data set with copilot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en-GB" sz="800" dirty="0" err="1"/>
              <a:t>Narative</a:t>
            </a:r>
            <a:r>
              <a:rPr lang="en-GB" sz="800" dirty="0"/>
              <a:t> visuals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endParaRPr lang="en-GB" sz="800" dirty="0"/>
          </a:p>
          <a:p>
            <a:pPr marL="628650" lvl="1" indent="-171450" algn="l">
              <a:buFont typeface="Arial" panose="020B0604020202020204" pitchFamily="34" charset="0"/>
              <a:buChar char="•"/>
            </a:pPr>
            <a:endParaRPr lang="en-GB" sz="800" dirty="0"/>
          </a:p>
          <a:p>
            <a:pPr marL="628650" lvl="1" indent="-171450" algn="l">
              <a:buFont typeface="Arial" panose="020B0604020202020204" pitchFamily="34" charset="0"/>
              <a:buChar char="•"/>
            </a:pPr>
            <a:endParaRPr lang="en-GB" sz="800" dirty="0"/>
          </a:p>
          <a:p>
            <a:pPr marL="628650" lvl="1" indent="-171450" algn="l">
              <a:buFont typeface="Arial" panose="020B0604020202020204" pitchFamily="34" charset="0"/>
              <a:buChar char="•"/>
            </a:pPr>
            <a:endParaRPr lang="en-GB" sz="800" dirty="0"/>
          </a:p>
          <a:p>
            <a:pPr marL="628650" lvl="1" indent="-171450" algn="l">
              <a:buFont typeface="Arial" panose="020B0604020202020204" pitchFamily="34" charset="0"/>
              <a:buChar char="•"/>
            </a:pPr>
            <a:endParaRPr lang="en-GB" sz="800" dirty="0"/>
          </a:p>
          <a:p>
            <a:pPr marL="628650" lvl="1" indent="-171450" algn="l">
              <a:buFont typeface="Arial" panose="020B0604020202020204" pitchFamily="34" charset="0"/>
              <a:buChar char="•"/>
            </a:pPr>
            <a:endParaRPr lang="en-GB" sz="800" dirty="0"/>
          </a:p>
          <a:p>
            <a:pPr marL="628650" lvl="1" indent="-171450" algn="l">
              <a:buFont typeface="Arial" panose="020B0604020202020204" pitchFamily="34" charset="0"/>
              <a:buChar char="•"/>
            </a:pPr>
            <a:endParaRPr lang="en-GB" sz="800" dirty="0"/>
          </a:p>
          <a:p>
            <a:pPr marL="628650" lvl="1" indent="-171450" algn="l">
              <a:buFont typeface="Arial" panose="020B0604020202020204" pitchFamily="34" charset="0"/>
              <a:buChar char="•"/>
            </a:pPr>
            <a:endParaRPr lang="en-GB" sz="800" dirty="0"/>
          </a:p>
          <a:p>
            <a:pPr marL="628650" lvl="1" indent="-171450" algn="l">
              <a:buFont typeface="Arial" panose="020B0604020202020204" pitchFamily="34" charset="0"/>
              <a:buChar char="•"/>
            </a:pPr>
            <a:endParaRPr lang="en-GB" sz="800" dirty="0"/>
          </a:p>
          <a:p>
            <a:pPr marL="628650" lvl="1" indent="-171450" algn="l">
              <a:buFont typeface="Arial" panose="020B0604020202020204" pitchFamily="34" charset="0"/>
              <a:buChar char="•"/>
            </a:pPr>
            <a:endParaRPr lang="en-GB" sz="800" dirty="0"/>
          </a:p>
          <a:p>
            <a:pPr marL="628650" lvl="1" indent="-171450" algn="l">
              <a:buFont typeface="Arial" panose="020B0604020202020204" pitchFamily="34" charset="0"/>
              <a:buChar char="•"/>
            </a:pPr>
            <a:endParaRPr lang="en-GB" sz="800" dirty="0"/>
          </a:p>
          <a:p>
            <a:pPr marL="628650" lvl="1" indent="-171450" algn="l">
              <a:buFont typeface="Arial" panose="020B0604020202020204" pitchFamily="34" charset="0"/>
              <a:buChar char="•"/>
            </a:pPr>
            <a:endParaRPr lang="en-GB" sz="800" dirty="0"/>
          </a:p>
          <a:p>
            <a:pPr marL="628650" lvl="1" indent="-171450" algn="l">
              <a:buFont typeface="Arial" panose="020B0604020202020204" pitchFamily="34" charset="0"/>
              <a:buChar char="•"/>
            </a:pPr>
            <a:endParaRPr lang="en-GB" sz="800" dirty="0"/>
          </a:p>
          <a:p>
            <a:pPr marL="628650" lvl="1" indent="-171450" algn="l">
              <a:buFont typeface="Arial" panose="020B0604020202020204" pitchFamily="34" charset="0"/>
              <a:buChar char="•"/>
            </a:pPr>
            <a:endParaRPr lang="en-GB" sz="800" dirty="0"/>
          </a:p>
          <a:p>
            <a:pPr marL="628650" lvl="1" indent="-171450" algn="l">
              <a:buFont typeface="Arial" panose="020B0604020202020204" pitchFamily="34" charset="0"/>
              <a:buChar char="•"/>
            </a:pPr>
            <a:endParaRPr lang="en-GB" sz="800" dirty="0"/>
          </a:p>
          <a:p>
            <a:pPr marL="628650" lvl="1" indent="-171450" algn="l">
              <a:buFont typeface="Arial" panose="020B0604020202020204" pitchFamily="34" charset="0"/>
              <a:buChar char="•"/>
            </a:pPr>
            <a:endParaRPr lang="en-GB" sz="800" dirty="0"/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en-GB" sz="800" dirty="0"/>
              <a:t>Chat with your dataset using copilot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endParaRPr lang="en-GB" sz="800" dirty="0"/>
          </a:p>
          <a:p>
            <a:pPr marL="628650" lvl="1" indent="-171450" algn="l">
              <a:buFont typeface="Arial" panose="020B0604020202020204" pitchFamily="34" charset="0"/>
              <a:buChar char="•"/>
            </a:pPr>
            <a:endParaRPr lang="en-GB" sz="800" dirty="0"/>
          </a:p>
          <a:p>
            <a:pPr marL="628650" lvl="1" indent="-171450" algn="l">
              <a:buFont typeface="Arial" panose="020B0604020202020204" pitchFamily="34" charset="0"/>
              <a:buChar char="•"/>
            </a:pPr>
            <a:endParaRPr lang="en-GB" sz="800" dirty="0"/>
          </a:p>
          <a:p>
            <a:pPr marL="628650" lvl="1" indent="-171450" algn="l">
              <a:buFont typeface="Arial" panose="020B0604020202020204" pitchFamily="34" charset="0"/>
              <a:buChar char="•"/>
            </a:pPr>
            <a:endParaRPr lang="en-GB" sz="800" dirty="0"/>
          </a:p>
          <a:p>
            <a:pPr marL="628650" lvl="1" indent="-171450" algn="l">
              <a:buFont typeface="Arial" panose="020B0604020202020204" pitchFamily="34" charset="0"/>
              <a:buChar char="•"/>
            </a:pPr>
            <a:endParaRPr lang="en-GB" sz="800" dirty="0"/>
          </a:p>
          <a:p>
            <a:pPr marL="628650" lvl="1" indent="-171450" algn="l">
              <a:buFont typeface="Arial" panose="020B0604020202020204" pitchFamily="34" charset="0"/>
              <a:buChar char="•"/>
            </a:pPr>
            <a:endParaRPr lang="en-GB" sz="800" dirty="0"/>
          </a:p>
          <a:p>
            <a:pPr marL="628650" lvl="1" indent="-171450" algn="l">
              <a:buFont typeface="Arial" panose="020B0604020202020204" pitchFamily="34" charset="0"/>
              <a:buChar char="•"/>
            </a:pPr>
            <a:endParaRPr lang="en-GB" sz="800" dirty="0"/>
          </a:p>
          <a:p>
            <a:pPr marL="628650" lvl="1" indent="-171450" algn="l">
              <a:buFont typeface="Arial" panose="020B0604020202020204" pitchFamily="34" charset="0"/>
              <a:buChar char="•"/>
            </a:pPr>
            <a:endParaRPr lang="en-GB" sz="800" dirty="0"/>
          </a:p>
          <a:p>
            <a:pPr marL="628650" lvl="1" indent="-171450" algn="l">
              <a:buFont typeface="Arial" panose="020B0604020202020204" pitchFamily="34" charset="0"/>
              <a:buChar char="•"/>
            </a:pPr>
            <a:endParaRPr lang="en-GB" sz="800" dirty="0"/>
          </a:p>
          <a:p>
            <a:pPr marL="628650" lvl="1" indent="-171450" algn="l">
              <a:buFont typeface="Arial" panose="020B0604020202020204" pitchFamily="34" charset="0"/>
              <a:buChar char="•"/>
            </a:pPr>
            <a:endParaRPr lang="en-GB" sz="800" dirty="0"/>
          </a:p>
          <a:p>
            <a:pPr marL="628650" lvl="1" indent="-171450" algn="l">
              <a:buFont typeface="Arial" panose="020B0604020202020204" pitchFamily="34" charset="0"/>
              <a:buChar char="•"/>
            </a:pPr>
            <a:endParaRPr lang="en-GB" sz="800" dirty="0"/>
          </a:p>
          <a:p>
            <a:pPr marL="628650" lvl="1" indent="-171450" algn="l">
              <a:buFont typeface="Arial" panose="020B0604020202020204" pitchFamily="34" charset="0"/>
              <a:buChar char="•"/>
            </a:pPr>
            <a:endParaRPr lang="en-GB" sz="800" dirty="0"/>
          </a:p>
          <a:p>
            <a:pPr marL="628650" lvl="1" indent="-171450" algn="l">
              <a:buFont typeface="Arial" panose="020B0604020202020204" pitchFamily="34" charset="0"/>
              <a:buChar char="•"/>
            </a:pPr>
            <a:endParaRPr lang="en-GB" sz="800" dirty="0"/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en-GB" sz="800" dirty="0"/>
              <a:t>Analysis , modifying files (csv , Json) and automate the full process using Clause , </a:t>
            </a:r>
            <a:r>
              <a:rPr lang="en-GB" sz="800" dirty="0" err="1"/>
              <a:t>powerShell</a:t>
            </a:r>
            <a:r>
              <a:rPr lang="en-GB" sz="800" dirty="0"/>
              <a:t> and VS  csv , </a:t>
            </a:r>
            <a:r>
              <a:rPr lang="en-GB" sz="800" dirty="0" err="1"/>
              <a:t>json</a:t>
            </a:r>
            <a:r>
              <a:rPr lang="en-GB" sz="800" dirty="0"/>
              <a:t> example files  </a:t>
            </a:r>
            <a:r>
              <a:rPr lang="en-GB" sz="800" dirty="0">
                <a:hlinkClick r:id="rId4"/>
              </a:rPr>
              <a:t>https://www.udemy.com/course/generative-ai-for-data-engineering/learn/lecture/41676070#overview</a:t>
            </a:r>
            <a:r>
              <a:rPr lang="en-GB" sz="800" dirty="0"/>
              <a:t> </a:t>
            </a:r>
          </a:p>
          <a:p>
            <a:pPr lvl="1" algn="l"/>
            <a:endParaRPr lang="en-GB" sz="800" dirty="0"/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en-GB" sz="800" dirty="0"/>
              <a:t>Data quality check with </a:t>
            </a:r>
            <a:r>
              <a:rPr lang="en-GB" sz="800" b="1" i="1" dirty="0" err="1"/>
              <a:t>Caude</a:t>
            </a:r>
            <a:r>
              <a:rPr lang="en-GB" sz="800" dirty="0"/>
              <a:t> support and VS </a:t>
            </a:r>
            <a:r>
              <a:rPr lang="en-GB" sz="800" dirty="0">
                <a:hlinkClick r:id="rId5"/>
              </a:rPr>
              <a:t>https://www.udemy.com/course/generative-ai-for-data-engineering/learn/lecture/41676120#overview</a:t>
            </a:r>
            <a:r>
              <a:rPr lang="en-GB" sz="800" dirty="0"/>
              <a:t> 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endParaRPr lang="en-GB" sz="800" dirty="0"/>
          </a:p>
          <a:p>
            <a:pPr lvl="1" algn="l"/>
            <a:endParaRPr lang="en-GB" sz="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97C436-23C3-AA64-C2AF-FC91E4E183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125" y="3789258"/>
            <a:ext cx="3902165" cy="17056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DEF44E-C2A2-F49D-1C8D-C74D32D90F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3635" y="1205624"/>
            <a:ext cx="2010331" cy="218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606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57D90-6E72-8A0B-12CC-79234D2B6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FE9E3-A226-DF8D-27C1-46045FF21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1" y="64030"/>
            <a:ext cx="9144000" cy="579437"/>
          </a:xfrm>
        </p:spPr>
        <p:txBody>
          <a:bodyPr>
            <a:noAutofit/>
          </a:bodyPr>
          <a:lstStyle/>
          <a:p>
            <a:r>
              <a:rPr lang="en-GB" sz="3600" dirty="0"/>
              <a:t>Gen AI with SQL prompts</a:t>
            </a:r>
            <a:endParaRPr lang="en-BE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601653-71FD-7B26-E86F-44A81B0DD6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667" y="1041400"/>
            <a:ext cx="12022666" cy="5752570"/>
          </a:xfrm>
        </p:spPr>
        <p:txBody>
          <a:bodyPr numCol="3">
            <a:normAutofit/>
          </a:bodyPr>
          <a:lstStyle/>
          <a:p>
            <a:pPr marL="228600" indent="-228600" algn="l">
              <a:buFont typeface="+mj-lt"/>
              <a:buAutoNum type="arabicPeriod"/>
            </a:pPr>
            <a:r>
              <a:rPr lang="en-GB" sz="1200" dirty="0"/>
              <a:t>"Translate the question: 'What are the top 5 products by revenue in the last quarter?' into an optimized SQL query using the '</a:t>
            </a:r>
            <a:r>
              <a:rPr lang="en-GB" sz="1200" dirty="0" err="1"/>
              <a:t>sales_data</a:t>
            </a:r>
            <a:r>
              <a:rPr lang="en-GB" sz="1200" dirty="0"/>
              <a:t>' table.“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GB" sz="1200" dirty="0"/>
              <a:t>"Write a SQL query to find the average monthly spend of customers who made more than 3 purchases in the last 60 days.” 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GB" sz="1200" dirty="0"/>
              <a:t>Generate a SQL statement to return churn rate by month using the '</a:t>
            </a:r>
            <a:r>
              <a:rPr lang="en-GB" sz="1200" dirty="0" err="1"/>
              <a:t>customer_status</a:t>
            </a:r>
            <a:r>
              <a:rPr lang="en-GB" sz="1200" dirty="0"/>
              <a:t>' and '</a:t>
            </a:r>
            <a:r>
              <a:rPr lang="en-GB" sz="1200" dirty="0" err="1"/>
              <a:t>churn_date</a:t>
            </a:r>
            <a:r>
              <a:rPr lang="en-GB" sz="1200" dirty="0"/>
              <a:t>' columns.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GB" sz="1200" dirty="0"/>
              <a:t>"Convert: 'Show me daily active users for each platform over the past 30 days' into a performant SQL query using the '</a:t>
            </a:r>
            <a:r>
              <a:rPr lang="en-GB" sz="1200" dirty="0" err="1"/>
              <a:t>login_events</a:t>
            </a:r>
            <a:r>
              <a:rPr lang="en-GB" sz="1200" dirty="0"/>
              <a:t>' table.“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GB" sz="1200" dirty="0"/>
              <a:t>"Given tables 'orders' and 'products', create a query that lists the top 3 categories by total order count and revenue.“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GB" sz="1200" dirty="0"/>
              <a:t>"Write a SQL query to detect customers who haven’t transacted in over 180 days but had transactions before.“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GB" sz="1200" dirty="0"/>
              <a:t>Create a SQL query to calculate customer retention rate cohort-wise using signup and </a:t>
            </a:r>
            <a:r>
              <a:rPr lang="en-GB" sz="1200" dirty="0" err="1"/>
              <a:t>first_purchase_date</a:t>
            </a:r>
            <a:r>
              <a:rPr lang="en-GB" sz="1200" dirty="0"/>
              <a:t> columns.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GB" sz="1200" dirty="0"/>
              <a:t>"Transform this question into SQL: 'Which marketing channel resulted in the highest conversion rate last month?’”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GB" sz="1200" dirty="0"/>
              <a:t>"Write a join query combining 'orders', 'customers', and 'payments' to show total revenue by customer region.“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GB" sz="1200" dirty="0"/>
              <a:t>"Build a SQL query to show the percentage of users who upgraded from free to premium within 30 days of signup.“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GB" sz="1200" dirty="0"/>
              <a:t>"Write a nested SQL query to find products whose average review score is below 3.5 and return their monthly sales.“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GB" sz="1200" dirty="0"/>
              <a:t>"Convert this business question into SQL: 'What was the average ticket size for repeat customers vs new customers last year?'"</a:t>
            </a:r>
            <a:br>
              <a:rPr lang="en-GB" sz="1200" dirty="0"/>
            </a:br>
            <a:endParaRPr lang="en-GB" sz="1200" dirty="0"/>
          </a:p>
          <a:p>
            <a:pPr marL="228600" indent="-228600" algn="l">
              <a:buFont typeface="+mj-lt"/>
              <a:buAutoNum type="arabicPeriod"/>
            </a:pPr>
            <a:r>
              <a:rPr lang="en-GB" sz="1200" dirty="0"/>
              <a:t>"Generate a SQL query to calculate lifetime value (LTV) for customers grouped by acquisition source.“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GB" sz="1200" dirty="0"/>
              <a:t>Write a CTE-based query that shows the churn rate trend over the last 12 months segmented by subscription plan.“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GB" sz="1200" dirty="0"/>
              <a:t>"Translate: 'Which days of the week have the highest return rate?' into an efficient SQL query using '</a:t>
            </a:r>
            <a:r>
              <a:rPr lang="en-GB" sz="1200" dirty="0" err="1"/>
              <a:t>order_returns</a:t>
            </a:r>
            <a:r>
              <a:rPr lang="en-GB" sz="1200" dirty="0"/>
              <a:t>’.”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GB" sz="1200" dirty="0"/>
              <a:t>Create a query to list the top 10 customers by revenue growth comparing this year to last year.“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GB" sz="1200" dirty="0"/>
              <a:t>Generate a SQL query that identifies products with increasing weekly sales for three consecutive weeks.“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GB" sz="1200" dirty="0"/>
              <a:t>"Given a table with event timestamps, write a SQL query to calculate user session duration and average time per session.“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GB" sz="1200" dirty="0"/>
              <a:t>"Translate this into SQL: 'Which regions experienced more than a 10% drop in monthly revenue compared to the previous month?’”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GB" sz="1200" dirty="0"/>
              <a:t>"Generate a parameterized SQL query that retrieves customer purchase history based on dynamic date range input."</a:t>
            </a:r>
            <a:br>
              <a:rPr lang="en-GB" sz="1200" dirty="0"/>
            </a:br>
            <a:endParaRPr lang="en-GB" sz="1200" dirty="0"/>
          </a:p>
          <a:p>
            <a:pPr marL="228600" indent="-228600" algn="l">
              <a:buFont typeface="+mj-lt"/>
              <a:buAutoNum type="arabicPeriod"/>
            </a:pPr>
            <a:endParaRPr lang="en-GB" sz="1200" dirty="0"/>
          </a:p>
          <a:p>
            <a:pPr algn="l"/>
            <a:br>
              <a:rPr lang="en-GB" sz="1200" dirty="0"/>
            </a:br>
            <a:endParaRPr lang="en-GB" sz="1200" dirty="0"/>
          </a:p>
          <a:p>
            <a:pPr marL="228600" indent="-228600" algn="l">
              <a:buFont typeface="+mj-lt"/>
              <a:buAutoNum type="arabicPeriod"/>
            </a:pPr>
            <a:endParaRPr lang="en-GB" sz="1200" dirty="0"/>
          </a:p>
          <a:p>
            <a:pPr marL="228600" indent="-228600">
              <a:buFont typeface="+mj-lt"/>
              <a:buAutoNum type="arabicPeriod"/>
            </a:pPr>
            <a:endParaRPr lang="en-BE" sz="800" dirty="0"/>
          </a:p>
        </p:txBody>
      </p:sp>
    </p:spTree>
    <p:extLst>
      <p:ext uri="{BB962C8B-B14F-4D97-AF65-F5344CB8AC3E}">
        <p14:creationId xmlns:p14="http://schemas.microsoft.com/office/powerpoint/2010/main" val="31486244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5681</TotalTime>
  <Words>631</Words>
  <Application>Microsoft Office PowerPoint</Application>
  <PresentationFormat>Widescreen</PresentationFormat>
  <Paragraphs>68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Gen AI for data </vt:lpstr>
      <vt:lpstr>Gen AI with SQL prompts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Coulibaly Oumar</dc:creator>
  <cp:lastModifiedBy>Coulibaly Oumar</cp:lastModifiedBy>
  <cp:revision>12</cp:revision>
  <dcterms:created xsi:type="dcterms:W3CDTF">2026-03-09T10:02:39Z</dcterms:created>
  <dcterms:modified xsi:type="dcterms:W3CDTF">2026-03-13T08:44:03Z</dcterms:modified>
</cp:coreProperties>
</file>