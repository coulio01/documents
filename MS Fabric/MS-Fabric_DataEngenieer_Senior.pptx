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D70B1D8-B95F-4F1E-B839-CF8D070E16D5}">
          <p14:sldIdLst>
            <p14:sldId id="256"/>
            <p14:sldId id="258"/>
            <p14:sldId id="257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073DE0-D497-4A46-8EF5-24551D70DED3}" v="14" dt="2026-03-02T19:56:12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umar Coulibaly" userId="410d7d9053e664c5" providerId="LiveId" clId="{C7174FF6-D772-4FD3-BE04-ED3E664F966B}"/>
    <pc:docChg chg="undo custSel addSld modSld addSection modSection">
      <pc:chgData name="Oumar Coulibaly" userId="410d7d9053e664c5" providerId="LiveId" clId="{C7174FF6-D772-4FD3-BE04-ED3E664F966B}" dt="2026-03-02T20:03:11.944" v="4802" actId="20577"/>
      <pc:docMkLst>
        <pc:docMk/>
      </pc:docMkLst>
      <pc:sldChg chg="addSp delSp modSp new mod">
        <pc:chgData name="Oumar Coulibaly" userId="410d7d9053e664c5" providerId="LiveId" clId="{C7174FF6-D772-4FD3-BE04-ED3E664F966B}" dt="2026-03-02T19:05:11.297" v="4275" actId="478"/>
        <pc:sldMkLst>
          <pc:docMk/>
          <pc:sldMk cId="3192367007" sldId="256"/>
        </pc:sldMkLst>
        <pc:spChg chg="mod">
          <ac:chgData name="Oumar Coulibaly" userId="410d7d9053e664c5" providerId="LiveId" clId="{C7174FF6-D772-4FD3-BE04-ED3E664F966B}" dt="2026-03-02T15:47:09.770" v="34" actId="14100"/>
          <ac:spMkLst>
            <pc:docMk/>
            <pc:sldMk cId="3192367007" sldId="256"/>
            <ac:spMk id="2" creationId="{D49E59C6-B5B9-09E2-D5A2-6806096D2184}"/>
          </ac:spMkLst>
        </pc:spChg>
        <pc:spChg chg="del">
          <ac:chgData name="Oumar Coulibaly" userId="410d7d9053e664c5" providerId="LiveId" clId="{C7174FF6-D772-4FD3-BE04-ED3E664F966B}" dt="2026-03-02T15:46:26.834" v="1" actId="478"/>
          <ac:spMkLst>
            <pc:docMk/>
            <pc:sldMk cId="3192367007" sldId="256"/>
            <ac:spMk id="3" creationId="{C431D399-8BFA-8DC3-D587-D43C86EDB354}"/>
          </ac:spMkLst>
        </pc:spChg>
        <pc:spChg chg="add del mod">
          <ac:chgData name="Oumar Coulibaly" userId="410d7d9053e664c5" providerId="LiveId" clId="{C7174FF6-D772-4FD3-BE04-ED3E664F966B}" dt="2026-03-02T19:05:11.297" v="4275" actId="478"/>
          <ac:spMkLst>
            <pc:docMk/>
            <pc:sldMk cId="3192367007" sldId="256"/>
            <ac:spMk id="4" creationId="{728C4E77-B4AB-D5FF-8CCB-F35EB54FEC48}"/>
          </ac:spMkLst>
        </pc:spChg>
        <pc:spChg chg="add del mod">
          <ac:chgData name="Oumar Coulibaly" userId="410d7d9053e664c5" providerId="LiveId" clId="{C7174FF6-D772-4FD3-BE04-ED3E664F966B}" dt="2026-03-02T16:29:43.502" v="968"/>
          <ac:spMkLst>
            <pc:docMk/>
            <pc:sldMk cId="3192367007" sldId="256"/>
            <ac:spMk id="5" creationId="{1C9179A6-DF5A-4A01-E190-CA5CD58AFBDE}"/>
          </ac:spMkLst>
        </pc:spChg>
        <pc:spChg chg="add del mod">
          <ac:chgData name="Oumar Coulibaly" userId="410d7d9053e664c5" providerId="LiveId" clId="{C7174FF6-D772-4FD3-BE04-ED3E664F966B}" dt="2026-03-02T19:05:09.405" v="4274" actId="478"/>
          <ac:spMkLst>
            <pc:docMk/>
            <pc:sldMk cId="3192367007" sldId="256"/>
            <ac:spMk id="6" creationId="{160AAF04-B159-B60A-FFD2-F05187B5AC37}"/>
          </ac:spMkLst>
        </pc:spChg>
        <pc:spChg chg="add">
          <ac:chgData name="Oumar Coulibaly" userId="410d7d9053e664c5" providerId="LiveId" clId="{C7174FF6-D772-4FD3-BE04-ED3E664F966B}" dt="2026-03-02T16:36:35.451" v="1101"/>
          <ac:spMkLst>
            <pc:docMk/>
            <pc:sldMk cId="3192367007" sldId="256"/>
            <ac:spMk id="7" creationId="{4D4BCB46-016D-EA64-2416-F77BCCBD74CB}"/>
          </ac:spMkLst>
        </pc:spChg>
        <pc:spChg chg="add">
          <ac:chgData name="Oumar Coulibaly" userId="410d7d9053e664c5" providerId="LiveId" clId="{C7174FF6-D772-4FD3-BE04-ED3E664F966B}" dt="2026-03-02T16:36:44.334" v="1105"/>
          <ac:spMkLst>
            <pc:docMk/>
            <pc:sldMk cId="3192367007" sldId="256"/>
            <ac:spMk id="8" creationId="{D4CCE2D7-6938-7D1A-108C-E268A61DFEAD}"/>
          </ac:spMkLst>
        </pc:spChg>
      </pc:sldChg>
      <pc:sldChg chg="addSp delSp modSp add mod">
        <pc:chgData name="Oumar Coulibaly" userId="410d7d9053e664c5" providerId="LiveId" clId="{C7174FF6-D772-4FD3-BE04-ED3E664F966B}" dt="2026-03-02T19:40:47.064" v="4419" actId="1076"/>
        <pc:sldMkLst>
          <pc:docMk/>
          <pc:sldMk cId="2068247143" sldId="257"/>
        </pc:sldMkLst>
        <pc:spChg chg="mod">
          <ac:chgData name="Oumar Coulibaly" userId="410d7d9053e664c5" providerId="LiveId" clId="{C7174FF6-D772-4FD3-BE04-ED3E664F966B}" dt="2026-03-02T19:08:38.289" v="4395" actId="20577"/>
          <ac:spMkLst>
            <pc:docMk/>
            <pc:sldMk cId="2068247143" sldId="257"/>
            <ac:spMk id="2" creationId="{7DB1315C-26AD-D447-1971-E2A514BE4724}"/>
          </ac:spMkLst>
        </pc:spChg>
        <pc:spChg chg="mod">
          <ac:chgData name="Oumar Coulibaly" userId="410d7d9053e664c5" providerId="LiveId" clId="{C7174FF6-D772-4FD3-BE04-ED3E664F966B}" dt="2026-03-02T19:40:21.469" v="4414" actId="20577"/>
          <ac:spMkLst>
            <pc:docMk/>
            <pc:sldMk cId="2068247143" sldId="257"/>
            <ac:spMk id="4" creationId="{CFC19547-1BCD-0971-88C4-6435A873D254}"/>
          </ac:spMkLst>
        </pc:spChg>
        <pc:spChg chg="del mod">
          <ac:chgData name="Oumar Coulibaly" userId="410d7d9053e664c5" providerId="LiveId" clId="{C7174FF6-D772-4FD3-BE04-ED3E664F966B}" dt="2026-03-02T18:07:12.283" v="3239" actId="478"/>
          <ac:spMkLst>
            <pc:docMk/>
            <pc:sldMk cId="2068247143" sldId="257"/>
            <ac:spMk id="6" creationId="{1EC349AE-EE3B-6C97-2D26-46806526AC6E}"/>
          </ac:spMkLst>
        </pc:spChg>
        <pc:picChg chg="add mod">
          <ac:chgData name="Oumar Coulibaly" userId="410d7d9053e664c5" providerId="LiveId" clId="{C7174FF6-D772-4FD3-BE04-ED3E664F966B}" dt="2026-03-02T19:40:23.836" v="4415" actId="1076"/>
          <ac:picMkLst>
            <pc:docMk/>
            <pc:sldMk cId="2068247143" sldId="257"/>
            <ac:picMk id="5" creationId="{3E5B7600-5326-F44D-BCC3-5D550A54FCD6}"/>
          </ac:picMkLst>
        </pc:picChg>
        <pc:picChg chg="add mod">
          <ac:chgData name="Oumar Coulibaly" userId="410d7d9053e664c5" providerId="LiveId" clId="{C7174FF6-D772-4FD3-BE04-ED3E664F966B}" dt="2026-03-02T19:40:47.064" v="4419" actId="1076"/>
          <ac:picMkLst>
            <pc:docMk/>
            <pc:sldMk cId="2068247143" sldId="257"/>
            <ac:picMk id="8" creationId="{FF00C4CC-2E0F-1AA0-EA32-B31117870CFF}"/>
          </ac:picMkLst>
        </pc:picChg>
      </pc:sldChg>
      <pc:sldChg chg="modSp add mod">
        <pc:chgData name="Oumar Coulibaly" userId="410d7d9053e664c5" providerId="LiveId" clId="{C7174FF6-D772-4FD3-BE04-ED3E664F966B}" dt="2026-03-02T19:06:10.051" v="4328" actId="113"/>
        <pc:sldMkLst>
          <pc:docMk/>
          <pc:sldMk cId="154348991" sldId="258"/>
        </pc:sldMkLst>
        <pc:spChg chg="mod">
          <ac:chgData name="Oumar Coulibaly" userId="410d7d9053e664c5" providerId="LiveId" clId="{C7174FF6-D772-4FD3-BE04-ED3E664F966B}" dt="2026-03-02T19:06:10.051" v="4328" actId="113"/>
          <ac:spMkLst>
            <pc:docMk/>
            <pc:sldMk cId="154348991" sldId="258"/>
            <ac:spMk id="2" creationId="{5963D316-2F46-6539-903B-FCA48EE92E89}"/>
          </ac:spMkLst>
        </pc:spChg>
      </pc:sldChg>
      <pc:sldChg chg="addSp delSp modSp add mod">
        <pc:chgData name="Oumar Coulibaly" userId="410d7d9053e664c5" providerId="LiveId" clId="{C7174FF6-D772-4FD3-BE04-ED3E664F966B}" dt="2026-03-02T20:03:11.944" v="4802" actId="20577"/>
        <pc:sldMkLst>
          <pc:docMk/>
          <pc:sldMk cId="1020971437" sldId="259"/>
        </pc:sldMkLst>
        <pc:spChg chg="mod">
          <ac:chgData name="Oumar Coulibaly" userId="410d7d9053e664c5" providerId="LiveId" clId="{C7174FF6-D772-4FD3-BE04-ED3E664F966B}" dt="2026-03-02T19:47:22.700" v="4457" actId="20577"/>
          <ac:spMkLst>
            <pc:docMk/>
            <pc:sldMk cId="1020971437" sldId="259"/>
            <ac:spMk id="2" creationId="{853C0D14-1FE3-544D-45F0-9E1824D58556}"/>
          </ac:spMkLst>
        </pc:spChg>
        <pc:spChg chg="mod">
          <ac:chgData name="Oumar Coulibaly" userId="410d7d9053e664c5" providerId="LiveId" clId="{C7174FF6-D772-4FD3-BE04-ED3E664F966B}" dt="2026-03-02T20:03:11.944" v="4802" actId="20577"/>
          <ac:spMkLst>
            <pc:docMk/>
            <pc:sldMk cId="1020971437" sldId="259"/>
            <ac:spMk id="4" creationId="{D8DA62DA-4C4C-B8D5-41D4-4C62B55C05D7}"/>
          </ac:spMkLst>
        </pc:spChg>
        <pc:spChg chg="add mod">
          <ac:chgData name="Oumar Coulibaly" userId="410d7d9053e664c5" providerId="LiveId" clId="{C7174FF6-D772-4FD3-BE04-ED3E664F966B}" dt="2026-03-02T19:54:05.457" v="4566" actId="14100"/>
          <ac:spMkLst>
            <pc:docMk/>
            <pc:sldMk cId="1020971437" sldId="259"/>
            <ac:spMk id="12" creationId="{4765E867-A710-FDDB-B0A1-3102679E6D36}"/>
          </ac:spMkLst>
        </pc:spChg>
        <pc:spChg chg="add mod">
          <ac:chgData name="Oumar Coulibaly" userId="410d7d9053e664c5" providerId="LiveId" clId="{C7174FF6-D772-4FD3-BE04-ED3E664F966B}" dt="2026-03-02T19:54:26.441" v="4580" actId="20577"/>
          <ac:spMkLst>
            <pc:docMk/>
            <pc:sldMk cId="1020971437" sldId="259"/>
            <ac:spMk id="13" creationId="{39E69B01-75FA-9C08-F9C9-DF472905FB3F}"/>
          </ac:spMkLst>
        </pc:spChg>
        <pc:spChg chg="add mod">
          <ac:chgData name="Oumar Coulibaly" userId="410d7d9053e664c5" providerId="LiveId" clId="{C7174FF6-D772-4FD3-BE04-ED3E664F966B}" dt="2026-03-02T19:56:39.323" v="4647" actId="20577"/>
          <ac:spMkLst>
            <pc:docMk/>
            <pc:sldMk cId="1020971437" sldId="259"/>
            <ac:spMk id="18" creationId="{A1DFF581-5279-D3A8-DE32-A2D00B5A4A0A}"/>
          </ac:spMkLst>
        </pc:spChg>
        <pc:picChg chg="del">
          <ac:chgData name="Oumar Coulibaly" userId="410d7d9053e664c5" providerId="LiveId" clId="{C7174FF6-D772-4FD3-BE04-ED3E664F966B}" dt="2026-03-02T19:47:33.846" v="4459" actId="478"/>
          <ac:picMkLst>
            <pc:docMk/>
            <pc:sldMk cId="1020971437" sldId="259"/>
            <ac:picMk id="5" creationId="{5BACCAA4-CDB4-0F2F-031F-140159872C20}"/>
          </ac:picMkLst>
        </pc:picChg>
        <pc:picChg chg="add mod">
          <ac:chgData name="Oumar Coulibaly" userId="410d7d9053e664c5" providerId="LiveId" clId="{C7174FF6-D772-4FD3-BE04-ED3E664F966B}" dt="2026-03-02T19:51:19.681" v="4485" actId="14100"/>
          <ac:picMkLst>
            <pc:docMk/>
            <pc:sldMk cId="1020971437" sldId="259"/>
            <ac:picMk id="6" creationId="{00CE5DB7-DEC7-6C09-A4E3-6FF2093F5C50}"/>
          </ac:picMkLst>
        </pc:picChg>
        <pc:picChg chg="del">
          <ac:chgData name="Oumar Coulibaly" userId="410d7d9053e664c5" providerId="LiveId" clId="{C7174FF6-D772-4FD3-BE04-ED3E664F966B}" dt="2026-03-02T19:47:34.351" v="4460" actId="478"/>
          <ac:picMkLst>
            <pc:docMk/>
            <pc:sldMk cId="1020971437" sldId="259"/>
            <ac:picMk id="8" creationId="{81F3FA94-C1FF-D2A2-5F64-9ECFEBCEC086}"/>
          </ac:picMkLst>
        </pc:picChg>
        <pc:picChg chg="add mod">
          <ac:chgData name="Oumar Coulibaly" userId="410d7d9053e664c5" providerId="LiveId" clId="{C7174FF6-D772-4FD3-BE04-ED3E664F966B}" dt="2026-03-02T19:51:54.139" v="4499" actId="1076"/>
          <ac:picMkLst>
            <pc:docMk/>
            <pc:sldMk cId="1020971437" sldId="259"/>
            <ac:picMk id="9" creationId="{34D10E52-12E4-2032-F3E8-E89C1DE00329}"/>
          </ac:picMkLst>
        </pc:picChg>
        <pc:picChg chg="add mod">
          <ac:chgData name="Oumar Coulibaly" userId="410d7d9053e664c5" providerId="LiveId" clId="{C7174FF6-D772-4FD3-BE04-ED3E664F966B}" dt="2026-03-02T19:53:56.909" v="4564" actId="1076"/>
          <ac:picMkLst>
            <pc:docMk/>
            <pc:sldMk cId="1020971437" sldId="259"/>
            <ac:picMk id="11" creationId="{FB1CBAA1-873E-61E0-5501-A0A76DE96B10}"/>
          </ac:picMkLst>
        </pc:picChg>
        <pc:picChg chg="add mod">
          <ac:chgData name="Oumar Coulibaly" userId="410d7d9053e664c5" providerId="LiveId" clId="{C7174FF6-D772-4FD3-BE04-ED3E664F966B}" dt="2026-03-02T19:55:09.822" v="4586" actId="14100"/>
          <ac:picMkLst>
            <pc:docMk/>
            <pc:sldMk cId="1020971437" sldId="259"/>
            <ac:picMk id="15" creationId="{155E9D3D-C7BD-F67B-D154-35F651710C24}"/>
          </ac:picMkLst>
        </pc:picChg>
        <pc:picChg chg="add mod">
          <ac:chgData name="Oumar Coulibaly" userId="410d7d9053e664c5" providerId="LiveId" clId="{C7174FF6-D772-4FD3-BE04-ED3E664F966B}" dt="2026-03-02T19:56:07.753" v="4607" actId="1076"/>
          <ac:picMkLst>
            <pc:docMk/>
            <pc:sldMk cId="1020971437" sldId="259"/>
            <ac:picMk id="17" creationId="{F019F4E9-FD1B-1404-ED14-1055FA593449}"/>
          </ac:picMkLst>
        </pc:picChg>
        <pc:picChg chg="add mod">
          <ac:chgData name="Oumar Coulibaly" userId="410d7d9053e664c5" providerId="LiveId" clId="{C7174FF6-D772-4FD3-BE04-ED3E664F966B}" dt="2026-03-02T19:59:03.919" v="4654" actId="1076"/>
          <ac:picMkLst>
            <pc:docMk/>
            <pc:sldMk cId="1020971437" sldId="259"/>
            <ac:picMk id="20" creationId="{085AB38B-C4A7-D7D0-0C89-AAB018AD940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A4F0-C960-E7A6-4A41-CA23BFBB3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B6E2F-7761-6B4D-F2E0-2FEB37154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B20FB-7F3F-6A65-1A6D-639143E3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5E938-17B8-9FBE-1A90-B0289C2A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CA13C-CD3F-35A4-A29C-F473F4B9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4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DD8CF-464C-210F-2649-2D7D7ED2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AA06F-0F0C-127F-02A0-F924610C9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196B3-DFE2-50DF-5B6C-1AAEB87EF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AA9F6-2C2D-D2F9-09D5-ADC5F05A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0CF1B-5C75-1198-D5AB-67E248A5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5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7131-22C2-64C8-35DA-7A6FFB24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9ADF6-6F7B-6E6B-A9B9-6CC0E8F32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F484F-E0C2-693B-792E-00DBE3F52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2B4CD-E555-FFA6-EFA8-DA62E461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22090-5C3C-C517-EE95-5838B2D1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20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846FE-2C94-CB24-1BE1-330F9F06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7122-23CD-82E8-7EF3-73FCBD74D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214FE-2AA7-E529-8ABE-F13A2462D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6D7F9-50EC-E479-CDAA-8AAD58D2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83FC4-6ECA-6FEB-3C15-694FFB931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29979-2F2F-81F9-DF69-AFA85C09F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13D2-9DDA-C265-0A97-A36A6FAD7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D680E-77F3-E2B6-5DD1-828DD5D16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67C1C-B66C-EE89-6AC2-FFC1DEEFB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EFE8B6-96A7-34AB-DD96-938AF88B2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48818-08AA-8D76-49AA-47D58FCB6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F70F9A-7845-4759-8DB5-38911532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C5194-7B6B-14C5-8710-63D63EBCC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B0B5C-5528-846D-EE37-2B7A8B3B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C691C-3A11-FBA5-0AC0-CCB95496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D7000-8B34-2C80-653E-EA66940A7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FE2DF-AA29-2D1C-20F8-BAA319AF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E1E77-3E7D-FB9C-7079-39B99B9A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0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FCCB8-E450-F6C7-0404-49D816937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34A59B-4A61-D607-E261-6CF7DA79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D24F0-8AD2-3B3C-95CF-C6B21047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2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6112-AB3A-EC06-780E-C7DCADDEA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B783-5A8C-73E2-3AAD-BFE552F7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C0E88-2D3F-FD86-0AD6-9678F2B44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2ED83-601A-D4E4-2A92-5DC0F4B0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212E7-8149-20D7-9984-FF73C4B7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317D1-CCD5-41C2-2F82-1BFA7CE7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49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DD72A-EE04-4D64-8C82-540DA7889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0F8F2A-0684-35AF-E9E5-152B9F0CB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D904B-3E26-867A-0618-C39742499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19EF2-7557-57C5-0CF3-EC17FE04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EE744-CCD0-3505-E426-4117F44A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EC6E9-76A0-615D-EB74-E7A05AF9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6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2509-E474-29BF-4302-91C2C698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7FA12-E56C-D129-A809-F9B6CD5B1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380A5-56C6-67F3-2DE7-9916FA34A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54945-28D9-13B0-1AB0-BDB68357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13994-47B5-71AC-426C-0BAE773EB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03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69DF3-E240-1266-57FD-C658087C2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D2BE4-6880-8591-6E39-E6A6C10A8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EDD4C-1841-E710-AB82-DA1F909D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8FEF1-AF99-0B80-CD85-FD878C727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019FA-C915-A72D-3C08-B63E2F225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9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AC3FD-B8DB-0589-2E37-C361471AF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E9FF4-0C26-9209-DEA4-26F551362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DEAE7-A371-6CC3-16C5-2C4C96697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8A20A-AB2D-41F5-A061-3AA60DE3B5F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6C065-9414-D7AA-B76B-B008AB070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46FD2-40AA-8511-9A39-7431CC76F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72639-E01A-4E1F-877F-0B0CC8C14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48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59C6-B5B9-09E2-D5A2-6806096D2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491427"/>
            <a:ext cx="9144000" cy="477837"/>
          </a:xfrm>
        </p:spPr>
        <p:txBody>
          <a:bodyPr>
            <a:noAutofit/>
          </a:bodyPr>
          <a:lstStyle/>
          <a:p>
            <a:r>
              <a:rPr lang="nl-BE" sz="4000" dirty="0"/>
              <a:t>Senior MF Fabric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9236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EF8A-C13F-A9E5-12EE-A3A572FA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D316-2F46-6539-903B-FCA48EE92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5792" y="153890"/>
            <a:ext cx="9144000" cy="477837"/>
          </a:xfrm>
        </p:spPr>
        <p:txBody>
          <a:bodyPr>
            <a:noAutofit/>
          </a:bodyPr>
          <a:lstStyle/>
          <a:p>
            <a:r>
              <a:rPr lang="nl-BE" sz="3200" b="1" dirty="0"/>
              <a:t>Large lakehouse optimization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6F20C-F099-6D72-9EC5-68309FA83DB3}"/>
              </a:ext>
            </a:extLst>
          </p:cNvPr>
          <p:cNvSpPr txBox="1"/>
          <p:nvPr/>
        </p:nvSpPr>
        <p:spPr>
          <a:xfrm>
            <a:off x="329184" y="509715"/>
            <a:ext cx="3785616" cy="59554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dirty="0"/>
              <a:t>Lakehouse with 10b + row optimization</a:t>
            </a:r>
          </a:p>
          <a:p>
            <a:endParaRPr lang="nl-BE" sz="1200" b="1" dirty="0"/>
          </a:p>
          <a:p>
            <a:r>
              <a:rPr lang="nl-BE" sz="1050" b="1" dirty="0"/>
              <a:t>Commun issues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/>
              <a:t>Report 2 to 5 min to load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/>
              <a:t>Timeout during business hours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/>
              <a:t>Capaciy spikes to 95%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nl-BE" sz="1050" dirty="0"/>
          </a:p>
          <a:p>
            <a:r>
              <a:rPr lang="nl-BE" sz="1050" b="1" dirty="0"/>
              <a:t>Possible root causes </a:t>
            </a:r>
            <a:r>
              <a:rPr lang="nl-BE" sz="105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/>
              <a:t>No Partition strategy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/>
              <a:t>No Delta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/>
              <a:t>No Shorcuts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/>
              <a:t>Direct lake misused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/>
              <a:t>Poor data model (with bidirectional relationships…)</a:t>
            </a:r>
          </a:p>
          <a:p>
            <a:endParaRPr lang="nl-BE" sz="1050" dirty="0"/>
          </a:p>
          <a:p>
            <a:r>
              <a:rPr lang="nl-BE" sz="1050" b="1" dirty="0"/>
              <a:t>Inspection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FF0000"/>
                </a:solidFill>
              </a:rPr>
              <a:t>Check capacity metrics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Review query history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Inspect Delta table structure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Analyze data model </a:t>
            </a:r>
          </a:p>
          <a:p>
            <a:endParaRPr lang="en-US" sz="1050" dirty="0"/>
          </a:p>
          <a:p>
            <a:r>
              <a:rPr lang="en-US" sz="1050" b="1" dirty="0"/>
              <a:t>Some typical fix actions</a:t>
            </a:r>
          </a:p>
          <a:p>
            <a:r>
              <a:rPr lang="en-US" sz="1050" b="1" dirty="0"/>
              <a:t>Lakehouse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Run OPTIMIZE + ZORDER  on delta tables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Enable V-Order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Compact small files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  <a:p>
            <a:r>
              <a:rPr lang="en-US" sz="1050" b="1" dirty="0" err="1"/>
              <a:t>Sementic</a:t>
            </a:r>
            <a:r>
              <a:rPr lang="en-US" sz="1050" b="1" dirty="0"/>
              <a:t>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Convert snowflake to star model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Remove bi-directional filters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Use aggregated tables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FF0000"/>
                </a:solidFill>
              </a:rPr>
              <a:t>Enable incremental refresh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FF0000"/>
              </a:solidFill>
            </a:endParaRPr>
          </a:p>
          <a:p>
            <a:r>
              <a:rPr lang="en-US" sz="1050" b="1" dirty="0"/>
              <a:t>Architecture adjustment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Move heavy model to warehouse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FF0000"/>
                </a:solidFill>
              </a:rPr>
              <a:t>Use composite model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Splits semantic model by domain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90C80A-9326-0B23-E244-F81FC21D9CF9}"/>
              </a:ext>
            </a:extLst>
          </p:cNvPr>
          <p:cNvSpPr txBox="1"/>
          <p:nvPr/>
        </p:nvSpPr>
        <p:spPr>
          <a:xfrm>
            <a:off x="4197096" y="978408"/>
            <a:ext cx="7900416" cy="54245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dirty="0"/>
              <a:t>How to interpet the capacity metrics</a:t>
            </a:r>
          </a:p>
          <a:p>
            <a:endParaRPr lang="nl-BE" sz="1200" b="1" dirty="0"/>
          </a:p>
          <a:p>
            <a:endParaRPr lang="nl-BE" sz="1200" b="1" dirty="0"/>
          </a:p>
          <a:p>
            <a:endParaRPr lang="nl-BE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>
                <a:solidFill>
                  <a:schemeClr val="accent1"/>
                </a:solidFill>
              </a:rPr>
              <a:t>CPU usage </a:t>
            </a:r>
            <a:endParaRPr lang="nl-BE" sz="1050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r>
              <a:rPr lang="nl-BE" sz="1050" dirty="0">
                <a:sym typeface="Wingdings" panose="05000000000000000000" pitchFamily="2" charset="2"/>
              </a:rPr>
              <a:t>Refreshing dashboard , runing notebooks , pipelines , scheduling semantics refresh at the same time (parallelism or workload concurenncy saturation) can cause CPU spikes to 95%   refresh dashboard durring the working hours , and all other run move to night</a:t>
            </a:r>
            <a:endParaRPr lang="nl-B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>
                <a:solidFill>
                  <a:schemeClr val="accent1"/>
                </a:solidFill>
              </a:rPr>
              <a:t>Memory pressure </a:t>
            </a:r>
          </a:p>
          <a:p>
            <a:r>
              <a:rPr lang="nl-BE" sz="1050" dirty="0"/>
              <a:t>If memory stays &gt; 80%  constantly, possible causes are Large direct lake model , too many columns, large cardinality columns , poor model design. If direct lake model = 1,2 TB this can cause memory pressure at 85%  and slowdown reports. This model is spilling(deborder) to disk and Direct Lake advantage is lost.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>
                <a:solidFill>
                  <a:schemeClr val="accent1"/>
                </a:solidFill>
              </a:rPr>
              <a:t>Query duration</a:t>
            </a:r>
          </a:p>
          <a:p>
            <a:r>
              <a:rPr lang="nl-BE" sz="1050" dirty="0"/>
              <a:t>Long running queries , example :  Most query run in 2 seconds and 5% is running = 90 sec ; Possible a heavy Dax measure is killing the performence . Possible solution are Pre-aggrgate on source side , optimised relatioships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>
                <a:solidFill>
                  <a:schemeClr val="accent1"/>
                </a:solidFill>
              </a:rPr>
              <a:t>Background vs interactive operation </a:t>
            </a:r>
          </a:p>
          <a:p>
            <a:r>
              <a:rPr lang="nl-BE" sz="1050" dirty="0"/>
              <a:t>Background </a:t>
            </a:r>
            <a:r>
              <a:rPr lang="nl-BE" sz="1050" dirty="0">
                <a:sym typeface="Wingdings" panose="05000000000000000000" pitchFamily="2" charset="2"/>
              </a:rPr>
              <a:t> Refresh , pipelines ,notebooks  and </a:t>
            </a:r>
            <a:r>
              <a:rPr lang="nl-BE" sz="1050" dirty="0"/>
              <a:t>Interactive </a:t>
            </a:r>
            <a:r>
              <a:rPr lang="nl-BE" sz="1050" dirty="0">
                <a:sym typeface="Wingdings" panose="05000000000000000000" pitchFamily="2" charset="2"/>
              </a:rPr>
              <a:t> User queries (PBI) , </a:t>
            </a:r>
          </a:p>
          <a:p>
            <a:r>
              <a:rPr lang="nl-BE" sz="1050" dirty="0">
                <a:sym typeface="Wingdings" panose="05000000000000000000" pitchFamily="2" charset="2"/>
              </a:rPr>
              <a:t>when backgroud = 70% and Interactive = 20% users will complain report are slow  so push as mush as possible background operation to the night. </a:t>
            </a:r>
            <a:endParaRPr lang="nl-B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>
                <a:solidFill>
                  <a:schemeClr val="accent1"/>
                </a:solidFill>
              </a:rPr>
              <a:t>Throttling</a:t>
            </a:r>
          </a:p>
          <a:p>
            <a:r>
              <a:rPr lang="nl-BE" sz="1050" dirty="0"/>
              <a:t>MS fabric is delaying or rejecting request because capacity is overloaded, when 120 throttling between 9-10 AM , </a:t>
            </a:r>
            <a:r>
              <a:rPr lang="nl-BE" sz="1050" dirty="0">
                <a:solidFill>
                  <a:srgbClr val="FF0000"/>
                </a:solidFill>
              </a:rPr>
              <a:t>Capacity exceeded safe CPU threshold repeatedly </a:t>
            </a:r>
            <a:r>
              <a:rPr lang="nl-BE" sz="1050" dirty="0"/>
              <a:t>then</a:t>
            </a:r>
            <a:r>
              <a:rPr lang="nl-BE" sz="1050" dirty="0">
                <a:solidFill>
                  <a:srgbClr val="FF0000"/>
                </a:solidFill>
              </a:rPr>
              <a:t> </a:t>
            </a:r>
            <a:r>
              <a:rPr lang="nl-BE" sz="1050" dirty="0"/>
              <a:t>report will slowdown , model refresh will fail. </a:t>
            </a:r>
            <a:r>
              <a:rPr lang="nl-BE" sz="1050" b="1" i="1" dirty="0"/>
              <a:t>Possible Solutions </a:t>
            </a:r>
            <a:r>
              <a:rPr lang="nl-BE" sz="1050" dirty="0"/>
              <a:t>are  reduce concurences ,optimize DAX , use aggregated tables, upgrade to hight capacity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050" dirty="0">
                <a:solidFill>
                  <a:schemeClr val="accent1"/>
                </a:solidFill>
              </a:rPr>
              <a:t>Overload events </a:t>
            </a:r>
          </a:p>
          <a:p>
            <a:r>
              <a:rPr lang="nl-BE" sz="1050" dirty="0"/>
              <a:t>This a bad signal meaning capacity could not serve request in time. Exampe Overload spikes during month-end closing , capacity need to be tempoary scale up during the peak , or scale up to a higher capacity if the issue persists.</a:t>
            </a:r>
          </a:p>
          <a:p>
            <a:endParaRPr lang="nl-BE" sz="1200" b="1" dirty="0"/>
          </a:p>
          <a:p>
            <a:endParaRPr lang="nl-BE" sz="1200" b="1" dirty="0"/>
          </a:p>
          <a:p>
            <a:endParaRPr lang="nl-BE" dirty="0"/>
          </a:p>
          <a:p>
            <a:endParaRPr lang="nl-B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48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BAA96-884F-68B5-5C71-E39B8E4CF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315C-26AD-D447-1971-E2A514BE4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491427"/>
            <a:ext cx="9144000" cy="477837"/>
          </a:xfrm>
        </p:spPr>
        <p:txBody>
          <a:bodyPr>
            <a:noAutofit/>
          </a:bodyPr>
          <a:lstStyle/>
          <a:p>
            <a:r>
              <a:rPr lang="nl-BE" sz="3200" b="1" i="1" dirty="0"/>
              <a:t>Incremental (hybrid) data refreh</a:t>
            </a:r>
            <a:endParaRPr lang="en-US" sz="3200" b="1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19547-1BCD-0971-88C4-6435A873D254}"/>
              </a:ext>
            </a:extLst>
          </p:cNvPr>
          <p:cNvSpPr txBox="1"/>
          <p:nvPr/>
        </p:nvSpPr>
        <p:spPr>
          <a:xfrm>
            <a:off x="338328" y="1085786"/>
            <a:ext cx="11494008" cy="45473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dirty="0"/>
              <a:t>Incremental refresh in MS Fabric </a:t>
            </a:r>
          </a:p>
          <a:p>
            <a:r>
              <a:rPr lang="nl-BE" sz="1200" dirty="0"/>
              <a:t>In Ms fabric incrementl refesh is ONLY at semantic model level using </a:t>
            </a:r>
            <a:r>
              <a:rPr lang="nl-BE" sz="1200" b="1" i="1" dirty="0"/>
              <a:t>Date field </a:t>
            </a:r>
            <a:r>
              <a:rPr lang="nl-BE" sz="1200" dirty="0"/>
              <a:t>with </a:t>
            </a:r>
            <a:r>
              <a:rPr lang="nl-BE" sz="1200" b="1" i="1" dirty="0"/>
              <a:t>date data type </a:t>
            </a:r>
            <a:r>
              <a:rPr lang="nl-BE" sz="1200" dirty="0"/>
              <a:t>use of </a:t>
            </a:r>
            <a:r>
              <a:rPr lang="nl-BE" sz="1200" b="1" i="1" dirty="0"/>
              <a:t>Rangstart and rangEnd </a:t>
            </a:r>
            <a:r>
              <a:rPr lang="nl-BE" sz="1200" dirty="0"/>
              <a:t>technical variables making sure the query folding is support by source system. Configuaration policy must include   example store from last 5 years – fresh from last 7 days , Enable Detect data changes (optional but </a:t>
            </a:r>
            <a:r>
              <a:rPr lang="nl-BE" sz="1200" b="1" i="1" dirty="0">
                <a:solidFill>
                  <a:schemeClr val="accent1">
                    <a:lumMod val="75000"/>
                  </a:schemeClr>
                </a:solidFill>
              </a:rPr>
              <a:t>recommanded</a:t>
            </a:r>
            <a:r>
              <a:rPr lang="nl-BE" sz="1200" dirty="0"/>
              <a:t>)</a:t>
            </a:r>
          </a:p>
          <a:p>
            <a:r>
              <a:rPr lang="nl-BE" sz="1200" dirty="0"/>
              <a:t> </a:t>
            </a:r>
          </a:p>
          <a:p>
            <a:r>
              <a:rPr lang="nl-BE" sz="1200" dirty="0"/>
              <a:t>When the target table has a field like </a:t>
            </a:r>
            <a:r>
              <a:rPr lang="nl-BE" sz="1200" b="1" i="1" dirty="0"/>
              <a:t>lastModifiedDate </a:t>
            </a:r>
            <a:r>
              <a:rPr lang="nl-BE" sz="1200" i="1" dirty="0"/>
              <a:t>the </a:t>
            </a:r>
            <a:r>
              <a:rPr lang="nl-BE" sz="1200" dirty="0"/>
              <a:t>Configuaration policy can only be  based on this to refresh only when </a:t>
            </a:r>
            <a:r>
              <a:rPr lang="nl-BE" sz="1200" b="1" i="1" dirty="0"/>
              <a:t>lastModifiedDate </a:t>
            </a:r>
            <a:r>
              <a:rPr lang="nl-BE" sz="1200" i="1" dirty="0"/>
              <a:t>got updates</a:t>
            </a:r>
          </a:p>
          <a:p>
            <a:endParaRPr lang="nl-BE" sz="1200" i="1" dirty="0"/>
          </a:p>
          <a:p>
            <a:endParaRPr lang="nl-BE" sz="1200" i="1" dirty="0"/>
          </a:p>
          <a:p>
            <a:r>
              <a:rPr lang="nl-BE" sz="1200" i="1" dirty="0"/>
              <a:t>Fabric supports hybrid incremental refrech this is used for near realtime dashboarding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200" i="1" dirty="0"/>
              <a:t>Historical data --</a:t>
            </a:r>
            <a:r>
              <a:rPr lang="nl-BE" sz="1200" i="1" dirty="0">
                <a:sym typeface="Wingdings" panose="05000000000000000000" pitchFamily="2" charset="2"/>
              </a:rPr>
              <a:t> Import mode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sz="1200" i="1" dirty="0">
                <a:sym typeface="Wingdings" panose="05000000000000000000" pitchFamily="2" charset="2"/>
              </a:rPr>
              <a:t>Last Data -- DirectQuery </a:t>
            </a:r>
          </a:p>
          <a:p>
            <a:r>
              <a:rPr lang="nl-BE" sz="1200" i="1" dirty="0">
                <a:sym typeface="Wingdings" panose="05000000000000000000" pitchFamily="2" charset="2"/>
              </a:rPr>
              <a:t>In fabric the polowing configuaration will enable the hybrid incremental refresh , meaning </a:t>
            </a:r>
            <a:r>
              <a:rPr lang="nl-BE" sz="1200" b="1" dirty="0">
                <a:sym typeface="Wingdings" panose="05000000000000000000" pitchFamily="2" charset="2"/>
              </a:rPr>
              <a:t>old data (historical) </a:t>
            </a:r>
            <a:r>
              <a:rPr lang="nl-BE" sz="1200" i="1" dirty="0">
                <a:sym typeface="Wingdings" panose="05000000000000000000" pitchFamily="2" charset="2"/>
              </a:rPr>
              <a:t>will be in </a:t>
            </a:r>
            <a:r>
              <a:rPr lang="nl-BE" sz="1200" b="1" dirty="0">
                <a:sym typeface="Wingdings" panose="05000000000000000000" pitchFamily="2" charset="2"/>
              </a:rPr>
              <a:t>import mode </a:t>
            </a:r>
            <a:r>
              <a:rPr lang="nl-BE" sz="1200" i="1" dirty="0">
                <a:sym typeface="Wingdings" panose="05000000000000000000" pitchFamily="2" charset="2"/>
              </a:rPr>
              <a:t>and recent data </a:t>
            </a:r>
            <a:r>
              <a:rPr lang="nl-BE" sz="1200" b="1" dirty="0">
                <a:sym typeface="Wingdings" panose="05000000000000000000" pitchFamily="2" charset="2"/>
              </a:rPr>
              <a:t>with Direct Query</a:t>
            </a:r>
          </a:p>
          <a:p>
            <a:endParaRPr lang="nl-BE" sz="1200" b="1" dirty="0">
              <a:sym typeface="Wingdings" panose="05000000000000000000" pitchFamily="2" charset="2"/>
            </a:endParaRPr>
          </a:p>
          <a:p>
            <a:endParaRPr lang="nl-BE" sz="1200" b="1" dirty="0"/>
          </a:p>
          <a:p>
            <a:endParaRPr lang="nl-BE" sz="1200" b="1" dirty="0"/>
          </a:p>
          <a:p>
            <a:endParaRPr lang="nl-BE" sz="1200" b="1" dirty="0"/>
          </a:p>
          <a:p>
            <a:endParaRPr lang="nl-BE" sz="1200" b="1" dirty="0"/>
          </a:p>
          <a:p>
            <a:endParaRPr lang="nl-BE" sz="1200" b="1" dirty="0"/>
          </a:p>
          <a:p>
            <a:endParaRPr lang="nl-BE" sz="1200" b="1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5B7600-5326-F44D-BCC3-5D550A54F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90" y="3359485"/>
            <a:ext cx="3430877" cy="198139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00C4CC-2E0F-1AA0-EA32-B3111787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905" y="3633660"/>
            <a:ext cx="3686689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4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417AF-3B8C-DC84-BBC6-2720068C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0D14-1FE3-544D-45F0-9E1824D58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491427"/>
            <a:ext cx="9144000" cy="477837"/>
          </a:xfrm>
        </p:spPr>
        <p:txBody>
          <a:bodyPr>
            <a:noAutofit/>
          </a:bodyPr>
          <a:lstStyle/>
          <a:p>
            <a:r>
              <a:rPr lang="nl-BE" sz="3200" b="1" i="1" dirty="0"/>
              <a:t>Composite data model in MS Fabric</a:t>
            </a:r>
            <a:endParaRPr lang="en-US" sz="3200" b="1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A62DA-4C4C-B8D5-41D4-4C62B55C05D7}"/>
              </a:ext>
            </a:extLst>
          </p:cNvPr>
          <p:cNvSpPr txBox="1"/>
          <p:nvPr/>
        </p:nvSpPr>
        <p:spPr>
          <a:xfrm>
            <a:off x="338328" y="1085786"/>
            <a:ext cx="11494008" cy="56092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i="1" dirty="0">
                <a:solidFill>
                  <a:srgbClr val="C00000"/>
                </a:solidFill>
              </a:rPr>
              <a:t>In MS Fabric </a:t>
            </a:r>
            <a:r>
              <a:rPr lang="nl-BE" sz="1200" dirty="0">
                <a:solidFill>
                  <a:srgbClr val="C00000"/>
                </a:solidFill>
              </a:rPr>
              <a:t>the same fact table can use both storage mode to suppot the repoting , this called a composite data model </a:t>
            </a:r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0CE5DB7-DEC7-6C09-A4E3-6FF2093F5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16" y="1319122"/>
            <a:ext cx="4682034" cy="858686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34D10E52-12E4-2032-F3E8-E89C1DE00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16" y="2311795"/>
            <a:ext cx="4205568" cy="1333634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1CBAA1-873E-61E0-5501-A0A76DE96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275" y="1651875"/>
            <a:ext cx="3219784" cy="24020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65E867-A710-FDDB-B0A1-3102679E6D36}"/>
              </a:ext>
            </a:extLst>
          </p:cNvPr>
          <p:cNvSpPr txBox="1"/>
          <p:nvPr/>
        </p:nvSpPr>
        <p:spPr>
          <a:xfrm>
            <a:off x="5629275" y="1396853"/>
            <a:ext cx="2943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200" b="1" i="1" dirty="0"/>
              <a:t>Creating the historical table in Power bi </a:t>
            </a:r>
            <a:endParaRPr lang="en-US" sz="12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E69B01-75FA-9C08-F9C9-DF472905FB3F}"/>
              </a:ext>
            </a:extLst>
          </p:cNvPr>
          <p:cNvSpPr txBox="1"/>
          <p:nvPr/>
        </p:nvSpPr>
        <p:spPr>
          <a:xfrm>
            <a:off x="8692059" y="1396853"/>
            <a:ext cx="2943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200" b="1" i="1" dirty="0"/>
              <a:t>Creating the real time table in Power bi </a:t>
            </a:r>
            <a:endParaRPr lang="en-US" sz="1200" b="1" i="1" dirty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5E9D3D-C7BD-F67B-D154-35F651710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1748465"/>
            <a:ext cx="3133888" cy="2175835"/>
          </a:xfrm>
          <a:prstGeom prst="rect">
            <a:avLst/>
          </a:prstGeom>
        </p:spPr>
      </p:pic>
      <p:pic>
        <p:nvPicPr>
          <p:cNvPr id="17" name="Picture 1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019F4E9-FD1B-1404-ED14-1055FA593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0544" y="4415007"/>
            <a:ext cx="3716016" cy="20485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1DFF581-5279-D3A8-DE32-A2D00B5A4A0A}"/>
              </a:ext>
            </a:extLst>
          </p:cNvPr>
          <p:cNvSpPr txBox="1"/>
          <p:nvPr/>
        </p:nvSpPr>
        <p:spPr>
          <a:xfrm>
            <a:off x="6860544" y="4150527"/>
            <a:ext cx="2943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200" b="1" i="1" dirty="0"/>
              <a:t>Combining these 2 table in PBI</a:t>
            </a:r>
            <a:endParaRPr lang="en-US" sz="1200" b="1" i="1" dirty="0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5AB38B-C4A7-D7D0-0C89-AAB018AD94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634" y="3751367"/>
            <a:ext cx="3588865" cy="283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71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Office PowerPoint</Application>
  <PresentationFormat>Widescreen</PresentationFormat>
  <Paragraphs>117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Senior MF Fabric</vt:lpstr>
      <vt:lpstr>Large lakehouse optimization</vt:lpstr>
      <vt:lpstr>Incremental (hybrid) data refreh</vt:lpstr>
      <vt:lpstr>Composite data model in MS Fabric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Oumar Coulibaly</dc:creator>
  <cp:lastModifiedBy>Oumar Coulibaly</cp:lastModifiedBy>
  <cp:revision>1</cp:revision>
  <dcterms:created xsi:type="dcterms:W3CDTF">2026-03-02T15:44:51Z</dcterms:created>
  <dcterms:modified xsi:type="dcterms:W3CDTF">2026-03-02T20:03:18Z</dcterms:modified>
</cp:coreProperties>
</file>