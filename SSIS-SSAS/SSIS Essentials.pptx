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0" r:id="rId8"/>
    <p:sldId id="261"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127BB2-D332-41DA-8A51-87622EB3D0B0}" v="39" dt="2026-02-26T11:42:51.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umar Coulibaly" userId="410d7d9053e664c5" providerId="LiveId" clId="{C7174FF6-D772-4FD3-BE04-ED3E664F966B}"/>
    <pc:docChg chg="undo custSel addSld modSld">
      <pc:chgData name="Oumar Coulibaly" userId="410d7d9053e664c5" providerId="LiveId" clId="{C7174FF6-D772-4FD3-BE04-ED3E664F966B}" dt="2026-02-26T11:42:51.500" v="10139" actId="20577"/>
      <pc:docMkLst>
        <pc:docMk/>
      </pc:docMkLst>
      <pc:sldChg chg="modSp mod">
        <pc:chgData name="Oumar Coulibaly" userId="410d7d9053e664c5" providerId="LiveId" clId="{C7174FF6-D772-4FD3-BE04-ED3E664F966B}" dt="2026-02-16T10:46:11.041" v="8257" actId="20577"/>
        <pc:sldMkLst>
          <pc:docMk/>
          <pc:sldMk cId="32100503" sldId="256"/>
        </pc:sldMkLst>
        <pc:spChg chg="mod">
          <ac:chgData name="Oumar Coulibaly" userId="410d7d9053e664c5" providerId="LiveId" clId="{C7174FF6-D772-4FD3-BE04-ED3E664F966B}" dt="2026-02-16T10:46:11.041" v="8257" actId="20577"/>
          <ac:spMkLst>
            <pc:docMk/>
            <pc:sldMk cId="32100503" sldId="256"/>
            <ac:spMk id="2" creationId="{36DD25DF-3921-226F-B475-A0CD8A5FA975}"/>
          </ac:spMkLst>
        </pc:spChg>
      </pc:sldChg>
      <pc:sldChg chg="modSp mod">
        <pc:chgData name="Oumar Coulibaly" userId="410d7d9053e664c5" providerId="LiveId" clId="{C7174FF6-D772-4FD3-BE04-ED3E664F966B}" dt="2026-02-16T08:28:48.628" v="6252" actId="20577"/>
        <pc:sldMkLst>
          <pc:docMk/>
          <pc:sldMk cId="3497058641" sldId="258"/>
        </pc:sldMkLst>
        <pc:spChg chg="mod">
          <ac:chgData name="Oumar Coulibaly" userId="410d7d9053e664c5" providerId="LiveId" clId="{C7174FF6-D772-4FD3-BE04-ED3E664F966B}" dt="2026-02-16T08:28:48.628" v="6252" actId="20577"/>
          <ac:spMkLst>
            <pc:docMk/>
            <pc:sldMk cId="3497058641" sldId="258"/>
            <ac:spMk id="4" creationId="{138FA161-0B40-B399-8A02-B1BA0BEA4BF8}"/>
          </ac:spMkLst>
        </pc:spChg>
      </pc:sldChg>
      <pc:sldChg chg="modSp add mod">
        <pc:chgData name="Oumar Coulibaly" userId="410d7d9053e664c5" providerId="LiveId" clId="{C7174FF6-D772-4FD3-BE04-ED3E664F966B}" dt="2026-02-26T11:41:28.277" v="10022" actId="20577"/>
        <pc:sldMkLst>
          <pc:docMk/>
          <pc:sldMk cId="2623776028" sldId="259"/>
        </pc:sldMkLst>
        <pc:spChg chg="mod">
          <ac:chgData name="Oumar Coulibaly" userId="410d7d9053e664c5" providerId="LiveId" clId="{C7174FF6-D772-4FD3-BE04-ED3E664F966B}" dt="2026-02-26T11:41:28.277" v="10022" actId="20577"/>
          <ac:spMkLst>
            <pc:docMk/>
            <pc:sldMk cId="2623776028" sldId="259"/>
            <ac:spMk id="4" creationId="{E155B4CA-A63A-2DDF-E3D9-DE08CC2C41A1}"/>
          </ac:spMkLst>
        </pc:spChg>
      </pc:sldChg>
      <pc:sldChg chg="modSp add mod">
        <pc:chgData name="Oumar Coulibaly" userId="410d7d9053e664c5" providerId="LiveId" clId="{C7174FF6-D772-4FD3-BE04-ED3E664F966B}" dt="2026-02-16T08:50:26.128" v="6259" actId="20577"/>
        <pc:sldMkLst>
          <pc:docMk/>
          <pc:sldMk cId="364034438" sldId="260"/>
        </pc:sldMkLst>
        <pc:spChg chg="mod">
          <ac:chgData name="Oumar Coulibaly" userId="410d7d9053e664c5" providerId="LiveId" clId="{C7174FF6-D772-4FD3-BE04-ED3E664F966B}" dt="2026-02-16T08:50:26.128" v="6259" actId="20577"/>
          <ac:spMkLst>
            <pc:docMk/>
            <pc:sldMk cId="364034438" sldId="260"/>
            <ac:spMk id="4" creationId="{26006911-9C25-ED7B-291B-20EABDE2BA09}"/>
          </ac:spMkLst>
        </pc:spChg>
      </pc:sldChg>
      <pc:sldChg chg="modSp add mod">
        <pc:chgData name="Oumar Coulibaly" userId="410d7d9053e664c5" providerId="LiveId" clId="{C7174FF6-D772-4FD3-BE04-ED3E664F966B}" dt="2026-02-16T08:53:35.010" v="6265" actId="20577"/>
        <pc:sldMkLst>
          <pc:docMk/>
          <pc:sldMk cId="2329264247" sldId="261"/>
        </pc:sldMkLst>
        <pc:spChg chg="mod">
          <ac:chgData name="Oumar Coulibaly" userId="410d7d9053e664c5" providerId="LiveId" clId="{C7174FF6-D772-4FD3-BE04-ED3E664F966B}" dt="2026-02-16T08:53:35.010" v="6265" actId="20577"/>
          <ac:spMkLst>
            <pc:docMk/>
            <pc:sldMk cId="2329264247" sldId="261"/>
            <ac:spMk id="4" creationId="{ADA12BA0-5B34-7F12-836F-06C0FEE3A93F}"/>
          </ac:spMkLst>
        </pc:spChg>
      </pc:sldChg>
      <pc:sldChg chg="modSp add mod">
        <pc:chgData name="Oumar Coulibaly" userId="410d7d9053e664c5" providerId="LiveId" clId="{C7174FF6-D772-4FD3-BE04-ED3E664F966B}" dt="2026-02-16T09:45:12.372" v="7359" actId="20577"/>
        <pc:sldMkLst>
          <pc:docMk/>
          <pc:sldMk cId="3529282805" sldId="262"/>
        </pc:sldMkLst>
        <pc:spChg chg="mod">
          <ac:chgData name="Oumar Coulibaly" userId="410d7d9053e664c5" providerId="LiveId" clId="{C7174FF6-D772-4FD3-BE04-ED3E664F966B}" dt="2026-02-16T09:23:44.643" v="6306" actId="20577"/>
          <ac:spMkLst>
            <pc:docMk/>
            <pc:sldMk cId="3529282805" sldId="262"/>
            <ac:spMk id="2" creationId="{5D19697F-7529-821A-4EC4-0AF5B22C41E5}"/>
          </ac:spMkLst>
        </pc:spChg>
        <pc:spChg chg="mod">
          <ac:chgData name="Oumar Coulibaly" userId="410d7d9053e664c5" providerId="LiveId" clId="{C7174FF6-D772-4FD3-BE04-ED3E664F966B}" dt="2026-02-16T09:45:12.372" v="7359" actId="20577"/>
          <ac:spMkLst>
            <pc:docMk/>
            <pc:sldMk cId="3529282805" sldId="262"/>
            <ac:spMk id="4" creationId="{83CA0986-57AE-5018-24AE-3EB3FE70E605}"/>
          </ac:spMkLst>
        </pc:spChg>
      </pc:sldChg>
      <pc:sldChg chg="modSp add mod">
        <pc:chgData name="Oumar Coulibaly" userId="410d7d9053e664c5" providerId="LiveId" clId="{C7174FF6-D772-4FD3-BE04-ED3E664F966B}" dt="2026-02-16T10:41:32.689" v="8246" actId="20577"/>
        <pc:sldMkLst>
          <pc:docMk/>
          <pc:sldMk cId="3528749253" sldId="263"/>
        </pc:sldMkLst>
        <pc:spChg chg="mod">
          <ac:chgData name="Oumar Coulibaly" userId="410d7d9053e664c5" providerId="LiveId" clId="{C7174FF6-D772-4FD3-BE04-ED3E664F966B}" dt="2026-02-16T10:05:14.847" v="7404" actId="20577"/>
          <ac:spMkLst>
            <pc:docMk/>
            <pc:sldMk cId="3528749253" sldId="263"/>
            <ac:spMk id="2" creationId="{1FD3CAB0-05B3-D7C8-2B78-A88E4671920A}"/>
          </ac:spMkLst>
        </pc:spChg>
        <pc:spChg chg="mod">
          <ac:chgData name="Oumar Coulibaly" userId="410d7d9053e664c5" providerId="LiveId" clId="{C7174FF6-D772-4FD3-BE04-ED3E664F966B}" dt="2026-02-16T10:41:32.689" v="8246" actId="20577"/>
          <ac:spMkLst>
            <pc:docMk/>
            <pc:sldMk cId="3528749253" sldId="263"/>
            <ac:spMk id="4" creationId="{283F6E93-4D34-F4B0-931B-46571A9E8384}"/>
          </ac:spMkLst>
        </pc:spChg>
      </pc:sldChg>
      <pc:sldChg chg="modSp add mod">
        <pc:chgData name="Oumar Coulibaly" userId="410d7d9053e664c5" providerId="LiveId" clId="{C7174FF6-D772-4FD3-BE04-ED3E664F966B}" dt="2026-02-16T14:28:00.827" v="9964" actId="20577"/>
        <pc:sldMkLst>
          <pc:docMk/>
          <pc:sldMk cId="4017340653" sldId="264"/>
        </pc:sldMkLst>
        <pc:spChg chg="mod">
          <ac:chgData name="Oumar Coulibaly" userId="410d7d9053e664c5" providerId="LiveId" clId="{C7174FF6-D772-4FD3-BE04-ED3E664F966B}" dt="2026-02-16T14:04:24.331" v="9379" actId="20577"/>
          <ac:spMkLst>
            <pc:docMk/>
            <pc:sldMk cId="4017340653" sldId="264"/>
            <ac:spMk id="2" creationId="{A6CFD1E4-D038-CA00-91B6-F2BAA643894A}"/>
          </ac:spMkLst>
        </pc:spChg>
        <pc:spChg chg="mod">
          <ac:chgData name="Oumar Coulibaly" userId="410d7d9053e664c5" providerId="LiveId" clId="{C7174FF6-D772-4FD3-BE04-ED3E664F966B}" dt="2026-02-16T14:28:00.827" v="9964" actId="20577"/>
          <ac:spMkLst>
            <pc:docMk/>
            <pc:sldMk cId="4017340653" sldId="264"/>
            <ac:spMk id="4" creationId="{CD1A9A76-335D-A6BB-72A0-11FE37DE40EA}"/>
          </ac:spMkLst>
        </pc:spChg>
      </pc:sldChg>
      <pc:sldChg chg="addSp modSp add mod">
        <pc:chgData name="Oumar Coulibaly" userId="410d7d9053e664c5" providerId="LiveId" clId="{C7174FF6-D772-4FD3-BE04-ED3E664F966B}" dt="2026-02-26T11:42:51.500" v="10139" actId="20577"/>
        <pc:sldMkLst>
          <pc:docMk/>
          <pc:sldMk cId="308425766" sldId="265"/>
        </pc:sldMkLst>
        <pc:spChg chg="mod">
          <ac:chgData name="Oumar Coulibaly" userId="410d7d9053e664c5" providerId="LiveId" clId="{C7174FF6-D772-4FD3-BE04-ED3E664F966B}" dt="2026-02-16T14:04:12.731" v="9372" actId="20577"/>
          <ac:spMkLst>
            <pc:docMk/>
            <pc:sldMk cId="308425766" sldId="265"/>
            <ac:spMk id="2" creationId="{7172CE6B-FDFD-E063-45D1-587A3B173C5A}"/>
          </ac:spMkLst>
        </pc:spChg>
        <pc:spChg chg="add mod">
          <ac:chgData name="Oumar Coulibaly" userId="410d7d9053e664c5" providerId="LiveId" clId="{C7174FF6-D772-4FD3-BE04-ED3E664F966B}" dt="2026-02-26T11:42:51.500" v="10139" actId="20577"/>
          <ac:spMkLst>
            <pc:docMk/>
            <pc:sldMk cId="308425766" sldId="265"/>
            <ac:spMk id="3" creationId="{57DFDA95-2B60-8865-F88C-563CFDBD2837}"/>
          </ac:spMkLst>
        </pc:spChg>
        <pc:spChg chg="mod">
          <ac:chgData name="Oumar Coulibaly" userId="410d7d9053e664c5" providerId="LiveId" clId="{C7174FF6-D772-4FD3-BE04-ED3E664F966B}" dt="2026-02-16T14:04:30.034" v="9380" actId="20577"/>
          <ac:spMkLst>
            <pc:docMk/>
            <pc:sldMk cId="308425766" sldId="265"/>
            <ac:spMk id="4" creationId="{22F0D4B8-6B8A-DFFC-C313-1E15D608067B}"/>
          </ac:spMkLst>
        </pc:spChg>
        <pc:spChg chg="add mod">
          <ac:chgData name="Oumar Coulibaly" userId="410d7d9053e664c5" providerId="LiveId" clId="{C7174FF6-D772-4FD3-BE04-ED3E664F966B}" dt="2026-02-16T14:14:23.942" v="9823" actId="114"/>
          <ac:spMkLst>
            <pc:docMk/>
            <pc:sldMk cId="308425766" sldId="265"/>
            <ac:spMk id="6" creationId="{484F00E2-A3DD-D9E6-6912-78901A2DEDD1}"/>
          </ac:spMkLst>
        </pc:spChg>
        <pc:picChg chg="add mod">
          <ac:chgData name="Oumar Coulibaly" userId="410d7d9053e664c5" providerId="LiveId" clId="{C7174FF6-D772-4FD3-BE04-ED3E664F966B}" dt="2026-02-16T14:07:31.163" v="9384" actId="1076"/>
          <ac:picMkLst>
            <pc:docMk/>
            <pc:sldMk cId="308425766" sldId="265"/>
            <ac:picMk id="5" creationId="{FB207DA6-3604-3FC8-9077-7BC7F8ABBE3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A43C3-AF77-9313-1577-0F04FD4D622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3C9EB38-BCF2-D7E1-6885-D8477FB245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29E65-6ABC-06AA-BAD0-3B64BF42DAFE}"/>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5" name="Footer Placeholder 4">
            <a:extLst>
              <a:ext uri="{FF2B5EF4-FFF2-40B4-BE49-F238E27FC236}">
                <a16:creationId xmlns:a16="http://schemas.microsoft.com/office/drawing/2014/main" id="{F060EA0D-4D31-FDAA-5426-9EBEB08924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9AF84-33DF-AF21-CC17-6DE3C4CA2C6E}"/>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1995378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44770-A8E2-65E8-2D0B-50BA1A9F25F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D635758-8A00-D38B-2C40-5861828A158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FEE18B0-4EE4-0A75-D9A1-F7B28AC2D266}"/>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5" name="Footer Placeholder 4">
            <a:extLst>
              <a:ext uri="{FF2B5EF4-FFF2-40B4-BE49-F238E27FC236}">
                <a16:creationId xmlns:a16="http://schemas.microsoft.com/office/drawing/2014/main" id="{70584B0B-3D78-313E-3555-B126CBD2E8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58667A-84CF-5896-6CBC-D4AB1A3978FA}"/>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1546543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E052B-F5C4-ADE0-910A-0010B4A6DD1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F3DB06E-D5F1-2967-E6B9-5A9D44185E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1E72165-D1E6-B019-856C-0CA0E02BD5AB}"/>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5" name="Footer Placeholder 4">
            <a:extLst>
              <a:ext uri="{FF2B5EF4-FFF2-40B4-BE49-F238E27FC236}">
                <a16:creationId xmlns:a16="http://schemas.microsoft.com/office/drawing/2014/main" id="{B942A6AD-6582-F36D-1E9A-2BECE8766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DBDAF8-5540-DA22-08BA-809FDC106E68}"/>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75942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A2F4E-804B-C8B0-B7C9-335E6E184E7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B2001E5-45E3-7252-E77D-E6E74923BE0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74EE09C-1C6F-649E-4D52-E6318BECB40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5A2F846-73C6-C0DA-E5BB-140B0E88717E}"/>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6" name="Footer Placeholder 5">
            <a:extLst>
              <a:ext uri="{FF2B5EF4-FFF2-40B4-BE49-F238E27FC236}">
                <a16:creationId xmlns:a16="http://schemas.microsoft.com/office/drawing/2014/main" id="{C0519EFB-787F-7037-A5F9-D1B7EF9C2D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D0228F-DBA6-9553-66CE-C20E42C0CB11}"/>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2504848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571A6-03A3-6D62-4CDF-BCFAC5C5853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C56F63E-3BB3-99B1-45D8-C316548772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E192538-6538-CFC7-6CBD-82FC8846AD0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1BCE584-BA2E-A082-79AD-194E4AFC01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9DB0C44-AD00-8C3B-861A-DF540640A41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4677976-3967-A01B-5C25-195A2A721A48}"/>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8" name="Footer Placeholder 7">
            <a:extLst>
              <a:ext uri="{FF2B5EF4-FFF2-40B4-BE49-F238E27FC236}">
                <a16:creationId xmlns:a16="http://schemas.microsoft.com/office/drawing/2014/main" id="{36AC0792-48FE-C9BD-4593-82E21849FF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FAAB5D-E2D7-918B-E64B-3F48BF3E4ECC}"/>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1344854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84508-A525-75F9-5294-69ABDF4C06D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7959E83-CFE6-233F-C198-2FD7BF845B91}"/>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4" name="Footer Placeholder 3">
            <a:extLst>
              <a:ext uri="{FF2B5EF4-FFF2-40B4-BE49-F238E27FC236}">
                <a16:creationId xmlns:a16="http://schemas.microsoft.com/office/drawing/2014/main" id="{61EC3245-FB85-FF44-77FA-4A49AD3CF1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59C38A-1678-7644-6374-75BF3FFDD7D5}"/>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1589285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6F75F6-E084-38AC-539F-6FBB40DF0C59}"/>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3" name="Footer Placeholder 2">
            <a:extLst>
              <a:ext uri="{FF2B5EF4-FFF2-40B4-BE49-F238E27FC236}">
                <a16:creationId xmlns:a16="http://schemas.microsoft.com/office/drawing/2014/main" id="{DA93E6BF-28BB-ECD3-35BD-8638ED3468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A66BCE-C840-80D9-C63D-EE22A98177F1}"/>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1725773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D4E02-B090-D64C-B0F4-4FB796B4BFD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B171A9C-E82D-F125-F170-518F4AE0EC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CD1666E-0F00-519F-3F9C-D3D351CA7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EEC5AD-6A30-6019-7D80-903C000729ED}"/>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6" name="Footer Placeholder 5">
            <a:extLst>
              <a:ext uri="{FF2B5EF4-FFF2-40B4-BE49-F238E27FC236}">
                <a16:creationId xmlns:a16="http://schemas.microsoft.com/office/drawing/2014/main" id="{1DDC59EC-3FEF-18DE-2113-E220C8C8B5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AB75AD-A306-DC1D-C20C-5C0CB2BBE458}"/>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4133028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842BF-820D-8CF3-9374-2EB0F230E09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0FD4966-BE51-9AF4-528E-97B6C613FA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A02F10-4845-2C5D-7B47-62AEA738C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D7AD612-1158-CEB7-EEFE-96B8BAB1FC75}"/>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6" name="Footer Placeholder 5">
            <a:extLst>
              <a:ext uri="{FF2B5EF4-FFF2-40B4-BE49-F238E27FC236}">
                <a16:creationId xmlns:a16="http://schemas.microsoft.com/office/drawing/2014/main" id="{3E593A2A-388F-C60D-3997-AD0BBD3325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B6894E-D29C-A320-33FE-D3079BB7F261}"/>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1578702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DA526-8729-2580-D1D1-F9C2A4B08CF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32C9978-32A7-719F-9EBA-9508BECADB3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25A552-7D5F-6DE8-249B-6737577BDCCD}"/>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5" name="Footer Placeholder 4">
            <a:extLst>
              <a:ext uri="{FF2B5EF4-FFF2-40B4-BE49-F238E27FC236}">
                <a16:creationId xmlns:a16="http://schemas.microsoft.com/office/drawing/2014/main" id="{83843619-A5B4-5D80-FB9D-D180BF46A0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9DA7A-2B92-337A-F0DD-27987BC43F93}"/>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3712188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D30F3D-98E7-E9E6-0392-CF95BB839A4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4DB3E59-735C-C603-704C-1263BB260BB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EA5240-3FA1-A465-254A-1F2D986B9BA0}"/>
              </a:ext>
            </a:extLst>
          </p:cNvPr>
          <p:cNvSpPr>
            <a:spLocks noGrp="1"/>
          </p:cNvSpPr>
          <p:nvPr>
            <p:ph type="dt" sz="half" idx="10"/>
          </p:nvPr>
        </p:nvSpPr>
        <p:spPr/>
        <p:txBody>
          <a:bodyPr/>
          <a:lstStyle/>
          <a:p>
            <a:fld id="{8070E9B5-7476-4606-A034-210CC4B39A90}" type="datetimeFigureOut">
              <a:rPr lang="en-US" smtClean="0"/>
              <a:t>3/27/2026</a:t>
            </a:fld>
            <a:endParaRPr lang="en-US"/>
          </a:p>
        </p:txBody>
      </p:sp>
      <p:sp>
        <p:nvSpPr>
          <p:cNvPr id="5" name="Footer Placeholder 4">
            <a:extLst>
              <a:ext uri="{FF2B5EF4-FFF2-40B4-BE49-F238E27FC236}">
                <a16:creationId xmlns:a16="http://schemas.microsoft.com/office/drawing/2014/main" id="{06BBF6BC-23F7-98E5-68DB-C91900498F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4D7AF5-9350-DCE5-679C-7D2054B45108}"/>
              </a:ext>
            </a:extLst>
          </p:cNvPr>
          <p:cNvSpPr>
            <a:spLocks noGrp="1"/>
          </p:cNvSpPr>
          <p:nvPr>
            <p:ph type="sldNum" sz="quarter" idx="12"/>
          </p:nvPr>
        </p:nvSpPr>
        <p:spPr/>
        <p:txBody>
          <a:bodyPr/>
          <a:lstStyle/>
          <a:p>
            <a:fld id="{6DACEE21-D577-43B4-8E51-74091B412988}" type="slidenum">
              <a:rPr lang="en-US" smtClean="0"/>
              <a:t>‹#›</a:t>
            </a:fld>
            <a:endParaRPr lang="en-US"/>
          </a:p>
        </p:txBody>
      </p:sp>
    </p:spTree>
    <p:extLst>
      <p:ext uri="{BB962C8B-B14F-4D97-AF65-F5344CB8AC3E}">
        <p14:creationId xmlns:p14="http://schemas.microsoft.com/office/powerpoint/2010/main" val="4226333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C1205B-E27A-9E29-2E01-4776D127E0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912F17-8DDC-C5C6-D443-8DABAB0360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6F266B8-B528-4A08-C3F7-EE32937828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0E9B5-7476-4606-A034-210CC4B39A90}" type="datetimeFigureOut">
              <a:rPr lang="en-US" smtClean="0"/>
              <a:t>3/27/2026</a:t>
            </a:fld>
            <a:endParaRPr lang="en-US"/>
          </a:p>
        </p:txBody>
      </p:sp>
      <p:sp>
        <p:nvSpPr>
          <p:cNvPr id="5" name="Footer Placeholder 4">
            <a:extLst>
              <a:ext uri="{FF2B5EF4-FFF2-40B4-BE49-F238E27FC236}">
                <a16:creationId xmlns:a16="http://schemas.microsoft.com/office/drawing/2014/main" id="{811F1E84-BAF3-4EB5-DE87-F772157AA8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D3E610-8109-65DE-9717-1788457EF5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ACEE21-D577-43B4-8E51-74091B412988}" type="slidenum">
              <a:rPr lang="en-US" smtClean="0"/>
              <a:t>‹#›</a:t>
            </a:fld>
            <a:endParaRPr lang="en-US"/>
          </a:p>
        </p:txBody>
      </p:sp>
    </p:spTree>
    <p:extLst>
      <p:ext uri="{BB962C8B-B14F-4D97-AF65-F5344CB8AC3E}">
        <p14:creationId xmlns:p14="http://schemas.microsoft.com/office/powerpoint/2010/main" val="1873804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54RsM3L_ljI" TargetMode="External"/><Relationship Id="rId2" Type="http://schemas.openxmlformats.org/officeDocument/2006/relationships/hyperlink" Target="https://www.youtube.com/watch?v=uYYvKV5ccd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v-wOBFEAerU"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uDEXDDGr_B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ccvgw_gEiQY&amp;list=PLy4OcwImJzBLV-PKazKbw82ShgtcWy5E3&amp;index=1" TargetMode="External"/><Relationship Id="rId2" Type="http://schemas.openxmlformats.org/officeDocument/2006/relationships/hyperlink" Target="https://www.youtube.com/watch?v=wXLXUDU4IQc" TargetMode="External"/><Relationship Id="rId1" Type="http://schemas.openxmlformats.org/officeDocument/2006/relationships/slideLayout" Target="../slideLayouts/slideLayout2.xml"/><Relationship Id="rId5" Type="http://schemas.openxmlformats.org/officeDocument/2006/relationships/hyperlink" Target="https://www.youtube.com/watch?v=4Fv6cHdL8S0" TargetMode="External"/><Relationship Id="rId4" Type="http://schemas.openxmlformats.org/officeDocument/2006/relationships/hyperlink" Target="https://www.youtube.com/watch?v=8LSqp5frjXI"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4Fv6cHdL8S0" TargetMode="Externa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hyperlink" Target="https://www.youtube.com/watch?v=yM37Zb5YK7c&amp;list=PLClkz6fOJwPziaxc5At9ylfAoLC87lHSO&amp;index=9" TargetMode="External"/><Relationship Id="rId4" Type="http://schemas.openxmlformats.org/officeDocument/2006/relationships/hyperlink" Target="https://www.youtube.com/watch?v=eNxbMwUGl1g&amp;t=3596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D25DF-3921-226F-B475-A0CD8A5FA975}"/>
              </a:ext>
            </a:extLst>
          </p:cNvPr>
          <p:cNvSpPr>
            <a:spLocks noGrp="1"/>
          </p:cNvSpPr>
          <p:nvPr>
            <p:ph type="ctrTitle"/>
          </p:nvPr>
        </p:nvSpPr>
        <p:spPr>
          <a:xfrm>
            <a:off x="1347019" y="286621"/>
            <a:ext cx="9144000" cy="745766"/>
          </a:xfrm>
        </p:spPr>
        <p:txBody>
          <a:bodyPr>
            <a:normAutofit fontScale="90000"/>
          </a:bodyPr>
          <a:lstStyle/>
          <a:p>
            <a:r>
              <a:rPr lang="nl-BE" dirty="0"/>
              <a:t>SSIS and SSAS Essentials</a:t>
            </a:r>
            <a:endParaRPr lang="en-US" dirty="0"/>
          </a:p>
        </p:txBody>
      </p:sp>
      <p:pic>
        <p:nvPicPr>
          <p:cNvPr id="5" name="Picture 4" descr="A screenshot of a computer&#10;&#10;AI-generated content may be incorrect.">
            <a:extLst>
              <a:ext uri="{FF2B5EF4-FFF2-40B4-BE49-F238E27FC236}">
                <a16:creationId xmlns:a16="http://schemas.microsoft.com/office/drawing/2014/main" id="{8561BDAD-2BA2-8CE6-B066-B89169735D63}"/>
              </a:ext>
            </a:extLst>
          </p:cNvPr>
          <p:cNvPicPr>
            <a:picLocks noChangeAspect="1"/>
          </p:cNvPicPr>
          <p:nvPr/>
        </p:nvPicPr>
        <p:blipFill>
          <a:blip r:embed="rId2"/>
          <a:stretch>
            <a:fillRect/>
          </a:stretch>
        </p:blipFill>
        <p:spPr>
          <a:xfrm>
            <a:off x="484364" y="1597718"/>
            <a:ext cx="2610214" cy="4744112"/>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23679445-2334-B0D5-C2CB-1BA5E9411333}"/>
              </a:ext>
            </a:extLst>
          </p:cNvPr>
          <p:cNvPicPr>
            <a:picLocks noChangeAspect="1"/>
          </p:cNvPicPr>
          <p:nvPr/>
        </p:nvPicPr>
        <p:blipFill>
          <a:blip r:embed="rId3"/>
          <a:stretch>
            <a:fillRect/>
          </a:stretch>
        </p:blipFill>
        <p:spPr>
          <a:xfrm>
            <a:off x="3851167" y="1487244"/>
            <a:ext cx="6639852" cy="276263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3D5C6338-64CA-122E-AEC0-B59547D431A0}"/>
              </a:ext>
            </a:extLst>
          </p:cNvPr>
          <p:cNvPicPr>
            <a:picLocks noChangeAspect="1"/>
          </p:cNvPicPr>
          <p:nvPr/>
        </p:nvPicPr>
        <p:blipFill>
          <a:blip r:embed="rId4"/>
          <a:stretch>
            <a:fillRect/>
          </a:stretch>
        </p:blipFill>
        <p:spPr>
          <a:xfrm>
            <a:off x="3369051" y="4395046"/>
            <a:ext cx="3004503" cy="135653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284F8265-4946-A71F-CD40-CF0AE8A3B1F3}"/>
              </a:ext>
            </a:extLst>
          </p:cNvPr>
          <p:cNvPicPr>
            <a:picLocks noChangeAspect="1"/>
          </p:cNvPicPr>
          <p:nvPr/>
        </p:nvPicPr>
        <p:blipFill>
          <a:blip r:embed="rId5"/>
          <a:stretch>
            <a:fillRect/>
          </a:stretch>
        </p:blipFill>
        <p:spPr>
          <a:xfrm>
            <a:off x="6879818" y="3435531"/>
            <a:ext cx="5112835" cy="3422469"/>
          </a:xfrm>
          <a:prstGeom prst="rect">
            <a:avLst/>
          </a:prstGeom>
        </p:spPr>
      </p:pic>
    </p:spTree>
    <p:extLst>
      <p:ext uri="{BB962C8B-B14F-4D97-AF65-F5344CB8AC3E}">
        <p14:creationId xmlns:p14="http://schemas.microsoft.com/office/powerpoint/2010/main" val="3210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6FCF-17F1-3770-B64C-F21BE488EC39}"/>
              </a:ext>
            </a:extLst>
          </p:cNvPr>
          <p:cNvSpPr>
            <a:spLocks noGrp="1"/>
          </p:cNvSpPr>
          <p:nvPr>
            <p:ph type="title"/>
          </p:nvPr>
        </p:nvSpPr>
        <p:spPr/>
        <p:txBody>
          <a:bodyPr/>
          <a:lstStyle/>
          <a:p>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0D826EF9-2F95-90BD-8FA8-B6E6C3196439}"/>
              </a:ext>
            </a:extLst>
          </p:cNvPr>
          <p:cNvPicPr>
            <a:picLocks noGrp="1" noChangeAspect="1"/>
          </p:cNvPicPr>
          <p:nvPr>
            <p:ph idx="1"/>
          </p:nvPr>
        </p:nvPicPr>
        <p:blipFill>
          <a:blip r:embed="rId2"/>
          <a:stretch>
            <a:fillRect/>
          </a:stretch>
        </p:blipFill>
        <p:spPr>
          <a:xfrm>
            <a:off x="4322767" y="1395857"/>
            <a:ext cx="3546465" cy="4351338"/>
          </a:xfrm>
          <a:prstGeom prst="rect">
            <a:avLst/>
          </a:prstGeom>
        </p:spPr>
      </p:pic>
    </p:spTree>
    <p:extLst>
      <p:ext uri="{BB962C8B-B14F-4D97-AF65-F5344CB8AC3E}">
        <p14:creationId xmlns:p14="http://schemas.microsoft.com/office/powerpoint/2010/main" val="891339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DE6D9-5CD0-7986-22E8-CCAF8B04B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75756-3DBF-3268-1CA1-BB539DF4E3BC}"/>
              </a:ext>
            </a:extLst>
          </p:cNvPr>
          <p:cNvSpPr>
            <a:spLocks noGrp="1"/>
          </p:cNvSpPr>
          <p:nvPr>
            <p:ph type="title"/>
          </p:nvPr>
        </p:nvSpPr>
        <p:spPr>
          <a:xfrm>
            <a:off x="838200" y="365125"/>
            <a:ext cx="10515600" cy="238379"/>
          </a:xfrm>
        </p:spPr>
        <p:txBody>
          <a:bodyPr>
            <a:normAutofit fontScale="90000"/>
          </a:bodyPr>
          <a:lstStyle/>
          <a:p>
            <a:pPr algn="ctr"/>
            <a:r>
              <a:rPr lang="nl-BE" b="1" i="1" dirty="0"/>
              <a:t>Ssis most used Activities </a:t>
            </a:r>
            <a:endParaRPr lang="en-US" b="1" i="1" dirty="0"/>
          </a:p>
        </p:txBody>
      </p:sp>
      <p:sp>
        <p:nvSpPr>
          <p:cNvPr id="4" name="Content Placeholder 3">
            <a:extLst>
              <a:ext uri="{FF2B5EF4-FFF2-40B4-BE49-F238E27FC236}">
                <a16:creationId xmlns:a16="http://schemas.microsoft.com/office/drawing/2014/main" id="{138FA161-0B40-B399-8A02-B1BA0BEA4BF8}"/>
              </a:ext>
            </a:extLst>
          </p:cNvPr>
          <p:cNvSpPr>
            <a:spLocks noGrp="1"/>
          </p:cNvSpPr>
          <p:nvPr>
            <p:ph idx="1"/>
          </p:nvPr>
        </p:nvSpPr>
        <p:spPr>
          <a:xfrm>
            <a:off x="838200" y="822960"/>
            <a:ext cx="10515600" cy="5354003"/>
          </a:xfrm>
        </p:spPr>
        <p:txBody>
          <a:bodyPr>
            <a:normAutofit/>
          </a:bodyPr>
          <a:lstStyle/>
          <a:p>
            <a:r>
              <a:rPr lang="nl-BE" sz="1400" b="1" i="1" dirty="0"/>
              <a:t>Data flow task </a:t>
            </a:r>
            <a:r>
              <a:rPr lang="nl-BE" sz="1400" b="1" i="1" dirty="0">
                <a:sym typeface="Wingdings" panose="05000000000000000000" pitchFamily="2" charset="2"/>
              </a:rPr>
              <a:t> </a:t>
            </a:r>
            <a:r>
              <a:rPr lang="nl-BE" sz="1300" dirty="0"/>
              <a:t>Source and destination definition , tranformations using derived column, lookup , conditonal splts, variables</a:t>
            </a:r>
            <a:endParaRPr lang="nl-BE" sz="1000" dirty="0"/>
          </a:p>
          <a:p>
            <a:r>
              <a:rPr lang="nl-BE" sz="1400" b="1" i="1" dirty="0"/>
              <a:t>Execute Sql task  </a:t>
            </a:r>
            <a:r>
              <a:rPr lang="nl-BE" sz="1400" dirty="0">
                <a:sym typeface="Wingdings" panose="05000000000000000000" pitchFamily="2" charset="2"/>
              </a:rPr>
              <a:t> </a:t>
            </a:r>
            <a:r>
              <a:rPr lang="nl-BE" sz="1000" dirty="0">
                <a:sym typeface="Wingdings" panose="05000000000000000000" pitchFamily="2" charset="2"/>
              </a:rPr>
              <a:t>Write some message (error) to a slq db for anlyze, insert and update log tabe , run complex sql , SP</a:t>
            </a:r>
            <a:endParaRPr lang="nl-BE" sz="1000" dirty="0"/>
          </a:p>
          <a:p>
            <a:r>
              <a:rPr lang="nl-BE" sz="1400" b="1" i="1" dirty="0"/>
              <a:t>Bulk insert task </a:t>
            </a:r>
            <a:r>
              <a:rPr lang="nl-BE" sz="1400" dirty="0"/>
              <a:t>(csv to sql)  </a:t>
            </a:r>
            <a:r>
              <a:rPr lang="nl-BE" sz="1400" dirty="0">
                <a:sym typeface="Wingdings" panose="05000000000000000000" pitchFamily="2" charset="2"/>
              </a:rPr>
              <a:t> </a:t>
            </a:r>
            <a:r>
              <a:rPr lang="nl-BE" sz="1050" dirty="0">
                <a:sym typeface="Wingdings" panose="05000000000000000000" pitchFamily="2" charset="2"/>
              </a:rPr>
              <a:t>Copy very fast last csc to sql server , juste configure the source and destination well</a:t>
            </a:r>
            <a:endParaRPr lang="nl-BE" sz="1050" dirty="0"/>
          </a:p>
          <a:p>
            <a:r>
              <a:rPr lang="nl-BE" sz="1400" b="1" i="1" dirty="0"/>
              <a:t>Exceute package task  </a:t>
            </a:r>
            <a:r>
              <a:rPr lang="nl-BE" sz="1400" dirty="0">
                <a:sym typeface="Wingdings" panose="05000000000000000000" pitchFamily="2" charset="2"/>
              </a:rPr>
              <a:t> </a:t>
            </a:r>
            <a:r>
              <a:rPr lang="nl-BE" sz="1050" dirty="0">
                <a:sym typeface="Wingdings" panose="05000000000000000000" pitchFamily="2" charset="2"/>
              </a:rPr>
              <a:t>this help execute several packages in sequence using forEach loop, SSIS_pakage tables (list of package to run having flag 1 or 0, and in a given order</a:t>
            </a:r>
            <a:r>
              <a:rPr lang="nl-BE" sz="1400" dirty="0">
                <a:sym typeface="Wingdings" panose="05000000000000000000" pitchFamily="2" charset="2"/>
              </a:rPr>
              <a:t>. </a:t>
            </a:r>
            <a:endParaRPr lang="nl-BE" sz="1400" dirty="0"/>
          </a:p>
          <a:p>
            <a:r>
              <a:rPr lang="nl-BE" sz="1400" b="1" i="1" dirty="0"/>
              <a:t>Expression task     </a:t>
            </a:r>
            <a:r>
              <a:rPr lang="nl-BE" sz="1400" dirty="0">
                <a:sym typeface="Wingdings" panose="05000000000000000000" pitchFamily="2" charset="2"/>
              </a:rPr>
              <a:t> </a:t>
            </a:r>
            <a:r>
              <a:rPr lang="nl-BE" sz="1200" dirty="0">
                <a:sym typeface="Wingdings" panose="05000000000000000000" pitchFamily="2" charset="2"/>
              </a:rPr>
              <a:t>is used in the controle flow to define some expression like file path, file name, make some comparaison , before running some task using precedente constrain edit (If this experssion value is a given value (nomber , file , any value) the next step will be the run of a given task.</a:t>
            </a:r>
            <a:endParaRPr lang="nl-BE" sz="1200" dirty="0"/>
          </a:p>
          <a:p>
            <a:r>
              <a:rPr lang="nl-BE" sz="1400" b="1" i="1" dirty="0"/>
              <a:t>File system task  </a:t>
            </a:r>
            <a:r>
              <a:rPr lang="nl-BE" sz="1400" dirty="0">
                <a:sym typeface="Wingdings" panose="05000000000000000000" pitchFamily="2" charset="2"/>
              </a:rPr>
              <a:t> This use to copy , move , delete in a directory, after processing a file , you can move or delete it using this task</a:t>
            </a:r>
            <a:endParaRPr lang="nl-BE" sz="1400" dirty="0"/>
          </a:p>
          <a:p>
            <a:r>
              <a:rPr lang="nl-BE" sz="1400" b="1" i="1" dirty="0"/>
              <a:t>SSAS processing task </a:t>
            </a:r>
            <a:r>
              <a:rPr lang="nl-BE" sz="1400" dirty="0">
                <a:sym typeface="Wingdings" panose="05000000000000000000" pitchFamily="2" charset="2"/>
              </a:rPr>
              <a:t> </a:t>
            </a:r>
            <a:r>
              <a:rPr lang="nl-BE" sz="1100" dirty="0">
                <a:sym typeface="Wingdings" panose="05000000000000000000" pitchFamily="2" charset="2"/>
              </a:rPr>
              <a:t>If you have some ssas cube , this task help to process those SSAS to update the data</a:t>
            </a:r>
            <a:endParaRPr lang="nl-BE" sz="1600" dirty="0"/>
          </a:p>
          <a:p>
            <a:r>
              <a:rPr lang="nl-BE" sz="1400" b="1" i="1" dirty="0"/>
              <a:t>Script task    </a:t>
            </a:r>
            <a:r>
              <a:rPr lang="nl-BE" sz="1400" dirty="0">
                <a:sym typeface="Wingdings" panose="05000000000000000000" pitchFamily="2" charset="2"/>
              </a:rPr>
              <a:t> </a:t>
            </a:r>
            <a:r>
              <a:rPr lang="nl-BE" sz="1200" dirty="0">
                <a:sym typeface="Wingdings" panose="05000000000000000000" pitchFamily="2" charset="2"/>
              </a:rPr>
              <a:t>To find a file path and file name or extenssion and send this info for processing in the </a:t>
            </a:r>
            <a:r>
              <a:rPr lang="nl-BE" sz="1200" b="1" i="1" dirty="0">
                <a:sym typeface="Wingdings" panose="05000000000000000000" pitchFamily="2" charset="2"/>
              </a:rPr>
              <a:t>data flow </a:t>
            </a:r>
            <a:r>
              <a:rPr lang="nl-BE" sz="1200" dirty="0">
                <a:sym typeface="Wingdings" panose="05000000000000000000" pitchFamily="2" charset="2"/>
              </a:rPr>
              <a:t>or </a:t>
            </a:r>
            <a:r>
              <a:rPr lang="nl-BE" sz="1200" b="1" i="1" dirty="0">
                <a:sym typeface="Wingdings" panose="05000000000000000000" pitchFamily="2" charset="2"/>
              </a:rPr>
              <a:t>bulk insert </a:t>
            </a:r>
            <a:r>
              <a:rPr lang="nl-BE" sz="1200" dirty="0">
                <a:sym typeface="Wingdings" panose="05000000000000000000" pitchFamily="2" charset="2"/>
              </a:rPr>
              <a:t>, using </a:t>
            </a:r>
            <a:r>
              <a:rPr lang="nl-BE" sz="1200" b="1" i="1" dirty="0">
                <a:sym typeface="Wingdings" panose="05000000000000000000" pitchFamily="2" charset="2"/>
              </a:rPr>
              <a:t>readOnly </a:t>
            </a:r>
            <a:r>
              <a:rPr lang="nl-BE" sz="1200" dirty="0">
                <a:sym typeface="Wingdings" panose="05000000000000000000" pitchFamily="2" charset="2"/>
              </a:rPr>
              <a:t>variable and </a:t>
            </a:r>
            <a:r>
              <a:rPr lang="nl-BE" sz="1200" b="1" i="1" dirty="0">
                <a:sym typeface="Wingdings" panose="05000000000000000000" pitchFamily="2" charset="2"/>
              </a:rPr>
              <a:t>write</a:t>
            </a:r>
            <a:r>
              <a:rPr lang="nl-BE" sz="1200" dirty="0">
                <a:sym typeface="Wingdings" panose="05000000000000000000" pitchFamily="2" charset="2"/>
              </a:rPr>
              <a:t> variable , API call read json file using class and buffers in  c sharp  (</a:t>
            </a:r>
            <a:r>
              <a:rPr lang="en-GB" sz="1200" dirty="0">
                <a:hlinkClick r:id="rId2"/>
              </a:rPr>
              <a:t>130 How to read data from </a:t>
            </a:r>
            <a:r>
              <a:rPr lang="en-GB" sz="1200" dirty="0" err="1">
                <a:hlinkClick r:id="rId2"/>
              </a:rPr>
              <a:t>api</a:t>
            </a:r>
            <a:r>
              <a:rPr lang="en-GB" sz="1200" dirty="0">
                <a:hlinkClick r:id="rId2"/>
              </a:rPr>
              <a:t> in </a:t>
            </a:r>
            <a:r>
              <a:rPr lang="en-GB" sz="1200" dirty="0" err="1">
                <a:hlinkClick r:id="rId2"/>
              </a:rPr>
              <a:t>ssis</a:t>
            </a:r>
            <a:r>
              <a:rPr lang="en-GB" sz="1200" dirty="0">
                <a:hlinkClick r:id="rId2"/>
              </a:rPr>
              <a:t> - YouTube</a:t>
            </a:r>
            <a:r>
              <a:rPr lang="nl-BE" sz="1200" dirty="0">
                <a:sym typeface="Wingdings" panose="05000000000000000000" pitchFamily="2" charset="2"/>
              </a:rPr>
              <a:t>)</a:t>
            </a:r>
          </a:p>
          <a:p>
            <a:r>
              <a:rPr lang="nl-BE" sz="1400" b="1" i="1" dirty="0"/>
              <a:t>Send mail task </a:t>
            </a:r>
            <a:r>
              <a:rPr lang="nl-BE" sz="1400" dirty="0">
                <a:sym typeface="Wingdings" panose="05000000000000000000" pitchFamily="2" charset="2"/>
              </a:rPr>
              <a:t> </a:t>
            </a:r>
            <a:r>
              <a:rPr lang="nl-BE" sz="1200" dirty="0">
                <a:sym typeface="Wingdings" panose="05000000000000000000" pitchFamily="2" charset="2"/>
              </a:rPr>
              <a:t>This will send notification of the run of specific packge with status succeded or Error, also can be created in the event handler section to send an email with the error message in (best practice) </a:t>
            </a:r>
            <a:endParaRPr lang="nl-BE" sz="1400" dirty="0"/>
          </a:p>
          <a:p>
            <a:r>
              <a:rPr lang="nl-BE" sz="1400" b="1" i="1" dirty="0"/>
              <a:t>For loop container </a:t>
            </a:r>
            <a:r>
              <a:rPr lang="nl-BE" sz="1400" dirty="0">
                <a:sym typeface="Wingdings" panose="05000000000000000000" pitchFamily="2" charset="2"/>
              </a:rPr>
              <a:t> Excetion of a task till a maxtime ,start from intial value , and incremental value </a:t>
            </a:r>
            <a:endParaRPr lang="nl-BE" sz="1400" dirty="0"/>
          </a:p>
          <a:p>
            <a:r>
              <a:rPr lang="nl-BE" sz="1400" b="1" i="1" dirty="0"/>
              <a:t>Foreach loop container </a:t>
            </a:r>
            <a:r>
              <a:rPr lang="nl-BE" sz="1400" dirty="0">
                <a:sym typeface="Wingdings" panose="05000000000000000000" pitchFamily="2" charset="2"/>
              </a:rPr>
              <a:t> loop trough a file directory , select the file one by one , and send the file name to next data flow task (copy , transform)</a:t>
            </a:r>
            <a:endParaRPr lang="nl-BE" sz="1400" dirty="0"/>
          </a:p>
          <a:p>
            <a:r>
              <a:rPr lang="nl-BE" sz="1400" b="1" i="1" dirty="0"/>
              <a:t>Sequence container </a:t>
            </a:r>
            <a:r>
              <a:rPr lang="nl-BE" sz="1400" dirty="0">
                <a:sym typeface="Wingdings" panose="05000000000000000000" pitchFamily="2" charset="2"/>
              </a:rPr>
              <a:t> this will enable sequencial run of the solution block (for the tracability of run)</a:t>
            </a:r>
            <a:endParaRPr lang="nl-BE" sz="1400" dirty="0"/>
          </a:p>
          <a:p>
            <a:r>
              <a:rPr lang="nl-BE" sz="1400" dirty="0"/>
              <a:t>Deplyoment SSIS package in SSIS catalog</a:t>
            </a:r>
            <a:endParaRPr lang="nl-BE" dirty="0"/>
          </a:p>
          <a:p>
            <a:pPr marL="0" indent="0">
              <a:buNone/>
            </a:pPr>
            <a:r>
              <a:rPr lang="en-US" sz="1300" dirty="0">
                <a:hlinkClick r:id="rId3"/>
              </a:rPr>
              <a:t>https://www.youtube.com/watch?v=54RsM3L_ljI</a:t>
            </a:r>
            <a:r>
              <a:rPr lang="en-US" sz="1300" dirty="0"/>
              <a:t> </a:t>
            </a:r>
          </a:p>
        </p:txBody>
      </p:sp>
    </p:spTree>
    <p:extLst>
      <p:ext uri="{BB962C8B-B14F-4D97-AF65-F5344CB8AC3E}">
        <p14:creationId xmlns:p14="http://schemas.microsoft.com/office/powerpoint/2010/main" val="3497058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B9646-8BE2-6AC3-EA84-36A63DA33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690966-12B4-B9CA-FBA5-0AC6373E4397}"/>
              </a:ext>
            </a:extLst>
          </p:cNvPr>
          <p:cNvSpPr>
            <a:spLocks noGrp="1"/>
          </p:cNvSpPr>
          <p:nvPr>
            <p:ph type="title"/>
          </p:nvPr>
        </p:nvSpPr>
        <p:spPr>
          <a:xfrm>
            <a:off x="838200" y="365125"/>
            <a:ext cx="10515600" cy="238379"/>
          </a:xfrm>
        </p:spPr>
        <p:txBody>
          <a:bodyPr>
            <a:normAutofit fontScale="90000"/>
          </a:bodyPr>
          <a:lstStyle/>
          <a:p>
            <a:pPr algn="ctr"/>
            <a:r>
              <a:rPr lang="nl-BE" b="1" i="1" dirty="0"/>
              <a:t>Ssis most used data flow task</a:t>
            </a:r>
            <a:endParaRPr lang="en-US" b="1" i="1" dirty="0"/>
          </a:p>
        </p:txBody>
      </p:sp>
      <p:sp>
        <p:nvSpPr>
          <p:cNvPr id="4" name="Content Placeholder 3">
            <a:extLst>
              <a:ext uri="{FF2B5EF4-FFF2-40B4-BE49-F238E27FC236}">
                <a16:creationId xmlns:a16="http://schemas.microsoft.com/office/drawing/2014/main" id="{E155B4CA-A63A-2DDF-E3D9-DE08CC2C41A1}"/>
              </a:ext>
            </a:extLst>
          </p:cNvPr>
          <p:cNvSpPr>
            <a:spLocks noGrp="1"/>
          </p:cNvSpPr>
          <p:nvPr>
            <p:ph idx="1"/>
          </p:nvPr>
        </p:nvSpPr>
        <p:spPr>
          <a:xfrm>
            <a:off x="838200" y="987552"/>
            <a:ext cx="10515600" cy="5189411"/>
          </a:xfrm>
        </p:spPr>
        <p:txBody>
          <a:bodyPr>
            <a:normAutofit/>
          </a:bodyPr>
          <a:lstStyle/>
          <a:p>
            <a:r>
              <a:rPr lang="nl-BE" sz="1300" b="1" i="1" dirty="0"/>
              <a:t>Source</a:t>
            </a:r>
            <a:r>
              <a:rPr lang="nl-BE" sz="1300" dirty="0"/>
              <a:t> and </a:t>
            </a:r>
            <a:r>
              <a:rPr lang="nl-BE" sz="1300" b="1" i="1" dirty="0"/>
              <a:t>destination</a:t>
            </a:r>
            <a:r>
              <a:rPr lang="nl-BE" sz="1300" dirty="0"/>
              <a:t> definition sql , csv, excel …. Variables and dynamic file names </a:t>
            </a:r>
          </a:p>
          <a:p>
            <a:r>
              <a:rPr lang="nl-BE" sz="1300" b="1" i="1" dirty="0"/>
              <a:t>Derived columns </a:t>
            </a:r>
            <a:r>
              <a:rPr lang="nl-BE" sz="1300" dirty="0"/>
              <a:t>task to add fi</a:t>
            </a:r>
            <a:r>
              <a:rPr lang="en-US" sz="1300" dirty="0"/>
              <a:t>e</a:t>
            </a:r>
            <a:r>
              <a:rPr lang="nl-BE" sz="1300" dirty="0"/>
              <a:t>ld using variable value and inbult expression (flag field, replacing value, concatinating string , some math calculations)</a:t>
            </a:r>
          </a:p>
          <a:p>
            <a:r>
              <a:rPr lang="nl-BE" sz="1300" b="1" i="1" dirty="0"/>
              <a:t>Conditional splits </a:t>
            </a:r>
            <a:r>
              <a:rPr lang="nl-BE" sz="1300" dirty="0"/>
              <a:t>task help target a given destination if certain conditions are met (If country = USA then destination tablle Man…)</a:t>
            </a:r>
          </a:p>
          <a:p>
            <a:r>
              <a:rPr lang="nl-BE" sz="1300" b="1" i="1" dirty="0"/>
              <a:t>Look up </a:t>
            </a:r>
            <a:r>
              <a:rPr lang="nl-BE" sz="1300" dirty="0"/>
              <a:t>task  help find some value in </a:t>
            </a:r>
            <a:r>
              <a:rPr lang="nl-BE" sz="1300" b="1" i="1" dirty="0"/>
              <a:t>a reference table </a:t>
            </a:r>
            <a:r>
              <a:rPr lang="nl-BE" sz="1300" dirty="0"/>
              <a:t>correponding to a value to the main table , and copy this id to the main table (Scenario of fcat and dimension table load)</a:t>
            </a:r>
          </a:p>
          <a:p>
            <a:r>
              <a:rPr lang="nl-BE" sz="1300" b="1" i="1" dirty="0"/>
              <a:t>Aggregate transfomation task  </a:t>
            </a:r>
            <a:r>
              <a:rPr lang="nl-BE" sz="1300" dirty="0"/>
              <a:t>helps to aggregate your data coming from a files using aggregate function like sum ,min avg…and target an output destination</a:t>
            </a:r>
          </a:p>
          <a:p>
            <a:r>
              <a:rPr lang="en-US" sz="1300" b="1" i="1" dirty="0"/>
              <a:t>SCD 1,2 task  </a:t>
            </a:r>
          </a:p>
          <a:p>
            <a:pPr lvl="1"/>
            <a:r>
              <a:rPr lang="en-US" sz="1050" dirty="0"/>
              <a:t>This will insert a </a:t>
            </a:r>
            <a:r>
              <a:rPr lang="en-US" sz="1050" b="1" i="1" dirty="0"/>
              <a:t>new row</a:t>
            </a:r>
            <a:r>
              <a:rPr lang="en-US" sz="1050" dirty="0"/>
              <a:t>  in the target table </a:t>
            </a:r>
            <a:r>
              <a:rPr lang="en-US" sz="1050" b="1" i="1" dirty="0"/>
              <a:t>or update </a:t>
            </a:r>
            <a:r>
              <a:rPr lang="en-US" sz="1050" dirty="0"/>
              <a:t>a row in the target table if </a:t>
            </a:r>
            <a:r>
              <a:rPr lang="en-US" sz="1050" b="1" i="1" dirty="0"/>
              <a:t>a reference id or string not exists / exists  type1(overwriting)</a:t>
            </a:r>
          </a:p>
          <a:p>
            <a:pPr lvl="1"/>
            <a:r>
              <a:rPr lang="en-US" sz="1050" dirty="0"/>
              <a:t>When there are  some changes , an addition row will be added to table . The preview row will be flagged as old (no , date…) and the new one will be flagged as the current one.</a:t>
            </a:r>
          </a:p>
          <a:p>
            <a:r>
              <a:rPr lang="en-US" sz="1300" b="1" i="1" dirty="0" err="1"/>
              <a:t>Breackpoint</a:t>
            </a:r>
            <a:r>
              <a:rPr lang="en-US" sz="1300" b="1" i="1" dirty="0"/>
              <a:t> : </a:t>
            </a:r>
            <a:r>
              <a:rPr lang="en-US" sz="1300" b="1" i="1" dirty="0" err="1"/>
              <a:t>OnPre</a:t>
            </a:r>
            <a:r>
              <a:rPr lang="en-US" sz="1300" b="1" i="1" dirty="0"/>
              <a:t> / </a:t>
            </a:r>
            <a:r>
              <a:rPr lang="en-US" sz="1300" b="1" i="1" dirty="0" err="1"/>
              <a:t>OnPosExcution</a:t>
            </a:r>
            <a:r>
              <a:rPr lang="en-US" sz="1300" b="1" i="1" dirty="0"/>
              <a:t>  , </a:t>
            </a:r>
            <a:r>
              <a:rPr lang="en-US" sz="1300" dirty="0"/>
              <a:t>and see what ‘s happening before and after the execution of task , you can also see the variable value by searching </a:t>
            </a:r>
            <a:r>
              <a:rPr lang="en-US" sz="1300" b="1" i="1" dirty="0"/>
              <a:t>Debug/Windows/local </a:t>
            </a:r>
          </a:p>
          <a:p>
            <a:endParaRPr lang="en-US" sz="1300" b="1" i="1" dirty="0"/>
          </a:p>
          <a:p>
            <a:endParaRPr lang="en-US" sz="1300" b="1" i="1" dirty="0"/>
          </a:p>
          <a:p>
            <a:endParaRPr lang="en-US" sz="1300" b="1" i="1" dirty="0"/>
          </a:p>
        </p:txBody>
      </p:sp>
    </p:spTree>
    <p:extLst>
      <p:ext uri="{BB962C8B-B14F-4D97-AF65-F5344CB8AC3E}">
        <p14:creationId xmlns:p14="http://schemas.microsoft.com/office/powerpoint/2010/main" val="2623776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903BB-7EAB-1539-FDB6-56CAD063B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9697F-7529-821A-4EC4-0AF5B22C41E5}"/>
              </a:ext>
            </a:extLst>
          </p:cNvPr>
          <p:cNvSpPr>
            <a:spLocks noGrp="1"/>
          </p:cNvSpPr>
          <p:nvPr>
            <p:ph type="title"/>
          </p:nvPr>
        </p:nvSpPr>
        <p:spPr>
          <a:xfrm>
            <a:off x="838200" y="365125"/>
            <a:ext cx="10515600" cy="238379"/>
          </a:xfrm>
        </p:spPr>
        <p:txBody>
          <a:bodyPr>
            <a:normAutofit fontScale="90000"/>
          </a:bodyPr>
          <a:lstStyle/>
          <a:p>
            <a:pPr algn="ctr"/>
            <a:r>
              <a:rPr lang="nl-BE" b="1" i="1" dirty="0"/>
              <a:t>Ssis Parent and child package</a:t>
            </a:r>
            <a:endParaRPr lang="en-US" b="1" i="1" dirty="0"/>
          </a:p>
        </p:txBody>
      </p:sp>
      <p:sp>
        <p:nvSpPr>
          <p:cNvPr id="4" name="Content Placeholder 3">
            <a:extLst>
              <a:ext uri="{FF2B5EF4-FFF2-40B4-BE49-F238E27FC236}">
                <a16:creationId xmlns:a16="http://schemas.microsoft.com/office/drawing/2014/main" id="{83CA0986-57AE-5018-24AE-3EB3FE70E605}"/>
              </a:ext>
            </a:extLst>
          </p:cNvPr>
          <p:cNvSpPr>
            <a:spLocks noGrp="1"/>
          </p:cNvSpPr>
          <p:nvPr>
            <p:ph idx="1"/>
          </p:nvPr>
        </p:nvSpPr>
        <p:spPr>
          <a:xfrm>
            <a:off x="838200" y="987552"/>
            <a:ext cx="10515600" cy="5189411"/>
          </a:xfrm>
        </p:spPr>
        <p:txBody>
          <a:bodyPr>
            <a:normAutofit/>
          </a:bodyPr>
          <a:lstStyle/>
          <a:p>
            <a:pPr marL="0" indent="0">
              <a:buNone/>
            </a:pPr>
            <a:r>
              <a:rPr lang="nl-BE" sz="1300" dirty="0"/>
              <a:t>A </a:t>
            </a:r>
            <a:r>
              <a:rPr lang="nl-BE" sz="1300" b="1" i="1" dirty="0"/>
              <a:t>parent package </a:t>
            </a:r>
            <a:r>
              <a:rPr lang="nl-BE" sz="1300" dirty="0"/>
              <a:t>with some variable that will used by child pacjages  (ex. </a:t>
            </a:r>
            <a:r>
              <a:rPr lang="nl-BE" sz="1300" b="1" dirty="0">
                <a:solidFill>
                  <a:schemeClr val="accent1"/>
                </a:solidFill>
              </a:rPr>
              <a:t>Directory</a:t>
            </a:r>
            <a:r>
              <a:rPr lang="nl-BE" sz="1300" dirty="0"/>
              <a:t> =  files folder)</a:t>
            </a:r>
          </a:p>
          <a:p>
            <a:pPr marL="0" indent="0">
              <a:buNone/>
            </a:pPr>
            <a:r>
              <a:rPr lang="nl-BE" sz="1300" dirty="0"/>
              <a:t>3 child packages that should process data from a given file to a given table based of course on the file name, these packages haves the following variable created :</a:t>
            </a:r>
          </a:p>
          <a:p>
            <a:r>
              <a:rPr lang="nl-BE" sz="1300" b="1" i="1" dirty="0"/>
              <a:t>RunPackage</a:t>
            </a:r>
            <a:r>
              <a:rPr lang="nl-BE" sz="1300" dirty="0"/>
              <a:t> = true/ False</a:t>
            </a:r>
          </a:p>
          <a:p>
            <a:r>
              <a:rPr lang="nl-BE" sz="1300" dirty="0"/>
              <a:t>File path =</a:t>
            </a:r>
            <a:r>
              <a:rPr lang="nl-BE" sz="1300" b="1" dirty="0">
                <a:solidFill>
                  <a:schemeClr val="accent1"/>
                </a:solidFill>
              </a:rPr>
              <a:t> Directory / </a:t>
            </a:r>
            <a:r>
              <a:rPr lang="nl-BE" sz="1300" dirty="0"/>
              <a:t>filename </a:t>
            </a:r>
          </a:p>
          <a:p>
            <a:pPr lvl="1"/>
            <a:r>
              <a:rPr lang="nl-BE" sz="1050" dirty="0"/>
              <a:t>( dynamicaly getting directory path from parent package using Parent package configution to pass the value the the child package)</a:t>
            </a:r>
          </a:p>
          <a:p>
            <a:pPr lvl="1"/>
            <a:r>
              <a:rPr lang="nl-BE" sz="1050" dirty="0"/>
              <a:t>A script task from the parent package will check in the derectory to find the files </a:t>
            </a:r>
          </a:p>
          <a:p>
            <a:pPr marL="457200" lvl="1" indent="0">
              <a:buNone/>
            </a:pPr>
            <a:endParaRPr lang="nl-BE" sz="900" b="1" dirty="0">
              <a:solidFill>
                <a:schemeClr val="accent1"/>
              </a:solidFill>
            </a:endParaRPr>
          </a:p>
          <a:p>
            <a:pPr marL="0" indent="0">
              <a:buNone/>
            </a:pPr>
            <a:r>
              <a:rPr lang="nl-BE" sz="1300" dirty="0"/>
              <a:t>A Script </a:t>
            </a:r>
            <a:r>
              <a:rPr lang="nl-BE" sz="1400" dirty="0"/>
              <a:t>task from the parent package will check in the directory to find the files </a:t>
            </a:r>
          </a:p>
          <a:p>
            <a:r>
              <a:rPr lang="nl-BE" sz="1400" dirty="0"/>
              <a:t>If file exist the </a:t>
            </a:r>
            <a:r>
              <a:rPr lang="nl-BE" sz="1400" b="1" i="1" dirty="0">
                <a:solidFill>
                  <a:schemeClr val="accent1"/>
                </a:solidFill>
              </a:rPr>
              <a:t>RunPackage</a:t>
            </a:r>
            <a:r>
              <a:rPr lang="nl-BE" sz="1400" dirty="0"/>
              <a:t> will be populated with </a:t>
            </a:r>
            <a:r>
              <a:rPr lang="nl-BE" sz="1400" b="1" i="1" dirty="0">
                <a:solidFill>
                  <a:schemeClr val="accent1"/>
                </a:solidFill>
              </a:rPr>
              <a:t>true </a:t>
            </a:r>
            <a:r>
              <a:rPr lang="nl-BE" sz="1400" dirty="0"/>
              <a:t>witch means this package can run, If the fille not found then </a:t>
            </a:r>
            <a:r>
              <a:rPr lang="nl-BE" sz="1400" b="1" i="1" dirty="0">
                <a:solidFill>
                  <a:schemeClr val="accent1"/>
                </a:solidFill>
              </a:rPr>
              <a:t>RunPackage = false </a:t>
            </a:r>
            <a:r>
              <a:rPr lang="nl-BE" sz="1400" dirty="0"/>
              <a:t>(so the package will not run)</a:t>
            </a:r>
          </a:p>
          <a:p>
            <a:pPr marL="0" indent="0">
              <a:buNone/>
            </a:pPr>
            <a:r>
              <a:rPr lang="nl-BE" sz="1300" dirty="0"/>
              <a:t> </a:t>
            </a:r>
          </a:p>
          <a:p>
            <a:pPr marL="0" indent="0">
              <a:buNone/>
            </a:pPr>
            <a:r>
              <a:rPr lang="en-US" sz="1300" dirty="0">
                <a:hlinkClick r:id="rId2"/>
              </a:rPr>
              <a:t>https://www.youtube.com/watch?v=v-wOBFEAerU</a:t>
            </a:r>
            <a:r>
              <a:rPr lang="en-US" sz="1300" dirty="0"/>
              <a:t> </a:t>
            </a:r>
          </a:p>
        </p:txBody>
      </p:sp>
    </p:spTree>
    <p:extLst>
      <p:ext uri="{BB962C8B-B14F-4D97-AF65-F5344CB8AC3E}">
        <p14:creationId xmlns:p14="http://schemas.microsoft.com/office/powerpoint/2010/main" val="3529282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0E9C0-2F5A-C3AB-6132-3AD5B7FBC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3CAB0-05B3-D7C8-2B78-A88E4671920A}"/>
              </a:ext>
            </a:extLst>
          </p:cNvPr>
          <p:cNvSpPr>
            <a:spLocks noGrp="1"/>
          </p:cNvSpPr>
          <p:nvPr>
            <p:ph type="title"/>
          </p:nvPr>
        </p:nvSpPr>
        <p:spPr>
          <a:xfrm>
            <a:off x="838200" y="365125"/>
            <a:ext cx="10515600" cy="238379"/>
          </a:xfrm>
        </p:spPr>
        <p:txBody>
          <a:bodyPr>
            <a:normAutofit fontScale="90000"/>
          </a:bodyPr>
          <a:lstStyle/>
          <a:p>
            <a:pPr algn="ctr"/>
            <a:r>
              <a:rPr lang="nl-BE" b="1" i="1" dirty="0"/>
              <a:t>Ssis parameters vs variable vs expression</a:t>
            </a:r>
            <a:endParaRPr lang="en-US" b="1" i="1" dirty="0"/>
          </a:p>
        </p:txBody>
      </p:sp>
      <p:sp>
        <p:nvSpPr>
          <p:cNvPr id="4" name="Content Placeholder 3">
            <a:extLst>
              <a:ext uri="{FF2B5EF4-FFF2-40B4-BE49-F238E27FC236}">
                <a16:creationId xmlns:a16="http://schemas.microsoft.com/office/drawing/2014/main" id="{283F6E93-4D34-F4B0-931B-46571A9E8384}"/>
              </a:ext>
            </a:extLst>
          </p:cNvPr>
          <p:cNvSpPr>
            <a:spLocks noGrp="1"/>
          </p:cNvSpPr>
          <p:nvPr>
            <p:ph idx="1"/>
          </p:nvPr>
        </p:nvSpPr>
        <p:spPr>
          <a:xfrm>
            <a:off x="838200" y="987552"/>
            <a:ext cx="10515600" cy="5505323"/>
          </a:xfrm>
        </p:spPr>
        <p:txBody>
          <a:bodyPr>
            <a:normAutofit/>
          </a:bodyPr>
          <a:lstStyle/>
          <a:p>
            <a:pPr marL="0" indent="0">
              <a:buNone/>
            </a:pPr>
            <a:r>
              <a:rPr lang="nl-BE" sz="1300" b="1" i="1" dirty="0"/>
              <a:t>P</a:t>
            </a:r>
            <a:r>
              <a:rPr lang="en-US" sz="1300" b="1" i="1" dirty="0" err="1"/>
              <a:t>ackages</a:t>
            </a:r>
            <a:r>
              <a:rPr lang="en-US" sz="1300" b="1" i="1" dirty="0"/>
              <a:t> </a:t>
            </a:r>
            <a:r>
              <a:rPr lang="en-US" sz="1300" dirty="0"/>
              <a:t>got created using some </a:t>
            </a:r>
            <a:r>
              <a:rPr lang="en-US" sz="1300" b="1" dirty="0"/>
              <a:t>variable</a:t>
            </a:r>
            <a:r>
              <a:rPr lang="en-US" sz="1300" dirty="0"/>
              <a:t> (for Source , destination ) , when it’s time to deploy those packages will get Parameters values of the project level using </a:t>
            </a:r>
            <a:r>
              <a:rPr lang="en-US" sz="1300" b="1" i="1" dirty="0"/>
              <a:t>expression</a:t>
            </a:r>
            <a:r>
              <a:rPr lang="en-US" sz="1300" dirty="0"/>
              <a:t> , so that at the run time the correct directory and database will be used.</a:t>
            </a:r>
          </a:p>
          <a:p>
            <a:pPr marL="0" indent="0">
              <a:buNone/>
            </a:pPr>
            <a:r>
              <a:rPr lang="en-US" sz="1300" dirty="0">
                <a:hlinkClick r:id="rId2"/>
              </a:rPr>
              <a:t>https://www.youtube.com/watch?v=uDEXDDGr_Bs</a:t>
            </a:r>
            <a:r>
              <a:rPr lang="en-US" sz="1300" dirty="0"/>
              <a:t> </a:t>
            </a:r>
          </a:p>
          <a:p>
            <a:pPr marL="0" indent="0">
              <a:buNone/>
            </a:pPr>
            <a:r>
              <a:rPr lang="en-US" sz="1300" dirty="0"/>
              <a:t>Par1 = </a:t>
            </a:r>
            <a:r>
              <a:rPr lang="en-US" sz="1300" dirty="0" err="1"/>
              <a:t>ditectory</a:t>
            </a:r>
            <a:r>
              <a:rPr lang="en-US" sz="1300" dirty="0"/>
              <a:t> </a:t>
            </a:r>
          </a:p>
          <a:p>
            <a:pPr marL="0" indent="0">
              <a:buNone/>
            </a:pPr>
            <a:r>
              <a:rPr lang="en-US" sz="1300" dirty="0"/>
              <a:t>Par2 =</a:t>
            </a:r>
            <a:r>
              <a:rPr lang="en-US" sz="1300" dirty="0" err="1"/>
              <a:t>fileName</a:t>
            </a:r>
            <a:endParaRPr lang="en-US" sz="1300" dirty="0"/>
          </a:p>
          <a:p>
            <a:pPr marL="0" indent="0">
              <a:buNone/>
            </a:pPr>
            <a:r>
              <a:rPr lang="en-US" sz="1300" dirty="0"/>
              <a:t>Par3 = </a:t>
            </a:r>
            <a:r>
              <a:rPr lang="en-US" sz="1300" dirty="0" err="1"/>
              <a:t>ServerName</a:t>
            </a:r>
            <a:r>
              <a:rPr lang="en-US" sz="1300" dirty="0"/>
              <a:t> </a:t>
            </a:r>
          </a:p>
          <a:p>
            <a:pPr marL="0" indent="0">
              <a:buNone/>
            </a:pPr>
            <a:r>
              <a:rPr lang="en-US" sz="1300" dirty="0"/>
              <a:t>Par4 = </a:t>
            </a:r>
            <a:r>
              <a:rPr lang="en-US" sz="1300" dirty="0" err="1"/>
              <a:t>DatabaseName</a:t>
            </a:r>
            <a:r>
              <a:rPr lang="en-US" sz="1300" dirty="0"/>
              <a:t> </a:t>
            </a:r>
          </a:p>
          <a:p>
            <a:pPr marL="0" indent="0">
              <a:buNone/>
            </a:pPr>
            <a:r>
              <a:rPr lang="en-US" sz="1300" dirty="0"/>
              <a:t>Par5 = </a:t>
            </a:r>
            <a:r>
              <a:rPr lang="en-US" sz="1300" dirty="0" err="1"/>
              <a:t>TableName</a:t>
            </a:r>
            <a:endParaRPr lang="en-US" sz="1300" dirty="0"/>
          </a:p>
          <a:p>
            <a:pPr marL="0" indent="0">
              <a:buNone/>
            </a:pPr>
            <a:endParaRPr lang="en-US" sz="1300" dirty="0"/>
          </a:p>
          <a:p>
            <a:pPr marL="0" indent="0">
              <a:buNone/>
            </a:pPr>
            <a:r>
              <a:rPr lang="en-US" sz="1300" dirty="0"/>
              <a:t>Expression </a:t>
            </a:r>
          </a:p>
          <a:p>
            <a:pPr marL="0" indent="0">
              <a:buNone/>
            </a:pPr>
            <a:r>
              <a:rPr lang="en-US" sz="1300" b="1" i="1" dirty="0"/>
              <a:t>Expr1: Var1_FilePath </a:t>
            </a:r>
            <a:r>
              <a:rPr lang="en-US" sz="1300" dirty="0"/>
              <a:t>= Par1 + Par2</a:t>
            </a:r>
          </a:p>
          <a:p>
            <a:pPr marL="0" indent="0">
              <a:buNone/>
            </a:pPr>
            <a:r>
              <a:rPr lang="en-US" sz="1300" b="1" i="1" dirty="0"/>
              <a:t>Expr2: Var2_2SqlServer</a:t>
            </a:r>
            <a:r>
              <a:rPr lang="en-US" sz="1300" dirty="0"/>
              <a:t> = Par3 \ Par4  \ Par5</a:t>
            </a:r>
          </a:p>
          <a:p>
            <a:pPr marL="0" indent="0">
              <a:buNone/>
            </a:pPr>
            <a:endParaRPr lang="nl-BE" sz="1300" dirty="0"/>
          </a:p>
          <a:p>
            <a:pPr marL="0" indent="0">
              <a:buNone/>
            </a:pPr>
            <a:r>
              <a:rPr lang="nl-BE" sz="1300" dirty="0"/>
              <a:t>Note : variable value can come also from Scrip task </a:t>
            </a:r>
          </a:p>
        </p:txBody>
      </p:sp>
    </p:spTree>
    <p:extLst>
      <p:ext uri="{BB962C8B-B14F-4D97-AF65-F5344CB8AC3E}">
        <p14:creationId xmlns:p14="http://schemas.microsoft.com/office/powerpoint/2010/main" val="3528749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33B45-E39C-304F-B2F7-49DFB4985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8A801F-414F-8B4F-34FC-B9C3A8B3A22D}"/>
              </a:ext>
            </a:extLst>
          </p:cNvPr>
          <p:cNvSpPr>
            <a:spLocks noGrp="1"/>
          </p:cNvSpPr>
          <p:nvPr>
            <p:ph type="title"/>
          </p:nvPr>
        </p:nvSpPr>
        <p:spPr>
          <a:xfrm>
            <a:off x="838200" y="365125"/>
            <a:ext cx="10515600" cy="238379"/>
          </a:xfrm>
        </p:spPr>
        <p:txBody>
          <a:bodyPr>
            <a:normAutofit fontScale="90000"/>
          </a:bodyPr>
          <a:lstStyle/>
          <a:p>
            <a:pPr algn="ctr"/>
            <a:r>
              <a:rPr lang="nl-BE" b="1" i="1" dirty="0"/>
              <a:t>Ssis Error handling</a:t>
            </a:r>
            <a:endParaRPr lang="en-US" b="1" i="1" dirty="0"/>
          </a:p>
        </p:txBody>
      </p:sp>
      <p:sp>
        <p:nvSpPr>
          <p:cNvPr id="4" name="Content Placeholder 3">
            <a:extLst>
              <a:ext uri="{FF2B5EF4-FFF2-40B4-BE49-F238E27FC236}">
                <a16:creationId xmlns:a16="http://schemas.microsoft.com/office/drawing/2014/main" id="{26006911-9C25-ED7B-291B-20EABDE2BA09}"/>
              </a:ext>
            </a:extLst>
          </p:cNvPr>
          <p:cNvSpPr>
            <a:spLocks noGrp="1"/>
          </p:cNvSpPr>
          <p:nvPr>
            <p:ph idx="1"/>
          </p:nvPr>
        </p:nvSpPr>
        <p:spPr>
          <a:xfrm>
            <a:off x="838200" y="987552"/>
            <a:ext cx="10515600" cy="5189411"/>
          </a:xfrm>
        </p:spPr>
        <p:txBody>
          <a:bodyPr>
            <a:normAutofit/>
          </a:bodyPr>
          <a:lstStyle/>
          <a:p>
            <a:pPr marL="0" indent="0">
              <a:buNone/>
            </a:pPr>
            <a:r>
              <a:rPr lang="nl-BE" sz="1300" dirty="0"/>
              <a:t>In SSIS you can use  error handling set up from </a:t>
            </a:r>
            <a:r>
              <a:rPr lang="nl-BE" sz="1300" b="1" i="1" dirty="0"/>
              <a:t>data flow </a:t>
            </a:r>
            <a:r>
              <a:rPr lang="nl-BE" sz="1300" dirty="0"/>
              <a:t>or from the </a:t>
            </a:r>
            <a:r>
              <a:rPr lang="nl-BE" sz="1300" b="1" i="1" dirty="0"/>
              <a:t>controle flow </a:t>
            </a:r>
          </a:p>
          <a:p>
            <a:r>
              <a:rPr lang="nl-BE" sz="1300" b="1" i="1" dirty="0"/>
              <a:t>In data flow </a:t>
            </a:r>
            <a:r>
              <a:rPr lang="nl-BE" sz="1300" dirty="0"/>
              <a:t>, you can enable the </a:t>
            </a:r>
            <a:r>
              <a:rPr lang="nl-BE" sz="1300" b="1" dirty="0"/>
              <a:t>error output </a:t>
            </a:r>
            <a:r>
              <a:rPr lang="nl-BE" sz="1300" dirty="0"/>
              <a:t>to move (redect the bad record to a </a:t>
            </a:r>
            <a:r>
              <a:rPr lang="nl-BE" sz="1300" b="1" i="1" dirty="0"/>
              <a:t>log table </a:t>
            </a:r>
            <a:r>
              <a:rPr lang="nl-BE" sz="1300" dirty="0"/>
              <a:t>or </a:t>
            </a:r>
            <a:r>
              <a:rPr lang="nl-BE" sz="1300" b="1" i="1" dirty="0"/>
              <a:t>file</a:t>
            </a:r>
            <a:r>
              <a:rPr lang="nl-BE" sz="1300" dirty="0"/>
              <a:t> for feather analysis , you can use the data viewer to view the record if needed. </a:t>
            </a:r>
          </a:p>
          <a:p>
            <a:endParaRPr lang="nl-BE" sz="1300" dirty="0"/>
          </a:p>
          <a:p>
            <a:r>
              <a:rPr lang="en-US" sz="1300" b="1" i="1" dirty="0"/>
              <a:t>In control flow </a:t>
            </a:r>
            <a:r>
              <a:rPr lang="en-US" sz="1300" dirty="0"/>
              <a:t>, you can enable the Event handler to track error during the execution of packages . You can create a small tasks (</a:t>
            </a:r>
            <a:r>
              <a:rPr lang="en-US" sz="1300" b="1" i="1" dirty="0" err="1"/>
              <a:t>sql</a:t>
            </a:r>
            <a:r>
              <a:rPr lang="en-US" sz="1300" dirty="0"/>
              <a:t> and </a:t>
            </a:r>
            <a:r>
              <a:rPr lang="en-US" sz="1300" b="1" i="1" dirty="0"/>
              <a:t>send email </a:t>
            </a:r>
            <a:r>
              <a:rPr lang="en-US" sz="1300" dirty="0"/>
              <a:t>)in the event handler section , that will use the system variable at run time like </a:t>
            </a:r>
            <a:r>
              <a:rPr lang="en-US" sz="1300" dirty="0" err="1"/>
              <a:t>errormessage</a:t>
            </a:r>
            <a:r>
              <a:rPr lang="en-US" sz="1300" dirty="0"/>
              <a:t> , </a:t>
            </a:r>
            <a:r>
              <a:rPr lang="en-US" sz="1300" dirty="0" err="1"/>
              <a:t>packagName</a:t>
            </a:r>
            <a:r>
              <a:rPr lang="en-US" sz="1300" dirty="0"/>
              <a:t>, </a:t>
            </a:r>
            <a:r>
              <a:rPr lang="en-US" sz="1300" dirty="0" err="1"/>
              <a:t>sourceName</a:t>
            </a:r>
            <a:r>
              <a:rPr lang="en-US" sz="1300" dirty="0"/>
              <a:t>, start and end time. to write some data in a dedicated </a:t>
            </a:r>
            <a:r>
              <a:rPr lang="en-US" sz="1300" b="1" i="1" dirty="0"/>
              <a:t>log table </a:t>
            </a:r>
            <a:r>
              <a:rPr lang="en-US" sz="1300" dirty="0"/>
              <a:t>and</a:t>
            </a:r>
            <a:r>
              <a:rPr lang="en-US" sz="1300" b="1" i="1" dirty="0"/>
              <a:t>  send an automatic </a:t>
            </a:r>
            <a:r>
              <a:rPr lang="en-US" sz="1300" i="1" dirty="0"/>
              <a:t>mail to you (dedicated mail box)</a:t>
            </a:r>
          </a:p>
        </p:txBody>
      </p:sp>
    </p:spTree>
    <p:extLst>
      <p:ext uri="{BB962C8B-B14F-4D97-AF65-F5344CB8AC3E}">
        <p14:creationId xmlns:p14="http://schemas.microsoft.com/office/powerpoint/2010/main" val="364034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F862A-E123-DCB0-70A0-26FE1E135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B674A-1494-FA2B-E774-C7E6472E0986}"/>
              </a:ext>
            </a:extLst>
          </p:cNvPr>
          <p:cNvSpPr>
            <a:spLocks noGrp="1"/>
          </p:cNvSpPr>
          <p:nvPr>
            <p:ph type="title"/>
          </p:nvPr>
        </p:nvSpPr>
        <p:spPr>
          <a:xfrm>
            <a:off x="838200" y="365125"/>
            <a:ext cx="10515600" cy="238379"/>
          </a:xfrm>
        </p:spPr>
        <p:txBody>
          <a:bodyPr>
            <a:normAutofit fontScale="90000"/>
          </a:bodyPr>
          <a:lstStyle/>
          <a:p>
            <a:pPr algn="ctr"/>
            <a:r>
              <a:rPr lang="nl-BE" b="1" i="1" dirty="0"/>
              <a:t>Ssis deployment</a:t>
            </a:r>
            <a:endParaRPr lang="en-US" b="1" i="1" dirty="0"/>
          </a:p>
        </p:txBody>
      </p:sp>
      <p:sp>
        <p:nvSpPr>
          <p:cNvPr id="4" name="Content Placeholder 3">
            <a:extLst>
              <a:ext uri="{FF2B5EF4-FFF2-40B4-BE49-F238E27FC236}">
                <a16:creationId xmlns:a16="http://schemas.microsoft.com/office/drawing/2014/main" id="{ADA12BA0-5B34-7F12-836F-06C0FEE3A93F}"/>
              </a:ext>
            </a:extLst>
          </p:cNvPr>
          <p:cNvSpPr>
            <a:spLocks noGrp="1"/>
          </p:cNvSpPr>
          <p:nvPr>
            <p:ph idx="1"/>
          </p:nvPr>
        </p:nvSpPr>
        <p:spPr>
          <a:xfrm>
            <a:off x="838200" y="987552"/>
            <a:ext cx="10515600" cy="5189411"/>
          </a:xfrm>
        </p:spPr>
        <p:txBody>
          <a:bodyPr>
            <a:normAutofit/>
          </a:bodyPr>
          <a:lstStyle/>
          <a:p>
            <a:pPr marL="0" indent="0">
              <a:buNone/>
            </a:pPr>
            <a:r>
              <a:rPr lang="nl-BE" sz="1300" i="1" dirty="0"/>
              <a:t>When the packages have been developed test and validate , is now time to deploy its on a dedicate server for processing. </a:t>
            </a:r>
          </a:p>
          <a:p>
            <a:r>
              <a:rPr lang="nl-BE" sz="1300" i="1" dirty="0"/>
              <a:t>Make sure the intergrated </a:t>
            </a:r>
            <a:r>
              <a:rPr lang="nl-BE" sz="1300" b="1" i="1" dirty="0"/>
              <a:t>SSIS catalog </a:t>
            </a:r>
            <a:r>
              <a:rPr lang="nl-BE" sz="1300" i="1" dirty="0"/>
              <a:t>is enable on the target server. </a:t>
            </a:r>
          </a:p>
          <a:p>
            <a:r>
              <a:rPr lang="nl-BE" sz="1300" i="1" dirty="0"/>
              <a:t>Make sure </a:t>
            </a:r>
            <a:r>
              <a:rPr lang="nl-BE" sz="1300" b="1" i="1" dirty="0"/>
              <a:t>SSISDB</a:t>
            </a:r>
            <a:r>
              <a:rPr lang="nl-BE" sz="1300" i="1" dirty="0"/>
              <a:t> has been create to store all this packages </a:t>
            </a:r>
          </a:p>
          <a:p>
            <a:r>
              <a:rPr lang="en-US" sz="1300" i="1" dirty="0"/>
              <a:t>Inside the SSISDB , create a dedicated folder for your packages</a:t>
            </a:r>
          </a:p>
          <a:p>
            <a:r>
              <a:rPr lang="en-US" sz="1300" i="1" dirty="0"/>
              <a:t>From you SSIS DT project , start the deployment wizard </a:t>
            </a:r>
          </a:p>
          <a:p>
            <a:r>
              <a:rPr lang="en-US" sz="1300" i="1" dirty="0"/>
              <a:t>Find / connect to the </a:t>
            </a:r>
            <a:r>
              <a:rPr lang="en-US" sz="1300" i="1" dirty="0" err="1"/>
              <a:t>tqrget</a:t>
            </a:r>
            <a:r>
              <a:rPr lang="en-US" sz="1300" i="1" dirty="0"/>
              <a:t> server where SSISDB has been created (DSV, TEST, ACC, PROD)</a:t>
            </a:r>
          </a:p>
          <a:p>
            <a:r>
              <a:rPr lang="en-US" sz="1300" i="1" dirty="0"/>
              <a:t>Browser to the SSISDB/your folder </a:t>
            </a:r>
            <a:r>
              <a:rPr lang="en-US" sz="1300" b="1" i="1" dirty="0"/>
              <a:t>and deploy your packages </a:t>
            </a:r>
          </a:p>
          <a:p>
            <a:r>
              <a:rPr lang="en-US" sz="1300" i="1" dirty="0"/>
              <a:t>Go to the server , drilldown to your package </a:t>
            </a:r>
          </a:p>
          <a:p>
            <a:r>
              <a:rPr lang="en-US" sz="1300" i="1" dirty="0"/>
              <a:t>Create a Job for your packages </a:t>
            </a:r>
          </a:p>
          <a:p>
            <a:r>
              <a:rPr lang="en-US" sz="1300" i="1" dirty="0"/>
              <a:t>Schedule runs for the package </a:t>
            </a:r>
          </a:p>
          <a:p>
            <a:r>
              <a:rPr lang="en-US" sz="1300" i="1" dirty="0"/>
              <a:t>Let the package run </a:t>
            </a:r>
          </a:p>
          <a:p>
            <a:r>
              <a:rPr lang="en-US" sz="1300" i="1" dirty="0"/>
              <a:t>And see the package </a:t>
            </a:r>
            <a:r>
              <a:rPr lang="en-US" sz="1300" i="1" dirty="0" err="1"/>
              <a:t>exceutions</a:t>
            </a:r>
            <a:r>
              <a:rPr lang="en-US" sz="1300" i="1" dirty="0"/>
              <a:t> </a:t>
            </a:r>
          </a:p>
        </p:txBody>
      </p:sp>
    </p:spTree>
    <p:extLst>
      <p:ext uri="{BB962C8B-B14F-4D97-AF65-F5344CB8AC3E}">
        <p14:creationId xmlns:p14="http://schemas.microsoft.com/office/powerpoint/2010/main" val="2329264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F7E5E-4602-75DC-709D-45A89552B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FD1E4-D038-CA00-91B6-F2BAA643894A}"/>
              </a:ext>
            </a:extLst>
          </p:cNvPr>
          <p:cNvSpPr>
            <a:spLocks noGrp="1"/>
          </p:cNvSpPr>
          <p:nvPr>
            <p:ph type="title"/>
          </p:nvPr>
        </p:nvSpPr>
        <p:spPr>
          <a:xfrm>
            <a:off x="838200" y="176981"/>
            <a:ext cx="10515600" cy="426523"/>
          </a:xfrm>
        </p:spPr>
        <p:txBody>
          <a:bodyPr>
            <a:normAutofit fontScale="90000"/>
          </a:bodyPr>
          <a:lstStyle/>
          <a:p>
            <a:pPr algn="ctr"/>
            <a:r>
              <a:rPr lang="nl-BE" b="1" i="1" dirty="0"/>
              <a:t>SSAS project setup</a:t>
            </a:r>
            <a:endParaRPr lang="en-US" b="1" i="1" dirty="0"/>
          </a:p>
        </p:txBody>
      </p:sp>
      <p:sp>
        <p:nvSpPr>
          <p:cNvPr id="4" name="Content Placeholder 3">
            <a:extLst>
              <a:ext uri="{FF2B5EF4-FFF2-40B4-BE49-F238E27FC236}">
                <a16:creationId xmlns:a16="http://schemas.microsoft.com/office/drawing/2014/main" id="{CD1A9A76-335D-A6BB-72A0-11FE37DE40EA}"/>
              </a:ext>
            </a:extLst>
          </p:cNvPr>
          <p:cNvSpPr>
            <a:spLocks noGrp="1"/>
          </p:cNvSpPr>
          <p:nvPr>
            <p:ph idx="1"/>
          </p:nvPr>
        </p:nvSpPr>
        <p:spPr>
          <a:xfrm>
            <a:off x="467032" y="603504"/>
            <a:ext cx="11257935" cy="6120580"/>
          </a:xfrm>
        </p:spPr>
        <p:txBody>
          <a:bodyPr>
            <a:normAutofit/>
          </a:bodyPr>
          <a:lstStyle/>
          <a:p>
            <a:pPr marL="0" indent="0">
              <a:buNone/>
            </a:pPr>
            <a:r>
              <a:rPr lang="nl-BE" sz="1300" i="1" dirty="0"/>
              <a:t>On premise tabular Cube </a:t>
            </a:r>
          </a:p>
          <a:p>
            <a:pPr marL="342900" indent="-342900">
              <a:buAutoNum type="arabicPeriod"/>
            </a:pPr>
            <a:r>
              <a:rPr lang="nl-BE" sz="1300" i="1" dirty="0"/>
              <a:t>First identify the table that will be use as DataSource and create views on top of those.</a:t>
            </a:r>
          </a:p>
          <a:p>
            <a:pPr marL="342900" indent="-342900">
              <a:buAutoNum type="arabicPeriod"/>
            </a:pPr>
            <a:r>
              <a:rPr lang="nl-BE" sz="1300" i="1" dirty="0"/>
              <a:t>Create a new  ssas project , conncet to the source server , import the newlly cerated views </a:t>
            </a:r>
          </a:p>
          <a:p>
            <a:pPr marL="342900" indent="-342900">
              <a:buAutoNum type="arabicPeriod"/>
            </a:pPr>
            <a:r>
              <a:rPr lang="nl-BE" sz="1300" i="1" dirty="0"/>
              <a:t>Create relationship between views ,hierarchy (</a:t>
            </a:r>
            <a:r>
              <a:rPr lang="nl-BE" sz="1050" i="1" dirty="0">
                <a:hlinkClick r:id="rId2"/>
              </a:rPr>
              <a:t>https://www.youtube.com/watch?v=wXLXUDU4IQc</a:t>
            </a:r>
            <a:r>
              <a:rPr lang="nl-BE" sz="1050" i="1" dirty="0"/>
              <a:t> </a:t>
            </a:r>
            <a:r>
              <a:rPr lang="nl-BE" sz="1300" i="1" dirty="0"/>
              <a:t>), create some measure , calculated colulns (based on business needes)</a:t>
            </a:r>
          </a:p>
          <a:p>
            <a:pPr marL="342900" indent="-342900">
              <a:buAutoNum type="arabicPeriod"/>
            </a:pPr>
            <a:r>
              <a:rPr lang="nl-BE" sz="1300" i="1" dirty="0"/>
              <a:t>Define some role (RLS, ols)</a:t>
            </a:r>
          </a:p>
          <a:p>
            <a:pPr marL="342900" indent="-342900">
              <a:buAutoNum type="arabicPeriod"/>
            </a:pPr>
            <a:r>
              <a:rPr lang="nl-BE" sz="1300" i="1" dirty="0"/>
              <a:t>When done the solution can be deployed to the dedicated  analysis server</a:t>
            </a:r>
          </a:p>
          <a:p>
            <a:pPr marL="0" indent="0">
              <a:buNone/>
            </a:pPr>
            <a:r>
              <a:rPr lang="en-US" sz="1300" i="1" dirty="0">
                <a:hlinkClick r:id="rId3"/>
              </a:rPr>
              <a:t>https://www.youtube.com/watch?v=ccvgw_gEiQY&amp;list=PLy4OcwImJzBLV-PKazKbw82ShgtcWy5E3&amp;index=1</a:t>
            </a:r>
            <a:r>
              <a:rPr lang="en-US" sz="1300" i="1" dirty="0"/>
              <a:t> </a:t>
            </a:r>
          </a:p>
          <a:p>
            <a:pPr marL="0" indent="0">
              <a:buNone/>
            </a:pPr>
            <a:r>
              <a:rPr lang="en-US" sz="1300" i="1" dirty="0"/>
              <a:t>Azure analysis service (AAS) </a:t>
            </a:r>
          </a:p>
          <a:p>
            <a:pPr marL="0" indent="0">
              <a:buNone/>
            </a:pPr>
            <a:r>
              <a:rPr lang="en-US" sz="1300" b="1" dirty="0"/>
              <a:t>Create a tabular in Vs (tabular Analysis services)  , this will create a </a:t>
            </a:r>
            <a:r>
              <a:rPr lang="en-US" sz="1300" b="1" dirty="0" err="1"/>
              <a:t>model.bim</a:t>
            </a:r>
            <a:r>
              <a:rPr lang="en-US" sz="1300" b="1" dirty="0"/>
              <a:t> witch includes : </a:t>
            </a:r>
          </a:p>
          <a:p>
            <a:r>
              <a:rPr lang="en-US" sz="1300" dirty="0"/>
              <a:t>Connection to Data source (mostly azure </a:t>
            </a:r>
            <a:r>
              <a:rPr lang="en-US" sz="1300" dirty="0" err="1"/>
              <a:t>sql</a:t>
            </a:r>
            <a:r>
              <a:rPr lang="en-US" sz="1300" dirty="0"/>
              <a:t> , storage account…)</a:t>
            </a:r>
          </a:p>
          <a:p>
            <a:r>
              <a:rPr lang="en-US" sz="1300" dirty="0"/>
              <a:t>Measures ; </a:t>
            </a:r>
            <a:r>
              <a:rPr lang="en-US" sz="1300" dirty="0" err="1"/>
              <a:t>KPIs;perpectives;Relationships;Roles</a:t>
            </a:r>
            <a:r>
              <a:rPr lang="en-US" sz="1300" dirty="0"/>
              <a:t> (RLS, OLS..), tables </a:t>
            </a:r>
          </a:p>
          <a:p>
            <a:pPr marL="0" indent="0">
              <a:buNone/>
            </a:pPr>
            <a:r>
              <a:rPr lang="en-US" sz="1300" b="1" i="1" dirty="0"/>
              <a:t>Deploy  and process the model </a:t>
            </a:r>
          </a:p>
          <a:p>
            <a:pPr marL="0" indent="0">
              <a:buNone/>
            </a:pPr>
            <a:r>
              <a:rPr lang="en-US" sz="1300" dirty="0"/>
              <a:t>When model created , it can be deployed to the AAS server </a:t>
            </a:r>
          </a:p>
          <a:p>
            <a:pPr marL="0" indent="0">
              <a:buNone/>
            </a:pPr>
            <a:r>
              <a:rPr lang="en-US" sz="1300" dirty="0"/>
              <a:t>Use a Data factory/Fabric pipeline to process the data in the cube </a:t>
            </a:r>
          </a:p>
          <a:p>
            <a:pPr marL="0" indent="0">
              <a:buNone/>
            </a:pPr>
            <a:r>
              <a:rPr lang="en-US" sz="1300" i="1" dirty="0">
                <a:hlinkClick r:id="rId4"/>
              </a:rPr>
              <a:t>https://www.youtube.com/watch?v=8LSqp5frjXI</a:t>
            </a:r>
            <a:r>
              <a:rPr lang="en-US" sz="1300" i="1" dirty="0"/>
              <a:t>  and </a:t>
            </a:r>
            <a:r>
              <a:rPr lang="en-US" sz="1300" i="1" dirty="0">
                <a:hlinkClick r:id="rId5"/>
              </a:rPr>
              <a:t>https://www.youtube.com/watch?v=4Fv6cHdL8S0</a:t>
            </a:r>
            <a:r>
              <a:rPr lang="en-US" sz="1300" i="1" dirty="0"/>
              <a:t> </a:t>
            </a:r>
          </a:p>
          <a:p>
            <a:pPr marL="0" indent="0">
              <a:buNone/>
            </a:pPr>
            <a:r>
              <a:rPr lang="en-US" sz="1300" i="1" dirty="0"/>
              <a:t>Afterward third part tool can be use to </a:t>
            </a:r>
            <a:r>
              <a:rPr lang="en-US" sz="1300" i="1" dirty="0" err="1"/>
              <a:t>facilite</a:t>
            </a:r>
            <a:r>
              <a:rPr lang="en-US" sz="1300" i="1" dirty="0"/>
              <a:t> the </a:t>
            </a:r>
            <a:r>
              <a:rPr lang="en-US" sz="1300" i="1" dirty="0" err="1"/>
              <a:t>manament</a:t>
            </a:r>
            <a:r>
              <a:rPr lang="en-US" sz="1300" i="1" dirty="0"/>
              <a:t> of the </a:t>
            </a:r>
            <a:r>
              <a:rPr lang="en-US" sz="1300" i="1" dirty="0" err="1"/>
              <a:t>dara</a:t>
            </a:r>
            <a:r>
              <a:rPr lang="en-US" sz="1300" i="1" dirty="0"/>
              <a:t> like :</a:t>
            </a:r>
          </a:p>
          <a:p>
            <a:pPr marL="0" indent="0">
              <a:buNone/>
            </a:pPr>
            <a:r>
              <a:rPr lang="en-US" sz="1300" i="1" dirty="0"/>
              <a:t>Tabular editor v2 (free)</a:t>
            </a:r>
          </a:p>
          <a:p>
            <a:pPr marL="0" indent="0">
              <a:buNone/>
            </a:pPr>
            <a:r>
              <a:rPr lang="en-US" sz="1300" i="1" dirty="0"/>
              <a:t>Dax studio </a:t>
            </a:r>
          </a:p>
        </p:txBody>
      </p:sp>
    </p:spTree>
    <p:extLst>
      <p:ext uri="{BB962C8B-B14F-4D97-AF65-F5344CB8AC3E}">
        <p14:creationId xmlns:p14="http://schemas.microsoft.com/office/powerpoint/2010/main" val="4017340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E0014-5C95-6FF9-1845-27FAC44E9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72CE6B-FDFD-E063-45D1-587A3B173C5A}"/>
              </a:ext>
            </a:extLst>
          </p:cNvPr>
          <p:cNvSpPr>
            <a:spLocks noGrp="1"/>
          </p:cNvSpPr>
          <p:nvPr>
            <p:ph type="title"/>
          </p:nvPr>
        </p:nvSpPr>
        <p:spPr>
          <a:xfrm>
            <a:off x="838200" y="365125"/>
            <a:ext cx="10515600" cy="238379"/>
          </a:xfrm>
        </p:spPr>
        <p:txBody>
          <a:bodyPr>
            <a:normAutofit fontScale="90000"/>
          </a:bodyPr>
          <a:lstStyle/>
          <a:p>
            <a:pPr algn="ctr"/>
            <a:r>
              <a:rPr lang="nl-BE" b="1" i="1" dirty="0"/>
              <a:t>SSAS project Setup </a:t>
            </a:r>
            <a:endParaRPr lang="en-US" b="1" i="1" dirty="0"/>
          </a:p>
        </p:txBody>
      </p:sp>
      <p:sp>
        <p:nvSpPr>
          <p:cNvPr id="4" name="Content Placeholder 3">
            <a:extLst>
              <a:ext uri="{FF2B5EF4-FFF2-40B4-BE49-F238E27FC236}">
                <a16:creationId xmlns:a16="http://schemas.microsoft.com/office/drawing/2014/main" id="{22F0D4B8-6B8A-DFFC-C313-1E15D608067B}"/>
              </a:ext>
            </a:extLst>
          </p:cNvPr>
          <p:cNvSpPr>
            <a:spLocks noGrp="1"/>
          </p:cNvSpPr>
          <p:nvPr>
            <p:ph idx="1"/>
          </p:nvPr>
        </p:nvSpPr>
        <p:spPr>
          <a:xfrm>
            <a:off x="838200" y="987552"/>
            <a:ext cx="10515600" cy="5189411"/>
          </a:xfrm>
        </p:spPr>
        <p:txBody>
          <a:bodyPr>
            <a:normAutofit/>
          </a:bodyPr>
          <a:lstStyle/>
          <a:p>
            <a:pPr marL="0" indent="0">
              <a:buNone/>
            </a:pPr>
            <a:endParaRPr lang="en-US" sz="1300" i="1" dirty="0"/>
          </a:p>
          <a:p>
            <a:pPr marL="0" indent="0">
              <a:buNone/>
            </a:pPr>
            <a:endParaRPr lang="en-US" sz="1300" i="1" dirty="0"/>
          </a:p>
        </p:txBody>
      </p:sp>
      <p:pic>
        <p:nvPicPr>
          <p:cNvPr id="5" name="Picture 4" descr="A screenshot of a computer&#10;&#10;AI-generated content may be incorrect.">
            <a:extLst>
              <a:ext uri="{FF2B5EF4-FFF2-40B4-BE49-F238E27FC236}">
                <a16:creationId xmlns:a16="http://schemas.microsoft.com/office/drawing/2014/main" id="{FB207DA6-3604-3FC8-9077-7BC7F8ABBE39}"/>
              </a:ext>
            </a:extLst>
          </p:cNvPr>
          <p:cNvPicPr>
            <a:picLocks noChangeAspect="1"/>
          </p:cNvPicPr>
          <p:nvPr/>
        </p:nvPicPr>
        <p:blipFill>
          <a:blip r:embed="rId2"/>
          <a:stretch>
            <a:fillRect/>
          </a:stretch>
        </p:blipFill>
        <p:spPr>
          <a:xfrm>
            <a:off x="558305" y="1918508"/>
            <a:ext cx="4153480" cy="2372056"/>
          </a:xfrm>
          <a:prstGeom prst="rect">
            <a:avLst/>
          </a:prstGeom>
        </p:spPr>
      </p:pic>
      <p:sp>
        <p:nvSpPr>
          <p:cNvPr id="6" name="TextBox 5">
            <a:extLst>
              <a:ext uri="{FF2B5EF4-FFF2-40B4-BE49-F238E27FC236}">
                <a16:creationId xmlns:a16="http://schemas.microsoft.com/office/drawing/2014/main" id="{484F00E2-A3DD-D9E6-6912-78901A2DEDD1}"/>
              </a:ext>
            </a:extLst>
          </p:cNvPr>
          <p:cNvSpPr txBox="1"/>
          <p:nvPr/>
        </p:nvSpPr>
        <p:spPr>
          <a:xfrm>
            <a:off x="1268361" y="1347019"/>
            <a:ext cx="10166629" cy="1384995"/>
          </a:xfrm>
          <a:prstGeom prst="rect">
            <a:avLst/>
          </a:prstGeom>
          <a:noFill/>
        </p:spPr>
        <p:txBody>
          <a:bodyPr wrap="none" rtlCol="0">
            <a:spAutoFit/>
          </a:bodyPr>
          <a:lstStyle/>
          <a:p>
            <a:r>
              <a:rPr lang="nl-BE" sz="1400" dirty="0"/>
              <a:t>When all data have been impoted in </a:t>
            </a:r>
            <a:r>
              <a:rPr lang="nl-BE" sz="1400" b="1" i="1" dirty="0"/>
              <a:t>VS model.bim </a:t>
            </a:r>
            <a:r>
              <a:rPr lang="nl-BE" sz="1400" dirty="0"/>
              <a:t>and  to AAS (Azure) , to can connect to that model using Power Bi , and there you can </a:t>
            </a:r>
          </a:p>
          <a:p>
            <a:r>
              <a:rPr lang="nl-BE" sz="1400" dirty="0"/>
              <a:t>choose for For </a:t>
            </a:r>
            <a:r>
              <a:rPr lang="nl-BE" sz="1400" b="1" i="1" dirty="0"/>
              <a:t>LiveConnection</a:t>
            </a:r>
            <a:r>
              <a:rPr lang="nl-BE" sz="1400" dirty="0"/>
              <a:t> or </a:t>
            </a:r>
            <a:r>
              <a:rPr lang="nl-BE" sz="1400" b="1" i="1" dirty="0"/>
              <a:t>Import  </a:t>
            </a:r>
          </a:p>
          <a:p>
            <a:pPr marL="285750" indent="-285750">
              <a:buFont typeface="Arial" panose="020B0604020202020204" pitchFamily="34" charset="0"/>
              <a:buChar char="•"/>
            </a:pPr>
            <a:r>
              <a:rPr lang="nl-BE" sz="1400" b="1" i="1" dirty="0"/>
              <a:t>LiveConnection : </a:t>
            </a:r>
            <a:r>
              <a:rPr lang="nl-BE" sz="1400" i="1" dirty="0"/>
              <a:t>Power BI send query and AAS will calculate </a:t>
            </a:r>
          </a:p>
          <a:p>
            <a:pPr marL="285750" indent="-285750">
              <a:buFont typeface="Arial" panose="020B0604020202020204" pitchFamily="34" charset="0"/>
              <a:buChar char="•"/>
            </a:pPr>
            <a:r>
              <a:rPr lang="nl-BE" sz="1400" b="1" dirty="0"/>
              <a:t>Impor</a:t>
            </a:r>
            <a:r>
              <a:rPr lang="nl-BE" sz="1400" i="1" dirty="0"/>
              <a:t>t : Data will be als store in PBI memory</a:t>
            </a:r>
          </a:p>
          <a:p>
            <a:endParaRPr lang="nl-BE" sz="1400" b="1" i="1" dirty="0"/>
          </a:p>
          <a:p>
            <a:r>
              <a:rPr lang="en-US" sz="1400" b="1" i="1" dirty="0">
                <a:hlinkClick r:id="rId3"/>
              </a:rPr>
              <a:t>https://www.youtube.com/watch?v=4Fv6cHdL8S0</a:t>
            </a:r>
            <a:r>
              <a:rPr lang="en-US" sz="1400" b="1" i="1" dirty="0"/>
              <a:t>  (from 20 </a:t>
            </a:r>
            <a:r>
              <a:rPr lang="en-US" sz="1400" b="1" i="1" dirty="0" err="1"/>
              <a:t>th</a:t>
            </a:r>
            <a:r>
              <a:rPr lang="en-US" sz="1400" b="1" i="1" dirty="0"/>
              <a:t> min)</a:t>
            </a:r>
          </a:p>
        </p:txBody>
      </p:sp>
      <p:sp>
        <p:nvSpPr>
          <p:cNvPr id="3" name="TextBox 2">
            <a:extLst>
              <a:ext uri="{FF2B5EF4-FFF2-40B4-BE49-F238E27FC236}">
                <a16:creationId xmlns:a16="http://schemas.microsoft.com/office/drawing/2014/main" id="{57DFDA95-2B60-8865-F88C-563CFDBD2837}"/>
              </a:ext>
            </a:extLst>
          </p:cNvPr>
          <p:cNvSpPr txBox="1"/>
          <p:nvPr/>
        </p:nvSpPr>
        <p:spPr>
          <a:xfrm>
            <a:off x="1022554" y="4906297"/>
            <a:ext cx="10923639" cy="1200329"/>
          </a:xfrm>
          <a:prstGeom prst="rect">
            <a:avLst/>
          </a:prstGeom>
          <a:noFill/>
        </p:spPr>
        <p:txBody>
          <a:bodyPr wrap="square" rtlCol="0">
            <a:spAutoFit/>
          </a:bodyPr>
          <a:lstStyle/>
          <a:p>
            <a:r>
              <a:rPr lang="nl-BE" dirty="0"/>
              <a:t>SSIS/SSAS/Power BI end to end project : </a:t>
            </a:r>
            <a:r>
              <a:rPr lang="nl-BE" dirty="0">
                <a:hlinkClick r:id="rId4"/>
              </a:rPr>
              <a:t>https://www.youtube.com/watch?v=eNxbMwUGl1g&amp;t=3596s</a:t>
            </a:r>
            <a:endParaRPr lang="nl-BE" dirty="0"/>
          </a:p>
          <a:p>
            <a:endParaRPr lang="nl-BE" dirty="0"/>
          </a:p>
          <a:p>
            <a:r>
              <a:rPr lang="nl-BE" dirty="0"/>
              <a:t>Realtime reporting with PBI report server ,with refesh unig google extention: </a:t>
            </a:r>
          </a:p>
          <a:p>
            <a:r>
              <a:rPr lang="nl-BE" dirty="0">
                <a:hlinkClick r:id="rId5"/>
              </a:rPr>
              <a:t>https://www.youtube.com/watch?v=yM37Zb5YK7c&amp;list=PLClkz6fOJwPziaxc5At9ylfAoLC87lHSO&amp;index=9</a:t>
            </a:r>
            <a:r>
              <a:rPr lang="nl-BE" dirty="0"/>
              <a:t>  </a:t>
            </a:r>
            <a:endParaRPr lang="en-US" dirty="0"/>
          </a:p>
        </p:txBody>
      </p:sp>
    </p:spTree>
    <p:extLst>
      <p:ext uri="{BB962C8B-B14F-4D97-AF65-F5344CB8AC3E}">
        <p14:creationId xmlns:p14="http://schemas.microsoft.com/office/powerpoint/2010/main" val="308425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3344</TotalTime>
  <Words>1614</Words>
  <Application>Microsoft Office PowerPoint</Application>
  <PresentationFormat>Widescreen</PresentationFormat>
  <Paragraphs>101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SSIS and SSAS Essentials</vt:lpstr>
      <vt:lpstr>PowerPoint Presentation</vt:lpstr>
      <vt:lpstr>Ssis most used Activities </vt:lpstr>
      <vt:lpstr>Ssis most used data flow task</vt:lpstr>
      <vt:lpstr>Ssis Parent and child package</vt:lpstr>
      <vt:lpstr>Ssis parameters vs variable vs expression</vt:lpstr>
      <vt:lpstr>Ssis Error handling</vt:lpstr>
      <vt:lpstr>Ssis deployment</vt:lpstr>
      <vt:lpstr>SSAS project setup</vt:lpstr>
      <vt:lpstr>SSAS project Setup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Oumar Coulibaly</dc:creator>
  <cp:lastModifiedBy>Coulibaly Oumar</cp:lastModifiedBy>
  <cp:revision>4</cp:revision>
  <dcterms:created xsi:type="dcterms:W3CDTF">2026-01-20T08:36:53Z</dcterms:created>
  <dcterms:modified xsi:type="dcterms:W3CDTF">2026-03-29T10:42:55Z</dcterms:modified>
</cp:coreProperties>
</file>