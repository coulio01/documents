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E47B-C713-A367-5161-1F33097C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03049-1089-7656-D313-E966F5E7E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A31D4-5437-7E1C-424A-B45F4D06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83E5-DD20-27BF-23AC-96F2C5C5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7FC8-12E0-8AD6-3162-430D3760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260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5DAD-BE83-FE48-1875-010CAFFA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2431-6FB1-B401-E17A-AA8BBF4F2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7B2AC-4F2B-F14D-6184-99EF84E6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F27F-44F0-5D2A-BC74-335F7816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533B-FD36-A16B-C420-B62BFAEB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4105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BDE5-29AF-323E-AD8B-B7D8C79B7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9ECB4-113F-8301-3D9A-AFD7BCD30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CCEB2-B4B5-EA15-3404-57D4B5A1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6772A-0C73-5E7A-25C8-9B467826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60CFE-3CAD-6A35-52A8-C235737F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4169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286B-EAA0-7804-8006-8E0463D2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A6310-654A-3293-E349-6AEBA49C5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4FD36-640D-1950-6E14-EC8FC4442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B0CEB-8B76-49EA-E342-64755C08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C6467-F0FC-9CA5-171D-3B18D54D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62D65-0516-CB4C-8677-9AB6061F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441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56F5-8A43-3CD6-A9EB-B38E9736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C9FE5-0244-E8E4-58AD-1DF267D18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0E1D3-1D24-0388-26D4-6B7B4B6B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0BCBD-0D7B-3A9A-78D7-AB34E82CA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EA6431-ACF8-3F76-994C-5DEC7D808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209E-929A-F95C-A8A3-C841D9214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5016E-1DE9-2551-C55D-8A8D20EF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66F0E-12BC-8F06-270C-A48E9AA3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211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F8B7-5A6E-F5A7-965C-665B2EBE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734DC-19BC-0CB2-B476-B2B82D5B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A0A35-A857-0619-5007-8483472E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6CA96-79C6-0C65-DD2D-749E6EB1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3433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721C9-9A72-D0DC-5C05-9CB841A3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BE793-30BA-00A0-2F95-4CFD983A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8CCE7-8490-43EC-1B5C-36A9C944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9195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CA22-AD87-84E7-237C-5C5EA770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B63AA-D38C-2AFE-2CFC-7BC8FD5BD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91E32-018A-99CD-6293-5C7DEA00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980EF-86AA-8A8C-9444-8FC0AEB1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1BA6-4FBF-BB04-7197-4B330EDC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09B78-653F-8140-C90B-14DE6DE9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3380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34B6-2EDE-3CFA-6D19-E90053F7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8A9EB-8DFD-F213-D9B6-BEB26F1EC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B6AE9-1704-400F-E604-903F33663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15B19-3C7A-C1F3-47C1-10E4D798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BB4F8-D5A8-B2A1-F35C-B2499AEF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D9340-F8F1-2948-F80A-07212819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871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609A-819B-EDA0-F585-9AD65CFD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8507A-356A-4810-0C46-E3FBDF24A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37520-0FA4-B4B0-22D7-32E0C8DB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4E6D2-F8F8-3147-A049-CCA2B4F9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B50FC-6C97-770D-E3D4-37B0A4C2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993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36A2D-314C-7544-187B-262AE4A68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23FCB-8FDB-2CF5-B498-39DAAB532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8D541-6482-D59B-4884-47A99EDA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09C99-C157-DAC1-4154-D0220419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58543-B52C-9569-A1F2-4D0CD03F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712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62B7E-EA5E-7B10-B1F0-8B3080C78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16B6-7481-549D-8EB1-4E344E4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152BD-6AE2-BE42-BF0C-9F3BA1F45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B7192-DAEA-42CD-98BD-293E7644B89D}" type="datetimeFigureOut">
              <a:rPr lang="en-BE" smtClean="0"/>
              <a:t>17/04/2026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04714-9558-F679-AC87-2A482F093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8201-F523-687C-3083-2FE200980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48254-4763-4B2A-B96D-FAC6A2843F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922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udemy.com/course/simplifying-data-pipelines-using-dbt/learn/lecture/54953001?start=300#over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udemy.com/course/simplifying-data-pipelines-using-dbt/learn/lecture/54953001?start=300#overview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4017-14D4-A8AB-EF11-46313EF1A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440" y="426719"/>
            <a:ext cx="9144000" cy="594043"/>
          </a:xfrm>
        </p:spPr>
        <p:txBody>
          <a:bodyPr>
            <a:noAutofit/>
          </a:bodyPr>
          <a:lstStyle/>
          <a:p>
            <a:r>
              <a:rPr lang="en-GB" sz="4000" i="1" dirty="0" err="1"/>
              <a:t>dbt</a:t>
            </a:r>
            <a:endParaRPr lang="en-BE" sz="4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0024A-28D9-E703-08EA-E65B2E3D5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864" y="1130829"/>
            <a:ext cx="11531601" cy="1138238"/>
          </a:xfrm>
        </p:spPr>
        <p:txBody>
          <a:bodyPr>
            <a:normAutofit/>
          </a:bodyPr>
          <a:lstStyle/>
          <a:p>
            <a:pPr algn="l"/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129668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9519-1C6D-2BB9-3777-06026D87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314B-7FFB-AEE2-6EE9-A7A056FB2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440" y="426719"/>
            <a:ext cx="9144000" cy="594043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dbt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0B004-9B40-81F4-E1D6-D38F82FED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798" y="1020762"/>
            <a:ext cx="11531601" cy="1138238"/>
          </a:xfrm>
        </p:spPr>
        <p:txBody>
          <a:bodyPr>
            <a:normAutofit/>
          </a:bodyPr>
          <a:lstStyle/>
          <a:p>
            <a:pPr algn="l"/>
            <a:r>
              <a:rPr lang="en-GB" sz="1400" dirty="0">
                <a:hlinkClick r:id="rId2"/>
              </a:rPr>
              <a:t>https://www.udemy.com/course/simplifying-data-pipelines-using-dbt/learn/lecture/54953001?start=300#overview</a:t>
            </a:r>
            <a:r>
              <a:rPr lang="en-GB" sz="1400" dirty="0"/>
              <a:t> </a:t>
            </a:r>
            <a:endParaRPr lang="en-BE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D2F57-A5EB-A740-9A55-C85524F6FA0D}"/>
              </a:ext>
            </a:extLst>
          </p:cNvPr>
          <p:cNvSpPr txBox="1"/>
          <p:nvPr/>
        </p:nvSpPr>
        <p:spPr>
          <a:xfrm>
            <a:off x="330198" y="1313106"/>
            <a:ext cx="106764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To install </a:t>
            </a:r>
            <a:r>
              <a:rPr lang="en-GB" sz="1400" dirty="0" err="1"/>
              <a:t>dbt</a:t>
            </a:r>
            <a:r>
              <a:rPr lang="en-GB" sz="1400" dirty="0"/>
              <a:t> core into your local machine (not </a:t>
            </a:r>
            <a:r>
              <a:rPr lang="en-GB" sz="1400" dirty="0" err="1"/>
              <a:t>esay</a:t>
            </a:r>
            <a:r>
              <a:rPr lang="en-GB" sz="1400" dirty="0"/>
              <a:t>) the following steps are needed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Create a folder like this VS code folder/</a:t>
            </a:r>
            <a:r>
              <a:rPr lang="en-GB" sz="1400" dirty="0" err="1"/>
              <a:t>dbt_project</a:t>
            </a:r>
            <a:r>
              <a:rPr lang="en-GB" sz="1400" dirty="0"/>
              <a:t>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From VS code open that folder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Create a virtual environment like   </a:t>
            </a:r>
            <a:r>
              <a:rPr lang="en-GB" sz="1400" b="1" i="1" dirty="0" err="1">
                <a:solidFill>
                  <a:srgbClr val="FF0000"/>
                </a:solidFill>
              </a:rPr>
              <a:t>dbt</a:t>
            </a:r>
            <a:r>
              <a:rPr lang="en-GB" sz="1400" b="1" i="1" dirty="0">
                <a:solidFill>
                  <a:srgbClr val="FF0000"/>
                </a:solidFill>
              </a:rPr>
              <a:t>-env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Ask the following prompt to </a:t>
            </a:r>
            <a:r>
              <a:rPr lang="en-GB" sz="1400" dirty="0" err="1"/>
              <a:t>chatgpt</a:t>
            </a:r>
            <a:r>
              <a:rPr lang="en-GB" sz="1400" dirty="0"/>
              <a:t>  </a:t>
            </a:r>
            <a:r>
              <a:rPr lang="en-GB" sz="1400" dirty="0">
                <a:highlight>
                  <a:srgbClr val="FFFF00"/>
                </a:highlight>
              </a:rPr>
              <a:t>“I want to install </a:t>
            </a:r>
            <a:r>
              <a:rPr lang="en-GB" sz="1400" dirty="0" err="1">
                <a:highlight>
                  <a:srgbClr val="FFFF00"/>
                </a:highlight>
              </a:rPr>
              <a:t>dbt</a:t>
            </a:r>
            <a:r>
              <a:rPr lang="en-GB" sz="1400" dirty="0">
                <a:highlight>
                  <a:srgbClr val="FFFF00"/>
                </a:highlight>
              </a:rPr>
              <a:t> core to my local machine using Vs code and virtual </a:t>
            </a:r>
            <a:r>
              <a:rPr lang="en-GB" sz="1400" dirty="0" err="1">
                <a:highlight>
                  <a:srgbClr val="FFFF00"/>
                </a:highlight>
              </a:rPr>
              <a:t>envirment</a:t>
            </a:r>
            <a:r>
              <a:rPr lang="en-GB" sz="1400" dirty="0">
                <a:highlight>
                  <a:srgbClr val="FFFF00"/>
                </a:highlight>
              </a:rPr>
              <a:t> , can please </a:t>
            </a:r>
            <a:r>
              <a:rPr lang="en-GB" sz="1400" dirty="0" err="1">
                <a:highlight>
                  <a:srgbClr val="FFFF00"/>
                </a:highlight>
              </a:rPr>
              <a:t>gide</a:t>
            </a:r>
            <a:r>
              <a:rPr lang="en-GB" sz="1400" dirty="0">
                <a:highlight>
                  <a:srgbClr val="FFFF00"/>
                </a:highlight>
              </a:rPr>
              <a:t> step by step”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highlight>
                <a:srgbClr val="FFFF00"/>
              </a:highlight>
            </a:endParaRPr>
          </a:p>
          <a:p>
            <a:r>
              <a:rPr lang="en-GB" sz="1400" dirty="0"/>
              <a:t>When installation succeeded you should have the following :</a:t>
            </a:r>
          </a:p>
          <a:p>
            <a:r>
              <a:rPr lang="en-GB" sz="1400" dirty="0"/>
              <a:t>Note : In my case I create a </a:t>
            </a:r>
            <a:r>
              <a:rPr lang="en-GB" sz="1400" dirty="0" err="1"/>
              <a:t>dbt</a:t>
            </a:r>
            <a:r>
              <a:rPr lang="en-GB" sz="1400" dirty="0"/>
              <a:t> for a </a:t>
            </a:r>
            <a:r>
              <a:rPr lang="en-GB" sz="1400" b="1" i="1" dirty="0"/>
              <a:t>Fabric project</a:t>
            </a:r>
            <a:r>
              <a:rPr lang="en-GB" sz="1400" dirty="0"/>
              <a:t>.</a:t>
            </a:r>
          </a:p>
          <a:p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75BAF-E9B1-2135-E982-6CC39520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8" y="4165555"/>
            <a:ext cx="5456393" cy="1066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07AD10-E330-8B10-9A0A-5758711B9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8" y="5347737"/>
            <a:ext cx="2370025" cy="1463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DCEB1D-6CDF-0178-7A4B-06DB5DB7A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3419735"/>
            <a:ext cx="5213098" cy="212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4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4F67-659A-D992-FA7E-A1BAE0B4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140C-7301-E28E-D04A-5AA0C29D4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400" y="112533"/>
            <a:ext cx="9144000" cy="594043"/>
          </a:xfrm>
        </p:spPr>
        <p:txBody>
          <a:bodyPr>
            <a:noAutofit/>
          </a:bodyPr>
          <a:lstStyle/>
          <a:p>
            <a:r>
              <a:rPr lang="en-GB" sz="2800" dirty="0" err="1"/>
              <a:t>Dbt</a:t>
            </a:r>
            <a:r>
              <a:rPr lang="en-GB" sz="2800" dirty="0"/>
              <a:t>-set up in 6 </a:t>
            </a:r>
            <a:r>
              <a:rPr lang="en-GB" sz="2800" dirty="0" err="1"/>
              <a:t>setp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27E55-5B76-DF62-FE1C-EC35547AE994}"/>
              </a:ext>
            </a:extLst>
          </p:cNvPr>
          <p:cNvSpPr txBox="1"/>
          <p:nvPr/>
        </p:nvSpPr>
        <p:spPr>
          <a:xfrm>
            <a:off x="228602" y="1280159"/>
            <a:ext cx="11531600" cy="4639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50" dirty="0"/>
              <a:t>A -Important </a:t>
            </a:r>
            <a:r>
              <a:rPr lang="fr-BE" sz="1050" dirty="0" err="1"/>
              <a:t>steps</a:t>
            </a:r>
            <a:r>
              <a:rPr lang="fr-BE" sz="1050" dirty="0"/>
              <a:t> (</a:t>
            </a:r>
            <a:r>
              <a:rPr lang="fr-BE" sz="1050" dirty="0" err="1"/>
              <a:t>write</a:t>
            </a:r>
            <a:r>
              <a:rPr lang="fr-BE" sz="1050" dirty="0"/>
              <a:t> the </a:t>
            </a:r>
            <a:r>
              <a:rPr lang="fr-BE" sz="1050" dirty="0" err="1"/>
              <a:t>below</a:t>
            </a:r>
            <a:r>
              <a:rPr lang="fr-BE" sz="1050" dirty="0"/>
              <a:t> code 1 by 1) : 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>
                <a:solidFill>
                  <a:srgbClr val="00B0F0"/>
                </a:solidFill>
              </a:rPr>
              <a:t>python –version                          #(python version </a:t>
            </a:r>
            <a:r>
              <a:rPr lang="fr-BE" sz="900" i="1" dirty="0" err="1">
                <a:solidFill>
                  <a:srgbClr val="00B0F0"/>
                </a:solidFill>
              </a:rPr>
              <a:t>verification</a:t>
            </a:r>
            <a:r>
              <a:rPr lang="fr-BE" sz="900" i="1" dirty="0">
                <a:solidFill>
                  <a:srgbClr val="00B0F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 err="1">
                <a:solidFill>
                  <a:srgbClr val="00B0F0"/>
                </a:solidFill>
              </a:rPr>
              <a:t>pip</a:t>
            </a:r>
            <a:r>
              <a:rPr lang="fr-BE" sz="900" i="1" dirty="0">
                <a:solidFill>
                  <a:srgbClr val="00B0F0"/>
                </a:solidFill>
              </a:rPr>
              <a:t> –version                                  #(pip version </a:t>
            </a:r>
            <a:r>
              <a:rPr lang="fr-BE" sz="900" i="1" dirty="0" err="1">
                <a:solidFill>
                  <a:srgbClr val="00B0F0"/>
                </a:solidFill>
              </a:rPr>
              <a:t>verification</a:t>
            </a:r>
            <a:r>
              <a:rPr lang="fr-BE" sz="900" i="1" dirty="0">
                <a:solidFill>
                  <a:srgbClr val="00B0F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>
                <a:solidFill>
                  <a:srgbClr val="00B0F0"/>
                </a:solidFill>
              </a:rPr>
              <a:t>code .                                               #(code </a:t>
            </a:r>
            <a:r>
              <a:rPr lang="fr-BE" sz="900" i="1" dirty="0" err="1">
                <a:solidFill>
                  <a:srgbClr val="00B0F0"/>
                </a:solidFill>
              </a:rPr>
              <a:t>verification</a:t>
            </a:r>
            <a:r>
              <a:rPr lang="fr-BE" sz="900" i="1" dirty="0">
                <a:solidFill>
                  <a:srgbClr val="00B0F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>
                <a:solidFill>
                  <a:srgbClr val="00B0F0"/>
                </a:solidFill>
              </a:rPr>
              <a:t>python -m </a:t>
            </a:r>
            <a:r>
              <a:rPr lang="fr-BE" sz="900" i="1" dirty="0" err="1">
                <a:solidFill>
                  <a:srgbClr val="00B0F0"/>
                </a:solidFill>
              </a:rPr>
              <a:t>venv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dbt-env</a:t>
            </a:r>
            <a:r>
              <a:rPr lang="fr-BE" sz="900" i="1" dirty="0">
                <a:solidFill>
                  <a:srgbClr val="00B0F0"/>
                </a:solidFill>
              </a:rPr>
              <a:t>            #(create </a:t>
            </a:r>
            <a:r>
              <a:rPr lang="fr-BE" sz="900" i="1" dirty="0" err="1">
                <a:solidFill>
                  <a:srgbClr val="00B0F0"/>
                </a:solidFill>
              </a:rPr>
              <a:t>virtul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environment</a:t>
            </a:r>
            <a:r>
              <a:rPr lang="fr-BE" sz="900" i="1" dirty="0">
                <a:solidFill>
                  <a:srgbClr val="00B0F0"/>
                </a:solidFill>
              </a:rPr>
              <a:t>  </a:t>
            </a:r>
            <a:r>
              <a:rPr lang="fr-BE" sz="900" i="1" dirty="0" err="1">
                <a:solidFill>
                  <a:srgbClr val="00B0F0"/>
                </a:solidFill>
              </a:rPr>
              <a:t>this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very</a:t>
            </a:r>
            <a:r>
              <a:rPr lang="fr-BE" sz="900" i="1" dirty="0">
                <a:solidFill>
                  <a:srgbClr val="00B0F0"/>
                </a:solidFill>
              </a:rPr>
              <a:t> crucial 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 err="1">
                <a:solidFill>
                  <a:srgbClr val="00B0F0"/>
                </a:solidFill>
              </a:rPr>
              <a:t>pip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install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dbt-core</a:t>
            </a:r>
            <a:r>
              <a:rPr lang="fr-BE" sz="900" i="1" dirty="0">
                <a:solidFill>
                  <a:srgbClr val="00B0F0"/>
                </a:solidFill>
              </a:rPr>
              <a:t>                      #(install </a:t>
            </a:r>
            <a:r>
              <a:rPr lang="fr-BE" sz="900" i="1" dirty="0" err="1">
                <a:solidFill>
                  <a:srgbClr val="00B0F0"/>
                </a:solidFill>
              </a:rPr>
              <a:t>dbt-core</a:t>
            </a:r>
            <a:r>
              <a:rPr lang="fr-BE" sz="900" i="1" dirty="0">
                <a:solidFill>
                  <a:srgbClr val="00B0F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 err="1">
                <a:solidFill>
                  <a:srgbClr val="00B0F0"/>
                </a:solidFill>
              </a:rPr>
              <a:t>pip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install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dbt-fabric</a:t>
            </a:r>
            <a:r>
              <a:rPr lang="fr-BE" sz="900" i="1" dirty="0">
                <a:solidFill>
                  <a:srgbClr val="00B0F0"/>
                </a:solidFill>
              </a:rPr>
              <a:t>                    #(install </a:t>
            </a:r>
            <a:r>
              <a:rPr lang="fr-BE" sz="900" i="1" dirty="0" err="1">
                <a:solidFill>
                  <a:srgbClr val="00B0F0"/>
                </a:solidFill>
              </a:rPr>
              <a:t>fabric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plugging</a:t>
            </a:r>
            <a:r>
              <a:rPr lang="fr-BE" sz="900" i="1" dirty="0">
                <a:solidFill>
                  <a:srgbClr val="00B0F0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 err="1">
                <a:solidFill>
                  <a:srgbClr val="00B0F0"/>
                </a:solidFill>
              </a:rPr>
              <a:t>dbt</a:t>
            </a:r>
            <a:r>
              <a:rPr lang="fr-BE" sz="900" i="1" dirty="0">
                <a:solidFill>
                  <a:srgbClr val="00B0F0"/>
                </a:solidFill>
              </a:rPr>
              <a:t> –version                                      #(check </a:t>
            </a:r>
            <a:r>
              <a:rPr lang="fr-BE" sz="900" i="1" dirty="0" err="1">
                <a:solidFill>
                  <a:srgbClr val="00B0F0"/>
                </a:solidFill>
              </a:rPr>
              <a:t>dbt</a:t>
            </a:r>
            <a:r>
              <a:rPr lang="fr-BE" sz="900" i="1" dirty="0">
                <a:solidFill>
                  <a:srgbClr val="00B0F0"/>
                </a:solidFill>
              </a:rPr>
              <a:t> version)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900" i="1" dirty="0" err="1">
                <a:solidFill>
                  <a:srgbClr val="00B0F0"/>
                </a:solidFill>
              </a:rPr>
              <a:t>dbt</a:t>
            </a:r>
            <a:r>
              <a:rPr lang="fr-BE" sz="900" i="1" dirty="0">
                <a:solidFill>
                  <a:srgbClr val="00B0F0"/>
                </a:solidFill>
              </a:rPr>
              <a:t> init </a:t>
            </a:r>
            <a:r>
              <a:rPr lang="fr-BE" sz="900" i="1" dirty="0" err="1">
                <a:solidFill>
                  <a:srgbClr val="00B0F0"/>
                </a:solidFill>
              </a:rPr>
              <a:t>dbt_Freshcart_project</a:t>
            </a:r>
            <a:r>
              <a:rPr lang="fr-BE" sz="900" i="1" dirty="0">
                <a:solidFill>
                  <a:srgbClr val="00B0F0"/>
                </a:solidFill>
              </a:rPr>
              <a:t>   #(initialise a new </a:t>
            </a:r>
            <a:r>
              <a:rPr lang="fr-BE" sz="900" i="1" dirty="0" err="1">
                <a:solidFill>
                  <a:srgbClr val="00B0F0"/>
                </a:solidFill>
              </a:rPr>
              <a:t>dbt</a:t>
            </a:r>
            <a:r>
              <a:rPr lang="fr-BE" sz="900" i="1" dirty="0">
                <a:solidFill>
                  <a:srgbClr val="00B0F0"/>
                </a:solidFill>
              </a:rPr>
              <a:t> </a:t>
            </a:r>
            <a:r>
              <a:rPr lang="fr-BE" sz="900" i="1" dirty="0" err="1">
                <a:solidFill>
                  <a:srgbClr val="00B0F0"/>
                </a:solidFill>
              </a:rPr>
              <a:t>project</a:t>
            </a:r>
            <a:r>
              <a:rPr lang="fr-BE" sz="900" i="1" dirty="0">
                <a:solidFill>
                  <a:srgbClr val="00B0F0"/>
                </a:solidFill>
              </a:rPr>
              <a:t> )</a:t>
            </a:r>
          </a:p>
          <a:p>
            <a:pPr marL="342900" indent="-342900">
              <a:buFont typeface="+mj-lt"/>
              <a:buAutoNum type="arabicPeriod"/>
            </a:pPr>
            <a:endParaRPr lang="fr-BE" sz="1100" i="1" dirty="0">
              <a:solidFill>
                <a:srgbClr val="00B0F0"/>
              </a:solidFill>
            </a:endParaRPr>
          </a:p>
          <a:p>
            <a:r>
              <a:rPr lang="fr-BE" sz="1400" dirty="0"/>
              <a:t>B-/ </a:t>
            </a:r>
            <a:r>
              <a:rPr lang="fr-BE" sz="1400" dirty="0" err="1"/>
              <a:t>Create</a:t>
            </a:r>
            <a:r>
              <a:rPr lang="fr-BE" sz="1400" dirty="0"/>
              <a:t> </a:t>
            </a:r>
            <a:r>
              <a:rPr lang="fr-BE" sz="1400" dirty="0">
                <a:highlight>
                  <a:srgbClr val="00FF00"/>
                </a:highlight>
              </a:rPr>
              <a:t>.</a:t>
            </a:r>
            <a:r>
              <a:rPr lang="fr-BE" sz="1400" dirty="0" err="1">
                <a:highlight>
                  <a:srgbClr val="00FF00"/>
                </a:highlight>
              </a:rPr>
              <a:t>env</a:t>
            </a:r>
            <a:r>
              <a:rPr lang="fr-BE" sz="1400" dirty="0">
                <a:highlight>
                  <a:srgbClr val="00FF00"/>
                </a:highlight>
              </a:rPr>
              <a:t> </a:t>
            </a:r>
            <a:r>
              <a:rPr lang="fr-BE" sz="1100" dirty="0"/>
              <a:t>file (to </a:t>
            </a:r>
            <a:r>
              <a:rPr lang="fr-BE" sz="1100" dirty="0" err="1"/>
              <a:t>create</a:t>
            </a:r>
            <a:r>
              <a:rPr lang="fr-BE" sz="1100" dirty="0"/>
              <a:t> </a:t>
            </a:r>
            <a:r>
              <a:rPr lang="fr-BE" sz="1100" dirty="0" err="1"/>
              <a:t>environment</a:t>
            </a:r>
            <a:r>
              <a:rPr lang="fr-BE" sz="1100" dirty="0"/>
              <a:t> variables for</a:t>
            </a:r>
          </a:p>
          <a:p>
            <a:r>
              <a:rPr lang="fr-BE" sz="1000" dirty="0"/>
              <a:t> </a:t>
            </a:r>
            <a:r>
              <a:rPr lang="fr-BE" sz="1000" dirty="0" err="1"/>
              <a:t>Fabric_DEV_SERVER</a:t>
            </a:r>
            <a:r>
              <a:rPr lang="fr-BE" sz="1000" dirty="0"/>
              <a:t>= </a:t>
            </a:r>
            <a:r>
              <a:rPr lang="fr-BE" sz="1000" dirty="0" err="1"/>
              <a:t>connectionstring</a:t>
            </a:r>
            <a:r>
              <a:rPr lang="fr-BE" sz="1000" dirty="0"/>
              <a:t> of </a:t>
            </a:r>
            <a:r>
              <a:rPr lang="fr-BE" sz="1000" dirty="0" err="1"/>
              <a:t>Fabric</a:t>
            </a:r>
            <a:r>
              <a:rPr lang="fr-BE" sz="1000" dirty="0"/>
              <a:t> datawarehouse</a:t>
            </a:r>
          </a:p>
          <a:p>
            <a:r>
              <a:rPr lang="fr-BE" sz="1000" dirty="0" err="1"/>
              <a:t>Fabric_DEV_DATABASE</a:t>
            </a:r>
            <a:r>
              <a:rPr lang="fr-BE" sz="1000" dirty="0"/>
              <a:t>= </a:t>
            </a:r>
            <a:r>
              <a:rPr lang="fr-BE" sz="1000" dirty="0" err="1"/>
              <a:t>your</a:t>
            </a:r>
            <a:r>
              <a:rPr lang="fr-BE" sz="1000" dirty="0"/>
              <a:t> </a:t>
            </a:r>
            <a:r>
              <a:rPr lang="fr-BE" sz="1000" dirty="0" err="1"/>
              <a:t>fabrivc</a:t>
            </a:r>
            <a:r>
              <a:rPr lang="fr-BE" sz="1000" dirty="0"/>
              <a:t> datawarehouse</a:t>
            </a:r>
          </a:p>
          <a:p>
            <a:r>
              <a:rPr lang="fr-BE" sz="1000" dirty="0"/>
              <a:t>FABRIC_LAKEHOUSE_DATABASE = </a:t>
            </a:r>
            <a:r>
              <a:rPr lang="fr-BE" sz="1000" dirty="0" err="1"/>
              <a:t>fabric</a:t>
            </a:r>
            <a:r>
              <a:rPr lang="fr-BE" sz="1000" dirty="0"/>
              <a:t> </a:t>
            </a:r>
            <a:r>
              <a:rPr lang="fr-BE" sz="1000" dirty="0" err="1"/>
              <a:t>lakehouseName</a:t>
            </a:r>
            <a:endParaRPr lang="fr-BE" sz="1000" dirty="0"/>
          </a:p>
          <a:p>
            <a:pPr marL="342900" indent="-342900">
              <a:buFont typeface="+mj-lt"/>
              <a:buAutoNum type="arabicPeriod"/>
            </a:pPr>
            <a:endParaRPr lang="fr-BE" sz="1000" i="1" dirty="0">
              <a:solidFill>
                <a:srgbClr val="00B0F0"/>
              </a:solidFill>
            </a:endParaRPr>
          </a:p>
          <a:p>
            <a:r>
              <a:rPr lang="fr-BE" sz="1400" dirty="0"/>
              <a:t>C-/ Go to </a:t>
            </a:r>
            <a:r>
              <a:rPr lang="fr-BE" sz="1400" dirty="0" err="1"/>
              <a:t>your</a:t>
            </a:r>
            <a:r>
              <a:rPr lang="fr-BE" sz="1400" dirty="0"/>
              <a:t> file explorer C drive </a:t>
            </a:r>
          </a:p>
          <a:p>
            <a:r>
              <a:rPr lang="en-GB" sz="700" i="1" dirty="0"/>
              <a:t>C:\Users\oumar.coulibaly\.dbt  open or  create </a:t>
            </a:r>
            <a:r>
              <a:rPr lang="en-GB" sz="700" b="1" i="1" dirty="0" err="1">
                <a:highlight>
                  <a:srgbClr val="00FF00"/>
                </a:highlight>
              </a:rPr>
              <a:t>profiles.yml</a:t>
            </a:r>
            <a:endParaRPr lang="en-GB" sz="700" b="1" i="1" dirty="0">
              <a:highlight>
                <a:srgbClr val="00FF00"/>
              </a:highlight>
            </a:endParaRPr>
          </a:p>
          <a:p>
            <a:r>
              <a:rPr lang="en-GB" sz="300" b="1" i="1" dirty="0">
                <a:highlight>
                  <a:srgbClr val="00FF00"/>
                </a:highlight>
              </a:rPr>
              <a:t>  </a:t>
            </a:r>
            <a:r>
              <a:rPr lang="fr-BE" sz="700" dirty="0" err="1"/>
              <a:t>dbt_Fabric</a:t>
            </a:r>
            <a:r>
              <a:rPr lang="fr-BE" sz="700" dirty="0"/>
              <a:t>:</a:t>
            </a:r>
          </a:p>
          <a:p>
            <a:r>
              <a:rPr lang="fr-BE" sz="700" dirty="0"/>
              <a:t>  </a:t>
            </a:r>
            <a:r>
              <a:rPr lang="fr-BE" sz="700" dirty="0" err="1"/>
              <a:t>target</a:t>
            </a:r>
            <a:r>
              <a:rPr lang="fr-BE" sz="700" dirty="0"/>
              <a:t>: dev</a:t>
            </a:r>
          </a:p>
          <a:p>
            <a:r>
              <a:rPr lang="fr-BE" sz="700" dirty="0"/>
              <a:t>  outputs:</a:t>
            </a:r>
          </a:p>
          <a:p>
            <a:r>
              <a:rPr lang="fr-BE" sz="700" dirty="0"/>
              <a:t>    dev:</a:t>
            </a:r>
          </a:p>
          <a:p>
            <a:r>
              <a:rPr lang="fr-BE" sz="700" dirty="0"/>
              <a:t>      type: </a:t>
            </a:r>
            <a:r>
              <a:rPr lang="fr-BE" sz="700" dirty="0" err="1"/>
              <a:t>fabric</a:t>
            </a:r>
            <a:endParaRPr lang="fr-BE" sz="700" dirty="0"/>
          </a:p>
          <a:p>
            <a:r>
              <a:rPr lang="fr-BE" sz="700" dirty="0"/>
              <a:t>      driver: 'ODBC Driver 18 for SQL Server'</a:t>
            </a:r>
          </a:p>
          <a:p>
            <a:r>
              <a:rPr lang="fr-BE" sz="700" dirty="0"/>
              <a:t>      server: "{{ </a:t>
            </a:r>
            <a:r>
              <a:rPr lang="fr-BE" sz="700" dirty="0" err="1"/>
              <a:t>env_var</a:t>
            </a:r>
            <a:r>
              <a:rPr lang="fr-BE" sz="700" dirty="0"/>
              <a:t>('FABRIC_DEV_SERVER') }}"</a:t>
            </a:r>
          </a:p>
          <a:p>
            <a:r>
              <a:rPr lang="fr-BE" sz="700" dirty="0"/>
              <a:t>      </a:t>
            </a:r>
            <a:r>
              <a:rPr lang="fr-BE" sz="700" dirty="0" err="1"/>
              <a:t>database</a:t>
            </a:r>
            <a:r>
              <a:rPr lang="fr-BE" sz="700" dirty="0"/>
              <a:t>: "{{ </a:t>
            </a:r>
            <a:r>
              <a:rPr lang="fr-BE" sz="700" dirty="0" err="1"/>
              <a:t>env_var</a:t>
            </a:r>
            <a:r>
              <a:rPr lang="fr-BE" sz="700" dirty="0"/>
              <a:t>('FABRIC_DEV_DATABASE') }}"</a:t>
            </a:r>
          </a:p>
          <a:p>
            <a:r>
              <a:rPr lang="fr-BE" sz="700" dirty="0"/>
              <a:t>      </a:t>
            </a:r>
            <a:r>
              <a:rPr lang="fr-BE" sz="700" dirty="0" err="1"/>
              <a:t>schema</a:t>
            </a:r>
            <a:r>
              <a:rPr lang="fr-BE" sz="700" dirty="0"/>
              <a:t>: </a:t>
            </a:r>
            <a:r>
              <a:rPr lang="fr-BE" sz="700" dirty="0" err="1"/>
              <a:t>dbo</a:t>
            </a:r>
            <a:endParaRPr lang="fr-BE" sz="700" dirty="0"/>
          </a:p>
          <a:p>
            <a:r>
              <a:rPr lang="fr-BE" sz="700" dirty="0"/>
              <a:t>      </a:t>
            </a:r>
            <a:r>
              <a:rPr lang="fr-BE" sz="700" dirty="0" err="1"/>
              <a:t>authentication</a:t>
            </a:r>
            <a:r>
              <a:rPr lang="fr-BE" sz="700" dirty="0"/>
              <a:t>: CLI</a:t>
            </a:r>
          </a:p>
          <a:p>
            <a:r>
              <a:rPr lang="fr-BE" sz="700" dirty="0"/>
              <a:t>      threads: 4</a:t>
            </a:r>
          </a:p>
          <a:p>
            <a:r>
              <a:rPr lang="fr-BE" sz="700" dirty="0"/>
              <a:t>      </a:t>
            </a:r>
            <a:r>
              <a:rPr lang="fr-BE" sz="700" dirty="0" err="1"/>
              <a:t>connect_timeout</a:t>
            </a:r>
            <a:r>
              <a:rPr lang="fr-BE" sz="700" dirty="0"/>
              <a:t>: 30</a:t>
            </a:r>
          </a:p>
          <a:p>
            <a:r>
              <a:rPr lang="fr-BE" sz="700" dirty="0"/>
              <a:t>      retries: 2</a:t>
            </a:r>
          </a:p>
          <a:p>
            <a:endParaRPr lang="fr-BE" sz="1100" b="1" i="1" dirty="0">
              <a:highlight>
                <a:srgbClr val="00FF00"/>
              </a:highlight>
            </a:endParaRPr>
          </a:p>
          <a:p>
            <a:r>
              <a:rPr lang="fr-BE" sz="1400" dirty="0"/>
              <a:t>D-/ </a:t>
            </a:r>
            <a:r>
              <a:rPr lang="fr-BE" sz="1400" dirty="0" err="1"/>
              <a:t>Autthentication</a:t>
            </a:r>
            <a:r>
              <a:rPr lang="fr-BE" sz="1400" dirty="0"/>
              <a:t> </a:t>
            </a:r>
          </a:p>
          <a:p>
            <a:endParaRPr lang="en-BE" sz="1100" b="1" i="1" dirty="0">
              <a:highlight>
                <a:srgbClr val="00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40A242-D2E5-7672-B68F-1019257D4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919149"/>
            <a:ext cx="5158358" cy="155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7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A3DD-BE36-3381-2C7F-784AF214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4F2F-4D6D-8E2E-B3DD-CCE1EF91E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440" y="426719"/>
            <a:ext cx="9144000" cy="594043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dbt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820DF-BFED-1CC1-7217-262181BEE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798" y="1020762"/>
            <a:ext cx="11531601" cy="1138238"/>
          </a:xfrm>
        </p:spPr>
        <p:txBody>
          <a:bodyPr>
            <a:normAutofit/>
          </a:bodyPr>
          <a:lstStyle/>
          <a:p>
            <a:pPr algn="l"/>
            <a:r>
              <a:rPr lang="en-GB" sz="1400" dirty="0">
                <a:hlinkClick r:id="rId2"/>
              </a:rPr>
              <a:t>https://www.udemy.com/course/simplifying-data-pipelines-using-dbt/learn/lecture/54953001?start=300#overview</a:t>
            </a:r>
            <a:r>
              <a:rPr lang="en-GB" sz="1400" dirty="0"/>
              <a:t> </a:t>
            </a:r>
            <a:endParaRPr lang="en-BE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C6061-4358-5302-4B6B-36142D7DB27A}"/>
              </a:ext>
            </a:extLst>
          </p:cNvPr>
          <p:cNvSpPr txBox="1"/>
          <p:nvPr/>
        </p:nvSpPr>
        <p:spPr>
          <a:xfrm>
            <a:off x="228602" y="1280159"/>
            <a:ext cx="11531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D-/ </a:t>
            </a:r>
            <a:r>
              <a:rPr lang="fr-BE" sz="1400" dirty="0" err="1"/>
              <a:t>Autthentication</a:t>
            </a:r>
            <a:r>
              <a:rPr lang="fr-BE" sz="1400" dirty="0"/>
              <a:t>  </a:t>
            </a:r>
            <a:r>
              <a:rPr lang="fr-BE" sz="900" i="1" dirty="0"/>
              <a:t>(</a:t>
            </a:r>
            <a:r>
              <a:rPr lang="fr-BE" sz="900" i="1" dirty="0" err="1"/>
              <a:t>wiill</a:t>
            </a:r>
            <a:r>
              <a:rPr lang="fr-BE" sz="900" i="1" dirty="0"/>
              <a:t> </a:t>
            </a:r>
            <a:r>
              <a:rPr lang="fr-BE" sz="900" i="1" dirty="0" err="1"/>
              <a:t>authentocate</a:t>
            </a:r>
            <a:r>
              <a:rPr lang="fr-BE" sz="900" i="1" dirty="0"/>
              <a:t> </a:t>
            </a:r>
            <a:r>
              <a:rPr lang="fr-BE" sz="900" i="1" dirty="0" err="1"/>
              <a:t>you</a:t>
            </a:r>
            <a:r>
              <a:rPr lang="fr-BE" sz="900" i="1" dirty="0"/>
              <a:t> </a:t>
            </a:r>
            <a:r>
              <a:rPr lang="fr-BE" sz="900" i="1" dirty="0" err="1"/>
              <a:t>using</a:t>
            </a:r>
            <a:r>
              <a:rPr lang="fr-BE" sz="900" i="1" dirty="0"/>
              <a:t> the .</a:t>
            </a:r>
            <a:r>
              <a:rPr lang="fr-BE" sz="900" i="1" dirty="0" err="1"/>
              <a:t>env</a:t>
            </a:r>
            <a:r>
              <a:rPr lang="fr-BE" sz="900" i="1" dirty="0"/>
              <a:t> file )</a:t>
            </a:r>
          </a:p>
          <a:p>
            <a:r>
              <a:rPr lang="fr-BE" sz="900" dirty="0">
                <a:solidFill>
                  <a:schemeClr val="accent1"/>
                </a:solidFill>
              </a:rPr>
              <a:t>(</a:t>
            </a:r>
            <a:r>
              <a:rPr lang="fr-BE" sz="900" dirty="0" err="1">
                <a:solidFill>
                  <a:schemeClr val="accent1"/>
                </a:solidFill>
              </a:rPr>
              <a:t>dbt-env</a:t>
            </a:r>
            <a:r>
              <a:rPr lang="fr-BE" sz="900" dirty="0">
                <a:solidFill>
                  <a:schemeClr val="accent1"/>
                </a:solidFill>
              </a:rPr>
              <a:t>) PS C:\Users\oumar.coulibaly\Documents\VS Code Workspace\DBT-</a:t>
            </a:r>
            <a:r>
              <a:rPr lang="fr-BE" sz="900" dirty="0" err="1">
                <a:solidFill>
                  <a:schemeClr val="accent1"/>
                </a:solidFill>
              </a:rPr>
              <a:t>frechCart</a:t>
            </a:r>
            <a:r>
              <a:rPr lang="fr-BE" sz="900" dirty="0">
                <a:solidFill>
                  <a:schemeClr val="accent1"/>
                </a:solidFill>
              </a:rPr>
              <a:t>\</a:t>
            </a:r>
            <a:r>
              <a:rPr lang="fr-BE" sz="900" dirty="0" err="1">
                <a:solidFill>
                  <a:schemeClr val="accent1"/>
                </a:solidFill>
              </a:rPr>
              <a:t>dbt_Freshcart_project</a:t>
            </a:r>
            <a:r>
              <a:rPr lang="fr-BE" sz="900" dirty="0">
                <a:solidFill>
                  <a:schemeClr val="accent1"/>
                </a:solidFill>
              </a:rPr>
              <a:t>&gt;</a:t>
            </a:r>
          </a:p>
          <a:p>
            <a:r>
              <a:rPr lang="fr-BE" sz="900" dirty="0">
                <a:solidFill>
                  <a:schemeClr val="accent1"/>
                </a:solidFill>
              </a:rPr>
              <a:t> </a:t>
            </a:r>
          </a:p>
          <a:p>
            <a:r>
              <a:rPr lang="fr-BE" sz="900" i="1" dirty="0" err="1">
                <a:solidFill>
                  <a:srgbClr val="0070C0"/>
                </a:solidFill>
              </a:rPr>
              <a:t>Get</a:t>
            </a:r>
            <a:r>
              <a:rPr lang="fr-BE" sz="900" i="1" dirty="0">
                <a:solidFill>
                  <a:srgbClr val="0070C0"/>
                </a:solidFill>
              </a:rPr>
              <a:t>-Content .</a:t>
            </a:r>
            <a:r>
              <a:rPr lang="fr-BE" sz="900" i="1" dirty="0" err="1">
                <a:solidFill>
                  <a:srgbClr val="0070C0"/>
                </a:solidFill>
              </a:rPr>
              <a:t>env</a:t>
            </a:r>
            <a:r>
              <a:rPr lang="fr-BE" sz="900" i="1" dirty="0">
                <a:solidFill>
                  <a:srgbClr val="0070C0"/>
                </a:solidFill>
              </a:rPr>
              <a:t> | </a:t>
            </a:r>
            <a:r>
              <a:rPr lang="fr-BE" sz="900" i="1" dirty="0" err="1">
                <a:solidFill>
                  <a:srgbClr val="0070C0"/>
                </a:solidFill>
              </a:rPr>
              <a:t>ForEach</a:t>
            </a:r>
            <a:r>
              <a:rPr lang="fr-BE" sz="900" i="1" dirty="0">
                <a:solidFill>
                  <a:srgbClr val="0070C0"/>
                </a:solidFill>
              </a:rPr>
              <a:t>-Object {</a:t>
            </a:r>
          </a:p>
          <a:p>
            <a:r>
              <a:rPr lang="fr-BE" sz="900" i="1" dirty="0">
                <a:solidFill>
                  <a:srgbClr val="0070C0"/>
                </a:solidFill>
              </a:rPr>
              <a:t>    if ($_ -match "^(.*?)=(.*)$") {</a:t>
            </a:r>
          </a:p>
          <a:p>
            <a:r>
              <a:rPr lang="fr-BE" sz="900" i="1" dirty="0">
                <a:solidFill>
                  <a:srgbClr val="0070C0"/>
                </a:solidFill>
              </a:rPr>
              <a:t>        [</a:t>
            </a:r>
            <a:r>
              <a:rPr lang="fr-BE" sz="900" i="1" dirty="0" err="1">
                <a:solidFill>
                  <a:srgbClr val="0070C0"/>
                </a:solidFill>
              </a:rPr>
              <a:t>System.Environment</a:t>
            </a:r>
            <a:r>
              <a:rPr lang="fr-BE" sz="900" i="1" dirty="0">
                <a:solidFill>
                  <a:srgbClr val="0070C0"/>
                </a:solidFill>
              </a:rPr>
              <a:t>]::</a:t>
            </a:r>
            <a:r>
              <a:rPr lang="fr-BE" sz="900" i="1" dirty="0" err="1">
                <a:solidFill>
                  <a:srgbClr val="0070C0"/>
                </a:solidFill>
              </a:rPr>
              <a:t>SetEnvironmentVariable</a:t>
            </a:r>
            <a:r>
              <a:rPr lang="fr-BE" sz="900" i="1" dirty="0">
                <a:solidFill>
                  <a:srgbClr val="0070C0"/>
                </a:solidFill>
              </a:rPr>
              <a:t>($matches[1], $matches[2], "Process")</a:t>
            </a:r>
          </a:p>
          <a:p>
            <a:r>
              <a:rPr lang="fr-BE" sz="900" i="1" dirty="0">
                <a:solidFill>
                  <a:srgbClr val="0070C0"/>
                </a:solidFill>
              </a:rPr>
              <a:t>    }</a:t>
            </a:r>
          </a:p>
          <a:p>
            <a:r>
              <a:rPr lang="fr-BE" sz="900" i="1" dirty="0">
                <a:solidFill>
                  <a:srgbClr val="0070C0"/>
                </a:solidFill>
              </a:rPr>
              <a:t>}</a:t>
            </a:r>
          </a:p>
          <a:p>
            <a:endParaRPr lang="fr-BE" sz="900" b="1" i="1" dirty="0">
              <a:solidFill>
                <a:srgbClr val="0070C0"/>
              </a:solidFill>
              <a:highlight>
                <a:srgbClr val="00FF00"/>
              </a:highlight>
            </a:endParaRPr>
          </a:p>
          <a:p>
            <a:r>
              <a:rPr lang="fr-BE" sz="1400" dirty="0"/>
              <a:t>E-/ Check </a:t>
            </a:r>
            <a:r>
              <a:rPr lang="fr-BE" sz="1400" dirty="0" err="1"/>
              <a:t>authe</a:t>
            </a:r>
            <a:r>
              <a:rPr lang="fr-BE" sz="1400" dirty="0"/>
              <a:t> </a:t>
            </a:r>
            <a:r>
              <a:rPr lang="fr-BE" sz="1400" dirty="0" err="1"/>
              <a:t>ntication</a:t>
            </a:r>
            <a:r>
              <a:rPr lang="fr-BE" sz="1400" dirty="0"/>
              <a:t> </a:t>
            </a:r>
          </a:p>
          <a:p>
            <a:r>
              <a:rPr lang="fr-BE" sz="1100" i="1" dirty="0" err="1">
                <a:solidFill>
                  <a:srgbClr val="0070C0"/>
                </a:solidFill>
              </a:rPr>
              <a:t>dbt</a:t>
            </a:r>
            <a:r>
              <a:rPr lang="fr-BE" sz="1100" i="1" dirty="0">
                <a:solidFill>
                  <a:srgbClr val="0070C0"/>
                </a:solidFill>
              </a:rPr>
              <a:t> </a:t>
            </a:r>
            <a:r>
              <a:rPr lang="fr-BE" sz="1100" i="1" dirty="0" err="1">
                <a:solidFill>
                  <a:srgbClr val="0070C0"/>
                </a:solidFill>
              </a:rPr>
              <a:t>debug</a:t>
            </a:r>
            <a:r>
              <a:rPr lang="fr-BE" sz="1100" i="1" dirty="0">
                <a:solidFill>
                  <a:srgbClr val="0070C0"/>
                </a:solidFill>
              </a:rPr>
              <a:t>      #(check </a:t>
            </a:r>
            <a:r>
              <a:rPr lang="fr-BE" sz="1100" i="1" dirty="0" err="1">
                <a:solidFill>
                  <a:srgbClr val="0070C0"/>
                </a:solidFill>
              </a:rPr>
              <a:t>authentication</a:t>
            </a:r>
            <a:r>
              <a:rPr lang="fr-BE" sz="1100" i="1" dirty="0">
                <a:solidFill>
                  <a:srgbClr val="0070C0"/>
                </a:solidFill>
              </a:rPr>
              <a:t>)</a:t>
            </a:r>
          </a:p>
          <a:p>
            <a:endParaRPr lang="fr-BE" sz="1100" i="1" dirty="0">
              <a:solidFill>
                <a:srgbClr val="0070C0"/>
              </a:solidFill>
            </a:endParaRPr>
          </a:p>
          <a:p>
            <a:r>
              <a:rPr lang="fr-BE" sz="1100" i="1" dirty="0">
                <a:solidFill>
                  <a:srgbClr val="0070C0"/>
                </a:solidFill>
              </a:rPr>
              <a:t>If output look like </a:t>
            </a:r>
            <a:r>
              <a:rPr lang="fr-BE" sz="1100" i="1" dirty="0" err="1">
                <a:solidFill>
                  <a:srgbClr val="0070C0"/>
                </a:solidFill>
              </a:rPr>
              <a:t>following</a:t>
            </a:r>
            <a:r>
              <a:rPr lang="fr-BE" sz="1100" i="1" dirty="0">
                <a:solidFill>
                  <a:srgbClr val="0070C0"/>
                </a:solidFill>
              </a:rPr>
              <a:t> , </a:t>
            </a:r>
            <a:r>
              <a:rPr lang="fr-BE" sz="1100" i="1" dirty="0" err="1">
                <a:solidFill>
                  <a:srgbClr val="0070C0"/>
                </a:solidFill>
              </a:rPr>
              <a:t>you</a:t>
            </a:r>
            <a:r>
              <a:rPr lang="fr-BE" sz="1100" i="1" dirty="0">
                <a:solidFill>
                  <a:srgbClr val="0070C0"/>
                </a:solidFill>
              </a:rPr>
              <a:t> are good </a:t>
            </a:r>
            <a:r>
              <a:rPr lang="fr-BE" sz="1100" i="1" dirty="0" err="1">
                <a:solidFill>
                  <a:srgbClr val="0070C0"/>
                </a:solidFill>
              </a:rPr>
              <a:t>done</a:t>
            </a:r>
            <a:r>
              <a:rPr lang="fr-BE" sz="1100" i="1" dirty="0">
                <a:solidFill>
                  <a:srgbClr val="0070C0"/>
                </a:solidFill>
              </a:rPr>
              <a:t> </a:t>
            </a:r>
            <a:r>
              <a:rPr lang="fr-BE" sz="1100" i="1" dirty="0" err="1">
                <a:solidFill>
                  <a:srgbClr val="0070C0"/>
                </a:solidFill>
              </a:rPr>
              <a:t>with</a:t>
            </a:r>
            <a:r>
              <a:rPr lang="fr-BE" sz="1100" i="1" dirty="0">
                <a:solidFill>
                  <a:srgbClr val="0070C0"/>
                </a:solidFill>
              </a:rPr>
              <a:t> the set up</a:t>
            </a:r>
          </a:p>
          <a:p>
            <a:endParaRPr lang="fr-BE" sz="1100" i="1" dirty="0">
              <a:solidFill>
                <a:srgbClr val="0070C0"/>
              </a:solidFill>
            </a:endParaRPr>
          </a:p>
          <a:p>
            <a:endParaRPr lang="fr-BE" sz="1100" b="1" i="1" dirty="0">
              <a:solidFill>
                <a:srgbClr val="0070C0"/>
              </a:solidFill>
            </a:endParaRPr>
          </a:p>
          <a:p>
            <a:endParaRPr lang="en-BE" sz="1100" i="1" dirty="0">
              <a:solidFill>
                <a:srgbClr val="0070C0"/>
              </a:solidFill>
              <a:highlight>
                <a:srgbClr val="00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25470-EE39-9875-ABBC-DB44DDFC2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2" y="3429000"/>
            <a:ext cx="5678422" cy="330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7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326A-B628-2D35-54AB-05106864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2895-E2DC-2261-4DAF-4052151E6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199" y="452120"/>
            <a:ext cx="8541173" cy="301414"/>
          </a:xfrm>
        </p:spPr>
        <p:txBody>
          <a:bodyPr>
            <a:noAutofit/>
          </a:bodyPr>
          <a:lstStyle/>
          <a:p>
            <a:r>
              <a:rPr lang="fr-BE" sz="2800" dirty="0" err="1"/>
              <a:t>Dbt_project.yml</a:t>
            </a:r>
            <a:endParaRPr lang="en-BE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367921-FB2E-0F45-1048-61B9900B6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56" y="130202"/>
            <a:ext cx="4183577" cy="47324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51A18A-2343-8DFD-F495-20EB667A75F2}"/>
              </a:ext>
            </a:extLst>
          </p:cNvPr>
          <p:cNvSpPr txBox="1"/>
          <p:nvPr/>
        </p:nvSpPr>
        <p:spPr>
          <a:xfrm>
            <a:off x="6646072" y="753534"/>
            <a:ext cx="579357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100" dirty="0" err="1"/>
              <a:t>Make</a:t>
            </a:r>
            <a:r>
              <a:rPr lang="fr-BE" sz="1100" dirty="0"/>
              <a:t> sure </a:t>
            </a:r>
            <a:r>
              <a:rPr lang="fr-BE" sz="1100" dirty="0" err="1"/>
              <a:t>models</a:t>
            </a:r>
            <a:r>
              <a:rPr lang="fr-BE" sz="1100" dirty="0"/>
              <a:t> </a:t>
            </a:r>
            <a:r>
              <a:rPr lang="fr-BE" sz="1100" dirty="0" err="1"/>
              <a:t>is</a:t>
            </a:r>
            <a:r>
              <a:rPr lang="fr-BE" sz="1100" dirty="0"/>
              <a:t> </a:t>
            </a:r>
            <a:r>
              <a:rPr lang="fr-BE" sz="1100" dirty="0" err="1"/>
              <a:t>filed</a:t>
            </a:r>
            <a:r>
              <a:rPr lang="fr-BE" sz="1100" dirty="0"/>
              <a:t> </a:t>
            </a:r>
            <a:r>
              <a:rPr lang="fr-BE" sz="1100" dirty="0" err="1"/>
              <a:t>exactly</a:t>
            </a:r>
            <a:r>
              <a:rPr lang="fr-BE" sz="1100" dirty="0"/>
              <a:t> like in </a:t>
            </a:r>
            <a:r>
              <a:rPr lang="fr-BE" sz="1100" dirty="0" err="1"/>
              <a:t>picture</a:t>
            </a:r>
            <a:r>
              <a:rPr lang="fr-BE" sz="1100" dirty="0"/>
              <a:t>  </a:t>
            </a:r>
            <a:r>
              <a:rPr lang="fr-BE" sz="1100" dirty="0">
                <a:highlight>
                  <a:srgbClr val="00FF00"/>
                </a:highlight>
              </a:rPr>
              <a:t> stage </a:t>
            </a:r>
            <a:r>
              <a:rPr lang="fr-BE" sz="1100" dirty="0"/>
              <a:t>–</a:t>
            </a:r>
            <a:r>
              <a:rPr lang="fr-BE" sz="1100" b="1" dirty="0">
                <a:highlight>
                  <a:srgbClr val="00FF00"/>
                </a:highlight>
              </a:rPr>
              <a:t> </a:t>
            </a:r>
            <a:r>
              <a:rPr lang="fr-BE" sz="1100" b="1" dirty="0" err="1">
                <a:highlight>
                  <a:srgbClr val="00FF00"/>
                </a:highlight>
              </a:rPr>
              <a:t>mart</a:t>
            </a:r>
            <a:r>
              <a:rPr lang="fr-BE" sz="1100" b="1" dirty="0">
                <a:highlight>
                  <a:srgbClr val="00FF00"/>
                </a:highlight>
              </a:rPr>
              <a:t>  </a:t>
            </a:r>
            <a:r>
              <a:rPr lang="fr-BE" sz="1100" dirty="0"/>
              <a:t>and </a:t>
            </a:r>
            <a:r>
              <a:rPr lang="fr-BE" sz="1100" dirty="0" err="1">
                <a:highlight>
                  <a:srgbClr val="00FF00"/>
                </a:highlight>
              </a:rPr>
              <a:t>seeds</a:t>
            </a:r>
            <a:r>
              <a:rPr lang="fr-BE" sz="1100" dirty="0">
                <a:highlight>
                  <a:srgbClr val="00FF00"/>
                </a:highlight>
              </a:rPr>
              <a:t>   </a:t>
            </a:r>
            <a:r>
              <a:rPr lang="fr-BE" sz="1100" dirty="0"/>
              <a:t>and </a:t>
            </a:r>
            <a:r>
              <a:rPr lang="fr-BE" sz="1100" dirty="0" err="1"/>
              <a:t>save</a:t>
            </a:r>
            <a:r>
              <a:rPr lang="fr-BE" sz="1100" dirty="0"/>
              <a:t> the file</a:t>
            </a:r>
          </a:p>
          <a:p>
            <a:endParaRPr lang="fr-BE" sz="1100" dirty="0"/>
          </a:p>
          <a:p>
            <a:r>
              <a:rPr lang="fr-BE" sz="1100" dirty="0" err="1"/>
              <a:t>Now</a:t>
            </a:r>
            <a:r>
              <a:rPr lang="fr-BE" sz="1100" dirty="0"/>
              <a:t> </a:t>
            </a:r>
            <a:r>
              <a:rPr lang="fr-BE" sz="1100" dirty="0">
                <a:highlight>
                  <a:srgbClr val="FFFF00"/>
                </a:highlight>
              </a:rPr>
              <a:t>Dag and </a:t>
            </a:r>
            <a:r>
              <a:rPr lang="fr-BE" sz="1100" dirty="0" err="1">
                <a:highlight>
                  <a:srgbClr val="FFFF00"/>
                </a:highlight>
              </a:rPr>
              <a:t>brop</a:t>
            </a:r>
            <a:r>
              <a:rPr lang="fr-BE" sz="1100" dirty="0">
                <a:highlight>
                  <a:srgbClr val="FFFF00"/>
                </a:highlight>
              </a:rPr>
              <a:t> </a:t>
            </a:r>
            <a:r>
              <a:rPr lang="fr-BE" sz="1100" dirty="0"/>
              <a:t>a file in the </a:t>
            </a:r>
            <a:r>
              <a:rPr lang="fr-BE" sz="1100" dirty="0" err="1"/>
              <a:t>seeds</a:t>
            </a:r>
            <a:r>
              <a:rPr lang="fr-BE" sz="1100" dirty="0"/>
              <a:t> section like </a:t>
            </a:r>
            <a:r>
              <a:rPr lang="fr-BE" sz="1100" dirty="0" err="1"/>
              <a:t>below</a:t>
            </a:r>
            <a:r>
              <a:rPr lang="fr-BE" sz="1100" dirty="0"/>
              <a:t>. And run the </a:t>
            </a:r>
            <a:r>
              <a:rPr lang="fr-BE" sz="1100" dirty="0" err="1"/>
              <a:t>following</a:t>
            </a:r>
            <a:r>
              <a:rPr lang="fr-BE" sz="1100" dirty="0"/>
              <a:t> in the terminal </a:t>
            </a:r>
          </a:p>
          <a:p>
            <a:r>
              <a:rPr lang="en-GB" sz="1100" dirty="0" err="1"/>
              <a:t>bt_Freshcart_project</a:t>
            </a:r>
            <a:r>
              <a:rPr lang="en-GB" sz="1100" dirty="0"/>
              <a:t>&gt; </a:t>
            </a:r>
            <a:r>
              <a:rPr lang="en-GB" sz="1100" b="1" i="1" dirty="0" err="1">
                <a:solidFill>
                  <a:srgbClr val="0070C0"/>
                </a:solidFill>
              </a:rPr>
              <a:t>dbt</a:t>
            </a:r>
            <a:r>
              <a:rPr lang="en-GB" sz="1100" b="1" i="1" dirty="0">
                <a:solidFill>
                  <a:srgbClr val="0070C0"/>
                </a:solidFill>
              </a:rPr>
              <a:t> seed</a:t>
            </a:r>
          </a:p>
          <a:p>
            <a:endParaRPr lang="fr-BE" sz="1100" b="1" i="1" dirty="0">
              <a:solidFill>
                <a:srgbClr val="0070C0"/>
              </a:solidFill>
            </a:endParaRPr>
          </a:p>
          <a:p>
            <a:r>
              <a:rPr lang="fr-BE" sz="1100" dirty="0"/>
              <a:t>Output </a:t>
            </a:r>
            <a:r>
              <a:rPr lang="fr-BE" sz="1100" dirty="0" err="1"/>
              <a:t>should</a:t>
            </a:r>
            <a:r>
              <a:rPr lang="fr-BE" sz="1100" dirty="0"/>
              <a:t> </a:t>
            </a:r>
            <a:r>
              <a:rPr lang="fr-BE" sz="1100" dirty="0" err="1"/>
              <a:t>be</a:t>
            </a:r>
            <a:r>
              <a:rPr lang="fr-BE" sz="1100" dirty="0"/>
              <a:t> :</a:t>
            </a:r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endParaRPr lang="fr-BE" sz="1100" dirty="0"/>
          </a:p>
          <a:p>
            <a:r>
              <a:rPr lang="en-GB" sz="1100" dirty="0"/>
              <a:t>Note : </a:t>
            </a:r>
            <a:r>
              <a:rPr lang="en-GB" sz="1100" dirty="0">
                <a:highlight>
                  <a:srgbClr val="FFFF00"/>
                </a:highlight>
              </a:rPr>
              <a:t>this the semi manual processing </a:t>
            </a:r>
            <a:r>
              <a:rPr lang="en-GB" sz="1100" dirty="0"/>
              <a:t>of the file </a:t>
            </a:r>
            <a:r>
              <a:rPr lang="en-GB" sz="1100" dirty="0" err="1"/>
              <a:t>wicth</a:t>
            </a:r>
            <a:r>
              <a:rPr lang="en-GB" sz="1100" dirty="0"/>
              <a:t> will populate the </a:t>
            </a:r>
            <a:r>
              <a:rPr lang="en-GB" sz="1100" dirty="0" err="1"/>
              <a:t>datawarese</a:t>
            </a:r>
            <a:r>
              <a:rPr lang="en-GB" sz="1100" dirty="0"/>
              <a:t> with</a:t>
            </a:r>
          </a:p>
          <a:p>
            <a:r>
              <a:rPr lang="en-GB" sz="1100" dirty="0"/>
              <a:t> a table named : </a:t>
            </a:r>
            <a:r>
              <a:rPr lang="en-GB" sz="1100" dirty="0" err="1"/>
              <a:t>dbo_raw.raw_sales_trabsactions</a:t>
            </a:r>
            <a:r>
              <a:rPr lang="en-GB" sz="1100" dirty="0"/>
              <a:t> </a:t>
            </a:r>
          </a:p>
          <a:p>
            <a:endParaRPr lang="en-GB" sz="1100" dirty="0"/>
          </a:p>
          <a:p>
            <a:r>
              <a:rPr lang="en-GB" sz="1100" dirty="0"/>
              <a:t>If we want to do the same thing using data already existing in the </a:t>
            </a:r>
            <a:r>
              <a:rPr lang="en-GB" sz="1100" dirty="0" err="1"/>
              <a:t>lakehouse</a:t>
            </a:r>
            <a:r>
              <a:rPr lang="en-GB" sz="1100" dirty="0"/>
              <a:t> (full automate</a:t>
            </a:r>
          </a:p>
          <a:p>
            <a:r>
              <a:rPr lang="en-GB" sz="1100" dirty="0"/>
              <a:t>Processing) we should use </a:t>
            </a:r>
            <a:r>
              <a:rPr lang="en-GB" sz="1100" b="1" dirty="0" err="1">
                <a:highlight>
                  <a:srgbClr val="FFFF00"/>
                </a:highlight>
              </a:rPr>
              <a:t>source.yml</a:t>
            </a:r>
            <a:r>
              <a:rPr lang="en-GB" sz="1100" b="1" dirty="0">
                <a:highlight>
                  <a:srgbClr val="FFFF00"/>
                </a:highlight>
              </a:rPr>
              <a:t> </a:t>
            </a:r>
            <a:r>
              <a:rPr lang="en-GB" sz="1100" dirty="0"/>
              <a:t>file </a:t>
            </a:r>
          </a:p>
          <a:p>
            <a:endParaRPr lang="en-GB" sz="1100" dirty="0"/>
          </a:p>
          <a:p>
            <a:endParaRPr lang="en-GB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302624-4DB2-2A53-CF4B-A7EDAE8B6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006" y="1197409"/>
            <a:ext cx="1988992" cy="35207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980405-3580-7F82-B77C-3760143C9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713" y="1921684"/>
            <a:ext cx="4387690" cy="4519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006ED9-2CE1-933A-8F33-2D52929572A0}"/>
              </a:ext>
            </a:extLst>
          </p:cNvPr>
          <p:cNvSpPr txBox="1"/>
          <p:nvPr/>
        </p:nvSpPr>
        <p:spPr>
          <a:xfrm>
            <a:off x="228600" y="5190067"/>
            <a:ext cx="6503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dirty="0" err="1"/>
              <a:t>Now</a:t>
            </a:r>
            <a:r>
              <a:rPr lang="fr-BE" sz="1200" dirty="0"/>
              <a:t> </a:t>
            </a:r>
          </a:p>
          <a:p>
            <a:r>
              <a:rPr lang="fr-BE" sz="1200" dirty="0"/>
              <a:t>1. </a:t>
            </a:r>
            <a:r>
              <a:rPr lang="fr-BE" sz="1200" dirty="0" err="1"/>
              <a:t>Create</a:t>
            </a:r>
            <a:r>
              <a:rPr lang="fr-BE" sz="1200" dirty="0"/>
              <a:t> 2 folders (</a:t>
            </a:r>
            <a:r>
              <a:rPr lang="fr-BE" sz="1200" b="1" i="1" dirty="0" err="1"/>
              <a:t>staging</a:t>
            </a:r>
            <a:r>
              <a:rPr lang="fr-BE" sz="1200" dirty="0"/>
              <a:t> , </a:t>
            </a:r>
            <a:r>
              <a:rPr lang="fr-BE" sz="1200" b="1" i="1" dirty="0" err="1"/>
              <a:t>mart</a:t>
            </a:r>
            <a:r>
              <a:rPr lang="fr-BE" sz="1200" dirty="0"/>
              <a:t> ) in the </a:t>
            </a:r>
            <a:r>
              <a:rPr lang="fr-BE" sz="1200" dirty="0" err="1"/>
              <a:t>models</a:t>
            </a:r>
            <a:r>
              <a:rPr lang="fr-BE" sz="1200" dirty="0"/>
              <a:t> folder  to </a:t>
            </a:r>
            <a:r>
              <a:rPr lang="fr-BE" sz="1200" dirty="0" err="1"/>
              <a:t>macth</a:t>
            </a:r>
            <a:r>
              <a:rPr lang="fr-BE" sz="1200" dirty="0"/>
              <a:t> </a:t>
            </a:r>
            <a:r>
              <a:rPr lang="fr-BE" sz="1200" dirty="0" err="1"/>
              <a:t>with</a:t>
            </a:r>
            <a:r>
              <a:rPr lang="fr-BE" sz="1200" dirty="0"/>
              <a:t> </a:t>
            </a:r>
            <a:r>
              <a:rPr lang="fr-BE" sz="1200" dirty="0" err="1"/>
              <a:t>project.yml</a:t>
            </a:r>
            <a:r>
              <a:rPr lang="fr-BE" sz="1200" dirty="0"/>
              <a:t> file 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39878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7BFB-1D00-51DA-B38E-B4BAD9AD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FFF13-1F55-2010-DD48-2EF33439E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266" y="189653"/>
            <a:ext cx="8541173" cy="301414"/>
          </a:xfrm>
        </p:spPr>
        <p:txBody>
          <a:bodyPr>
            <a:noAutofit/>
          </a:bodyPr>
          <a:lstStyle/>
          <a:p>
            <a:r>
              <a:rPr lang="fr-BE" sz="2800" dirty="0" err="1"/>
              <a:t>Dbt_project.yml</a:t>
            </a:r>
            <a:r>
              <a:rPr lang="fr-BE" sz="2800" dirty="0"/>
              <a:t> + </a:t>
            </a:r>
            <a:r>
              <a:rPr lang="fr-BE" sz="2800" dirty="0" err="1"/>
              <a:t>Source.yml</a:t>
            </a:r>
            <a:endParaRPr lang="en-B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8AA75-9CCE-9B33-D7BD-DD7AAB6C5085}"/>
              </a:ext>
            </a:extLst>
          </p:cNvPr>
          <p:cNvSpPr txBox="1"/>
          <p:nvPr/>
        </p:nvSpPr>
        <p:spPr>
          <a:xfrm>
            <a:off x="1540672" y="138006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100" dirty="0"/>
          </a:p>
          <a:p>
            <a:endParaRPr lang="en-GB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5AA01-169C-B554-FB5E-118F54133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91" y="544182"/>
            <a:ext cx="6473117" cy="2227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2A8257-EE88-01AF-9EA4-075328A6E018}"/>
              </a:ext>
            </a:extLst>
          </p:cNvPr>
          <p:cNvSpPr txBox="1"/>
          <p:nvPr/>
        </p:nvSpPr>
        <p:spPr>
          <a:xfrm>
            <a:off x="287867" y="3056467"/>
            <a:ext cx="7408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fr-BE" sz="1200" dirty="0"/>
              <a:t>The code </a:t>
            </a:r>
            <a:r>
              <a:rPr lang="fr-BE" sz="1200" dirty="0" err="1"/>
              <a:t>inside</a:t>
            </a:r>
            <a:r>
              <a:rPr lang="fr-BE" sz="1200" dirty="0"/>
              <a:t> </a:t>
            </a:r>
            <a:r>
              <a:rPr lang="fr-BE" sz="1200" dirty="0" err="1"/>
              <a:t>this</a:t>
            </a:r>
            <a:r>
              <a:rPr lang="fr-BE" sz="1200" dirty="0"/>
              <a:t> file look like </a:t>
            </a:r>
            <a:r>
              <a:rPr lang="fr-BE" sz="1200" dirty="0" err="1"/>
              <a:t>this</a:t>
            </a:r>
            <a:r>
              <a:rPr lang="fr-BE" sz="1200" dirty="0"/>
              <a:t> : </a:t>
            </a:r>
            <a:r>
              <a:rPr lang="fr-BE" sz="1200" dirty="0" err="1"/>
              <a:t>with</a:t>
            </a:r>
            <a:r>
              <a:rPr lang="fr-BE" sz="1200" dirty="0"/>
              <a:t> the </a:t>
            </a:r>
            <a:r>
              <a:rPr lang="fr-BE" sz="1200" dirty="0" err="1"/>
              <a:t>soure</a:t>
            </a:r>
            <a:r>
              <a:rPr lang="fr-BE" sz="1200" dirty="0"/>
              <a:t> </a:t>
            </a:r>
            <a:r>
              <a:rPr lang="fr-BE" sz="1200" dirty="0" err="1"/>
              <a:t>name</a:t>
            </a:r>
            <a:r>
              <a:rPr lang="fr-BE" sz="1200" dirty="0"/>
              <a:t>  , </a:t>
            </a:r>
            <a:r>
              <a:rPr lang="fr-BE" sz="1200" dirty="0" err="1"/>
              <a:t>schema</a:t>
            </a:r>
            <a:r>
              <a:rPr lang="fr-BE" sz="1200" dirty="0"/>
              <a:t> , </a:t>
            </a:r>
            <a:r>
              <a:rPr lang="fr-BE" sz="1200" dirty="0" err="1"/>
              <a:t>database</a:t>
            </a:r>
            <a:r>
              <a:rPr lang="fr-BE" sz="1200" dirty="0"/>
              <a:t>  and all the </a:t>
            </a:r>
            <a:r>
              <a:rPr lang="fr-BE" sz="1200" dirty="0" err="1"/>
              <a:t>needed</a:t>
            </a:r>
            <a:r>
              <a:rPr lang="fr-BE" sz="1200" dirty="0"/>
              <a:t> table </a:t>
            </a:r>
            <a:r>
              <a:rPr lang="fr-BE" sz="1200" dirty="0" err="1"/>
              <a:t>exalple</a:t>
            </a:r>
            <a:r>
              <a:rPr lang="fr-BE" sz="1200" dirty="0"/>
              <a:t> </a:t>
            </a:r>
            <a:r>
              <a:rPr lang="fr-BE" sz="1200" b="1" i="1" dirty="0" err="1"/>
              <a:t>raw_prodiucts</a:t>
            </a:r>
            <a:endParaRPr lang="fr-BE" sz="1200" b="1" i="1" dirty="0"/>
          </a:p>
          <a:p>
            <a:pPr marL="228600" indent="-228600">
              <a:buFont typeface="+mj-lt"/>
              <a:buAutoNum type="arabicPeriod"/>
            </a:pPr>
            <a:r>
              <a:rPr lang="fr-BE" sz="1200" dirty="0" err="1"/>
              <a:t>Create</a:t>
            </a:r>
            <a:r>
              <a:rPr lang="fr-BE" sz="1200" b="1" i="1" dirty="0"/>
              <a:t> </a:t>
            </a:r>
            <a:r>
              <a:rPr lang="fr-BE" sz="1200" b="1" i="1" dirty="0" err="1"/>
              <a:t>stg_customers.sql</a:t>
            </a:r>
            <a:r>
              <a:rPr lang="fr-BE" sz="1200" b="1" i="1" dirty="0"/>
              <a:t>  </a:t>
            </a:r>
            <a:r>
              <a:rPr lang="fr-BE" sz="1200" dirty="0" err="1"/>
              <a:t>witch</a:t>
            </a:r>
            <a:r>
              <a:rPr lang="fr-BE" sz="1200" dirty="0"/>
              <a:t> </a:t>
            </a:r>
            <a:r>
              <a:rPr lang="fr-BE" sz="1200" dirty="0" err="1"/>
              <a:t>will</a:t>
            </a:r>
            <a:r>
              <a:rPr lang="fr-BE" sz="1200" dirty="0"/>
              <a:t> </a:t>
            </a:r>
            <a:r>
              <a:rPr lang="fr-BE" sz="1200" dirty="0" err="1"/>
              <a:t>contains</a:t>
            </a:r>
            <a:r>
              <a:rPr lang="fr-BE" sz="1200" dirty="0"/>
              <a:t> the </a:t>
            </a:r>
            <a:r>
              <a:rPr lang="fr-BE" sz="1200" dirty="0" err="1"/>
              <a:t>sql</a:t>
            </a:r>
            <a:r>
              <a:rPr lang="fr-BE" sz="1200" dirty="0"/>
              <a:t> </a:t>
            </a:r>
            <a:r>
              <a:rPr lang="fr-BE" sz="1200" dirty="0" err="1"/>
              <a:t>statement</a:t>
            </a:r>
            <a:r>
              <a:rPr lang="fr-BE" sz="1200" dirty="0"/>
              <a:t> </a:t>
            </a:r>
            <a:endParaRPr lang="en-BE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67BECC-4B1F-3D3D-9B25-BBEBF79A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79" y="3807380"/>
            <a:ext cx="4610910" cy="30236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CB9702-73DA-FD0C-8758-7472ED5BB97B}"/>
              </a:ext>
            </a:extLst>
          </p:cNvPr>
          <p:cNvSpPr txBox="1"/>
          <p:nvPr/>
        </p:nvSpPr>
        <p:spPr>
          <a:xfrm>
            <a:off x="5903408" y="4878754"/>
            <a:ext cx="5645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dirty="0"/>
              <a:t>3. Building </a:t>
            </a:r>
            <a:r>
              <a:rPr lang="fr-BE" sz="1200" dirty="0" err="1"/>
              <a:t>this</a:t>
            </a:r>
            <a:r>
              <a:rPr lang="fr-BE" sz="1200" dirty="0"/>
              <a:t> in the terminal </a:t>
            </a:r>
            <a:r>
              <a:rPr lang="fr-BE" sz="1200" dirty="0" err="1"/>
              <a:t>will</a:t>
            </a:r>
            <a:r>
              <a:rPr lang="fr-BE" sz="1200" dirty="0"/>
              <a:t> </a:t>
            </a:r>
            <a:r>
              <a:rPr lang="fr-BE" sz="1200" dirty="0" err="1"/>
              <a:t>create</a:t>
            </a:r>
            <a:r>
              <a:rPr lang="fr-BE" sz="1200" dirty="0"/>
              <a:t> a new table </a:t>
            </a:r>
            <a:r>
              <a:rPr lang="fr-BE" sz="1200" dirty="0" err="1"/>
              <a:t>into</a:t>
            </a:r>
            <a:r>
              <a:rPr lang="fr-BE" sz="1200" dirty="0"/>
              <a:t> the datawarehouse</a:t>
            </a:r>
          </a:p>
          <a:p>
            <a:endParaRPr lang="fr-BE" sz="1200" dirty="0"/>
          </a:p>
          <a:p>
            <a:endParaRPr lang="fr-BE" sz="1200" dirty="0"/>
          </a:p>
          <a:p>
            <a:r>
              <a:rPr lang="fr-BE" sz="1200" dirty="0"/>
              <a:t>Note : </a:t>
            </a:r>
          </a:p>
          <a:p>
            <a:r>
              <a:rPr lang="fr-BE" sz="1200" b="1" i="1" dirty="0" err="1"/>
              <a:t>source.yml</a:t>
            </a:r>
            <a:r>
              <a:rPr lang="fr-BE" sz="1200" b="1" i="1" dirty="0"/>
              <a:t>   </a:t>
            </a:r>
            <a:r>
              <a:rPr lang="fr-BE" sz="1200" dirty="0"/>
              <a:t>(</a:t>
            </a:r>
            <a:r>
              <a:rPr lang="fr-BE" sz="1200" dirty="0" err="1"/>
              <a:t>define</a:t>
            </a:r>
            <a:r>
              <a:rPr lang="fr-BE" sz="1200" dirty="0"/>
              <a:t> de source of data)</a:t>
            </a:r>
          </a:p>
          <a:p>
            <a:r>
              <a:rPr lang="fr-BE" sz="1200" b="1" i="1" dirty="0" err="1"/>
              <a:t>dbt_projrct.yml</a:t>
            </a:r>
            <a:r>
              <a:rPr lang="fr-BE" sz="1200" b="1" i="1" dirty="0"/>
              <a:t> </a:t>
            </a:r>
            <a:r>
              <a:rPr lang="fr-BE" sz="1200" dirty="0"/>
              <a:t>( </a:t>
            </a:r>
            <a:r>
              <a:rPr lang="fr-BE" sz="1200" dirty="0" err="1"/>
              <a:t>define</a:t>
            </a:r>
            <a:r>
              <a:rPr lang="fr-BE" sz="1200" dirty="0"/>
              <a:t> the destination )</a:t>
            </a:r>
          </a:p>
          <a:p>
            <a:endParaRPr lang="fr-BE" sz="1200" dirty="0"/>
          </a:p>
          <a:p>
            <a:r>
              <a:rPr lang="fr-BE" sz="1200" dirty="0" err="1"/>
              <a:t>Make</a:t>
            </a:r>
            <a:r>
              <a:rPr lang="fr-BE" sz="1200" dirty="0"/>
              <a:t> sure the are </a:t>
            </a:r>
            <a:r>
              <a:rPr lang="fr-BE" sz="1200" dirty="0" err="1"/>
              <a:t>present</a:t>
            </a:r>
            <a:r>
              <a:rPr lang="fr-BE" sz="1200" dirty="0"/>
              <a:t> and good </a:t>
            </a:r>
            <a:r>
              <a:rPr lang="fr-BE" sz="1200" dirty="0" err="1"/>
              <a:t>configured</a:t>
            </a:r>
            <a:r>
              <a:rPr lang="fr-BE" sz="1200" dirty="0"/>
              <a:t>.</a:t>
            </a:r>
            <a:endParaRPr lang="en-BE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289943-47CA-35DA-6DF4-1563BCAA67C0}"/>
              </a:ext>
            </a:extLst>
          </p:cNvPr>
          <p:cNvSpPr txBox="1"/>
          <p:nvPr/>
        </p:nvSpPr>
        <p:spPr>
          <a:xfrm>
            <a:off x="7052733" y="745067"/>
            <a:ext cx="3996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dirty="0"/>
              <a:t>0. </a:t>
            </a:r>
            <a:r>
              <a:rPr lang="fr-BE" sz="1200" dirty="0" err="1"/>
              <a:t>Create</a:t>
            </a:r>
            <a:r>
              <a:rPr lang="fr-BE" sz="1200" dirty="0"/>
              <a:t> a </a:t>
            </a:r>
            <a:r>
              <a:rPr lang="fr-BE" sz="1200" b="1" i="1" dirty="0" err="1"/>
              <a:t>source.yml</a:t>
            </a:r>
            <a:r>
              <a:rPr lang="fr-BE" sz="1200" b="1" i="1" dirty="0"/>
              <a:t> </a:t>
            </a:r>
            <a:r>
              <a:rPr lang="fr-BE" sz="1200" dirty="0"/>
              <a:t>file in the </a:t>
            </a:r>
            <a:r>
              <a:rPr lang="fr-BE" sz="1200" dirty="0" err="1"/>
              <a:t>staging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00409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DE27-C4EC-1533-6F3C-FB3C7D50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BAF8-2BA3-F9B8-45C5-58E234EB0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186101"/>
            <a:ext cx="8541173" cy="301414"/>
          </a:xfrm>
        </p:spPr>
        <p:txBody>
          <a:bodyPr>
            <a:noAutofit/>
          </a:bodyPr>
          <a:lstStyle/>
          <a:p>
            <a:r>
              <a:rPr lang="fr-BE" sz="2800" dirty="0"/>
              <a:t>Use </a:t>
            </a:r>
            <a:r>
              <a:rPr lang="fr-BE" sz="2800" dirty="0" err="1"/>
              <a:t>dbt</a:t>
            </a:r>
            <a:r>
              <a:rPr lang="fr-BE" sz="2800" dirty="0"/>
              <a:t> </a:t>
            </a:r>
            <a:r>
              <a:rPr lang="fr-BE" sz="2800" dirty="0" err="1"/>
              <a:t>project</a:t>
            </a:r>
            <a:r>
              <a:rPr lang="fr-BE" sz="2800" dirty="0"/>
              <a:t> and </a:t>
            </a:r>
            <a:r>
              <a:rPr lang="fr-BE" sz="2800" dirty="0" err="1"/>
              <a:t>venv</a:t>
            </a:r>
            <a:r>
              <a:rPr lang="fr-BE" sz="2800" dirty="0"/>
              <a:t> </a:t>
            </a:r>
            <a:r>
              <a:rPr lang="fr-BE" sz="2800" dirty="0" err="1"/>
              <a:t>exists</a:t>
            </a:r>
            <a:endParaRPr lang="en-B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4152C-3A65-4D76-CB7C-7FEF7FE4B30F}"/>
              </a:ext>
            </a:extLst>
          </p:cNvPr>
          <p:cNvSpPr txBox="1"/>
          <p:nvPr/>
        </p:nvSpPr>
        <p:spPr>
          <a:xfrm>
            <a:off x="1540672" y="138006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100" dirty="0"/>
          </a:p>
          <a:p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947FF-CB07-E088-43F4-E31697E1DB79}"/>
              </a:ext>
            </a:extLst>
          </p:cNvPr>
          <p:cNvSpPr txBox="1"/>
          <p:nvPr/>
        </p:nvSpPr>
        <p:spPr>
          <a:xfrm>
            <a:off x="110067" y="736600"/>
            <a:ext cx="1136649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fr-BE" sz="1200" dirty="0"/>
              <a:t>Start </a:t>
            </a:r>
            <a:r>
              <a:rPr lang="fr-BE" sz="1200" dirty="0" err="1"/>
              <a:t>Venv</a:t>
            </a:r>
            <a:r>
              <a:rPr lang="fr-BE" sz="1200" dirty="0"/>
              <a:t> :   </a:t>
            </a:r>
            <a:r>
              <a:rPr lang="fr-BE" sz="1200" dirty="0" err="1"/>
              <a:t>from</a:t>
            </a:r>
            <a:r>
              <a:rPr lang="fr-BE" sz="1200" dirty="0"/>
              <a:t> the top </a:t>
            </a:r>
            <a:r>
              <a:rPr lang="fr-BE" sz="1200" dirty="0" err="1"/>
              <a:t>project</a:t>
            </a:r>
            <a:r>
              <a:rPr lang="fr-BE" sz="1200" dirty="0"/>
              <a:t> run the </a:t>
            </a:r>
            <a:r>
              <a:rPr lang="fr-BE" sz="1200" dirty="0" err="1"/>
              <a:t>following</a:t>
            </a:r>
            <a:r>
              <a:rPr lang="fr-BE" sz="1200" dirty="0"/>
              <a:t> :</a:t>
            </a:r>
          </a:p>
          <a:p>
            <a:r>
              <a:rPr lang="fr-BE" sz="1200" dirty="0"/>
              <a:t>  </a:t>
            </a:r>
            <a:r>
              <a:rPr lang="fr-BE" sz="1100" i="1" dirty="0">
                <a:solidFill>
                  <a:srgbClr val="FFC000"/>
                </a:solidFill>
              </a:rPr>
              <a:t>&amp;</a:t>
            </a:r>
            <a:r>
              <a:rPr lang="fr-BE" sz="1200" dirty="0"/>
              <a:t> </a:t>
            </a:r>
            <a:r>
              <a:rPr lang="fr-BE" sz="1100" i="1" dirty="0">
                <a:solidFill>
                  <a:srgbClr val="0070C0"/>
                </a:solidFill>
              </a:rPr>
              <a:t>"c:/Users/oumar.coulibaly/Documents/VS Code Workspace/DBT-</a:t>
            </a:r>
            <a:r>
              <a:rPr lang="fr-BE" sz="1100" i="1" dirty="0" err="1">
                <a:solidFill>
                  <a:srgbClr val="0070C0"/>
                </a:solidFill>
              </a:rPr>
              <a:t>frechCart</a:t>
            </a:r>
            <a:r>
              <a:rPr lang="fr-BE" sz="1100" i="1" dirty="0">
                <a:solidFill>
                  <a:srgbClr val="0070C0"/>
                </a:solidFill>
              </a:rPr>
              <a:t>/</a:t>
            </a:r>
            <a:r>
              <a:rPr lang="fr-BE" sz="1100" i="1" dirty="0" err="1">
                <a:solidFill>
                  <a:srgbClr val="0070C0"/>
                </a:solidFill>
              </a:rPr>
              <a:t>dbt-env</a:t>
            </a:r>
            <a:r>
              <a:rPr lang="fr-BE" sz="1100" i="1" dirty="0">
                <a:solidFill>
                  <a:srgbClr val="0070C0"/>
                </a:solidFill>
              </a:rPr>
              <a:t>/Scripts/Activate.ps1"</a:t>
            </a:r>
            <a:r>
              <a:rPr lang="fr-BE" sz="1200" dirty="0"/>
              <a:t>   </a:t>
            </a:r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endParaRPr lang="fr-BE" sz="1200" dirty="0"/>
          </a:p>
          <a:p>
            <a:r>
              <a:rPr lang="fr-BE" sz="1200" dirty="0"/>
              <a:t>2.   </a:t>
            </a:r>
            <a:r>
              <a:rPr lang="fr-BE" sz="1200" dirty="0" err="1"/>
              <a:t>Authentication</a:t>
            </a:r>
            <a:r>
              <a:rPr lang="fr-BE" sz="1200" dirty="0"/>
              <a:t>  to </a:t>
            </a:r>
            <a:r>
              <a:rPr lang="fr-BE" sz="1200" dirty="0" err="1"/>
              <a:t>you</a:t>
            </a:r>
            <a:r>
              <a:rPr lang="fr-BE" sz="1200" dirty="0"/>
              <a:t> </a:t>
            </a:r>
            <a:r>
              <a:rPr lang="fr-BE" sz="1200" dirty="0" err="1"/>
              <a:t>fabric</a:t>
            </a:r>
            <a:r>
              <a:rPr lang="fr-BE" sz="1200" dirty="0"/>
              <a:t> : </a:t>
            </a:r>
          </a:p>
          <a:p>
            <a:r>
              <a:rPr lang="fr-BE" sz="1200" i="1" dirty="0" err="1">
                <a:solidFill>
                  <a:srgbClr val="0070C0"/>
                </a:solidFill>
              </a:rPr>
              <a:t>Get</a:t>
            </a:r>
            <a:r>
              <a:rPr lang="fr-BE" sz="1200" i="1" dirty="0">
                <a:solidFill>
                  <a:srgbClr val="0070C0"/>
                </a:solidFill>
              </a:rPr>
              <a:t>-Content .</a:t>
            </a:r>
            <a:r>
              <a:rPr lang="fr-BE" sz="1200" i="1" dirty="0" err="1">
                <a:solidFill>
                  <a:srgbClr val="0070C0"/>
                </a:solidFill>
              </a:rPr>
              <a:t>env</a:t>
            </a:r>
            <a:r>
              <a:rPr lang="fr-BE" sz="1200" i="1" dirty="0">
                <a:solidFill>
                  <a:srgbClr val="0070C0"/>
                </a:solidFill>
              </a:rPr>
              <a:t> | </a:t>
            </a:r>
            <a:r>
              <a:rPr lang="fr-BE" sz="1200" i="1" dirty="0" err="1">
                <a:solidFill>
                  <a:srgbClr val="0070C0"/>
                </a:solidFill>
              </a:rPr>
              <a:t>ForEach</a:t>
            </a:r>
            <a:r>
              <a:rPr lang="fr-BE" sz="1200" i="1" dirty="0">
                <a:solidFill>
                  <a:srgbClr val="0070C0"/>
                </a:solidFill>
              </a:rPr>
              <a:t>-Object {</a:t>
            </a:r>
          </a:p>
          <a:p>
            <a:r>
              <a:rPr lang="fr-BE" sz="1200" i="1" dirty="0">
                <a:solidFill>
                  <a:srgbClr val="0070C0"/>
                </a:solidFill>
              </a:rPr>
              <a:t>    if ($_ -match "^(.*?)=(.*)$") {</a:t>
            </a:r>
          </a:p>
          <a:p>
            <a:r>
              <a:rPr lang="fr-BE" sz="1200" i="1" dirty="0">
                <a:solidFill>
                  <a:srgbClr val="0070C0"/>
                </a:solidFill>
              </a:rPr>
              <a:t>        [</a:t>
            </a:r>
            <a:r>
              <a:rPr lang="fr-BE" sz="1200" i="1" dirty="0" err="1">
                <a:solidFill>
                  <a:srgbClr val="0070C0"/>
                </a:solidFill>
              </a:rPr>
              <a:t>System.Environment</a:t>
            </a:r>
            <a:r>
              <a:rPr lang="fr-BE" sz="1200" i="1" dirty="0">
                <a:solidFill>
                  <a:srgbClr val="0070C0"/>
                </a:solidFill>
              </a:rPr>
              <a:t>]::</a:t>
            </a:r>
            <a:r>
              <a:rPr lang="fr-BE" sz="1200" i="1" dirty="0" err="1">
                <a:solidFill>
                  <a:srgbClr val="0070C0"/>
                </a:solidFill>
              </a:rPr>
              <a:t>SetEnvironmentVariable</a:t>
            </a:r>
            <a:r>
              <a:rPr lang="fr-BE" sz="1200" i="1" dirty="0">
                <a:solidFill>
                  <a:srgbClr val="0070C0"/>
                </a:solidFill>
              </a:rPr>
              <a:t>($matches[1], $matches[2], "Process")</a:t>
            </a:r>
          </a:p>
          <a:p>
            <a:r>
              <a:rPr lang="fr-BE" sz="1200" i="1" dirty="0">
                <a:solidFill>
                  <a:srgbClr val="0070C0"/>
                </a:solidFill>
              </a:rPr>
              <a:t>    }</a:t>
            </a:r>
          </a:p>
          <a:p>
            <a:r>
              <a:rPr lang="fr-BE" sz="1200" i="1" dirty="0">
                <a:solidFill>
                  <a:srgbClr val="0070C0"/>
                </a:solidFill>
              </a:rPr>
              <a:t>}</a:t>
            </a:r>
          </a:p>
          <a:p>
            <a:endParaRPr lang="fr-BE" sz="1200" i="1" dirty="0">
              <a:solidFill>
                <a:srgbClr val="0070C0"/>
              </a:solidFill>
            </a:endParaRPr>
          </a:p>
          <a:p>
            <a:r>
              <a:rPr lang="en-GB" sz="1200" dirty="0">
                <a:solidFill>
                  <a:srgbClr val="00B050"/>
                </a:solidFill>
              </a:rPr>
              <a:t>3. </a:t>
            </a:r>
            <a:r>
              <a:rPr lang="en-GB" sz="1200" b="1" i="1" dirty="0" err="1">
                <a:solidFill>
                  <a:srgbClr val="002060"/>
                </a:solidFill>
              </a:rPr>
              <a:t>dbt</a:t>
            </a:r>
            <a:r>
              <a:rPr lang="en-GB" sz="1200" b="1" i="1" dirty="0">
                <a:solidFill>
                  <a:srgbClr val="002060"/>
                </a:solidFill>
              </a:rPr>
              <a:t> run </a:t>
            </a:r>
            <a:r>
              <a:rPr lang="en-GB" sz="1200" dirty="0">
                <a:solidFill>
                  <a:srgbClr val="FFC000"/>
                </a:solidFill>
              </a:rPr>
              <a:t>--select </a:t>
            </a:r>
            <a:r>
              <a:rPr lang="en-GB" sz="1200" dirty="0" err="1">
                <a:solidFill>
                  <a:srgbClr val="FFC000"/>
                </a:solidFill>
              </a:rPr>
              <a:t>dim_customer</a:t>
            </a:r>
            <a:r>
              <a:rPr lang="en-GB" sz="1200" dirty="0">
                <a:solidFill>
                  <a:srgbClr val="FFC000"/>
                </a:solidFill>
              </a:rPr>
              <a:t>                     </a:t>
            </a:r>
            <a:r>
              <a:rPr lang="en-GB" sz="1200" dirty="0">
                <a:solidFill>
                  <a:srgbClr val="00B050"/>
                </a:solidFill>
              </a:rPr>
              <a:t>#(see table exist after crating </a:t>
            </a:r>
            <a:r>
              <a:rPr lang="en-GB" sz="1200" dirty="0" err="1">
                <a:solidFill>
                  <a:srgbClr val="00B050"/>
                </a:solidFill>
              </a:rPr>
              <a:t>sql</a:t>
            </a:r>
            <a:r>
              <a:rPr lang="en-GB" sz="1200" dirty="0">
                <a:solidFill>
                  <a:srgbClr val="00B050"/>
                </a:solidFill>
              </a:rPr>
              <a:t> file )</a:t>
            </a:r>
            <a:endParaRPr lang="fr-BE" sz="1200" dirty="0"/>
          </a:p>
          <a:p>
            <a:r>
              <a:rPr lang="fr-BE" sz="1200" dirty="0"/>
              <a:t>4. </a:t>
            </a:r>
            <a:r>
              <a:rPr lang="en-GB" sz="1200" b="1" i="1" dirty="0" err="1">
                <a:solidFill>
                  <a:srgbClr val="002060"/>
                </a:solidFill>
              </a:rPr>
              <a:t>dbt</a:t>
            </a:r>
            <a:r>
              <a:rPr lang="en-GB" sz="1200" b="1" i="1" dirty="0">
                <a:solidFill>
                  <a:srgbClr val="002060"/>
                </a:solidFill>
              </a:rPr>
              <a:t> show </a:t>
            </a:r>
            <a:r>
              <a:rPr lang="en-GB" sz="1200" dirty="0">
                <a:solidFill>
                  <a:srgbClr val="FFC000"/>
                </a:solidFill>
              </a:rPr>
              <a:t>--select </a:t>
            </a:r>
            <a:r>
              <a:rPr lang="en-GB" sz="1200" dirty="0" err="1">
                <a:solidFill>
                  <a:srgbClr val="FFC000"/>
                </a:solidFill>
              </a:rPr>
              <a:t>stg_customers</a:t>
            </a:r>
            <a:r>
              <a:rPr lang="en-GB" sz="1200" dirty="0">
                <a:solidFill>
                  <a:srgbClr val="FFC000"/>
                </a:solidFill>
              </a:rPr>
              <a:t>                         </a:t>
            </a:r>
            <a:r>
              <a:rPr lang="en-GB" sz="1200" dirty="0">
                <a:solidFill>
                  <a:srgbClr val="00B050"/>
                </a:solidFill>
              </a:rPr>
              <a:t>#(see table values)</a:t>
            </a:r>
            <a:endParaRPr lang="fr-BE" sz="1200" dirty="0">
              <a:solidFill>
                <a:srgbClr val="00B050"/>
              </a:solidFill>
            </a:endParaRPr>
          </a:p>
          <a:p>
            <a:r>
              <a:rPr lang="fr-BE" sz="1200" dirty="0"/>
              <a:t>5. </a:t>
            </a:r>
            <a:r>
              <a:rPr lang="en-GB" sz="1200" b="1" i="1" dirty="0" err="1">
                <a:solidFill>
                  <a:srgbClr val="002060"/>
                </a:solidFill>
              </a:rPr>
              <a:t>dbt</a:t>
            </a:r>
            <a:r>
              <a:rPr lang="en-GB" sz="1200" b="1" i="1" dirty="0">
                <a:solidFill>
                  <a:srgbClr val="002060"/>
                </a:solidFill>
              </a:rPr>
              <a:t> test </a:t>
            </a:r>
            <a:r>
              <a:rPr lang="en-GB" sz="1200" i="1" dirty="0">
                <a:solidFill>
                  <a:srgbClr val="FFC000"/>
                </a:solidFill>
              </a:rPr>
              <a:t>--select </a:t>
            </a:r>
            <a:r>
              <a:rPr lang="en-GB" sz="1200" i="1" dirty="0" err="1">
                <a:solidFill>
                  <a:srgbClr val="FFC000"/>
                </a:solidFill>
              </a:rPr>
              <a:t>stg_customers</a:t>
            </a:r>
            <a:r>
              <a:rPr lang="en-GB" sz="1200" i="1" dirty="0">
                <a:solidFill>
                  <a:srgbClr val="FFC000"/>
                </a:solidFill>
              </a:rPr>
              <a:t> </a:t>
            </a:r>
            <a:r>
              <a:rPr lang="en-GB" sz="1200" i="1" dirty="0" err="1">
                <a:solidFill>
                  <a:srgbClr val="FFC000"/>
                </a:solidFill>
              </a:rPr>
              <a:t>stg_sales</a:t>
            </a:r>
            <a:r>
              <a:rPr lang="en-GB" sz="1200" i="1" dirty="0">
                <a:solidFill>
                  <a:srgbClr val="FFC000"/>
                </a:solidFill>
              </a:rPr>
              <a:t>    </a:t>
            </a:r>
            <a:r>
              <a:rPr lang="en-GB" sz="1200" dirty="0">
                <a:solidFill>
                  <a:srgbClr val="00B050"/>
                </a:solidFill>
              </a:rPr>
              <a:t>#(run some test on </a:t>
            </a:r>
            <a:r>
              <a:rPr lang="en-GB" sz="1200" dirty="0" err="1">
                <a:solidFill>
                  <a:srgbClr val="00B050"/>
                </a:solidFill>
              </a:rPr>
              <a:t>stg_customer</a:t>
            </a:r>
            <a:r>
              <a:rPr lang="en-GB" sz="1200" dirty="0">
                <a:solidFill>
                  <a:srgbClr val="00B050"/>
                </a:solidFill>
              </a:rPr>
              <a:t> and </a:t>
            </a:r>
            <a:r>
              <a:rPr lang="en-GB" sz="1200" dirty="0" err="1">
                <a:solidFill>
                  <a:srgbClr val="00B050"/>
                </a:solidFill>
              </a:rPr>
              <a:t>stg_sales</a:t>
            </a:r>
            <a:r>
              <a:rPr lang="en-GB" sz="1200" dirty="0">
                <a:solidFill>
                  <a:srgbClr val="00B050"/>
                </a:solidFill>
              </a:rPr>
              <a:t>  see staging/</a:t>
            </a:r>
            <a:r>
              <a:rPr lang="en-GB" sz="1200" b="1" i="1" dirty="0" err="1">
                <a:solidFill>
                  <a:srgbClr val="00B050"/>
                </a:solidFill>
              </a:rPr>
              <a:t>schema.yml</a:t>
            </a:r>
            <a:r>
              <a:rPr lang="en-GB" sz="1200" b="1" i="1" dirty="0">
                <a:solidFill>
                  <a:srgbClr val="00B050"/>
                </a:solidFill>
              </a:rPr>
              <a:t> </a:t>
            </a:r>
            <a:r>
              <a:rPr lang="en-GB" sz="1200" dirty="0">
                <a:solidFill>
                  <a:srgbClr val="00B050"/>
                </a:solidFill>
              </a:rPr>
              <a:t>)</a:t>
            </a:r>
          </a:p>
          <a:p>
            <a:endParaRPr lang="fr-BE" sz="1200" i="1" dirty="0">
              <a:solidFill>
                <a:srgbClr val="FFC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BE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380D39-BF29-C78F-553F-E1C2EADF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4" y="1316166"/>
            <a:ext cx="986875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6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3577-00B2-BA70-99A8-465EB889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2DF8-E6AD-6488-88FB-69D55F60B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73048"/>
            <a:ext cx="8541173" cy="414467"/>
          </a:xfrm>
        </p:spPr>
        <p:txBody>
          <a:bodyPr>
            <a:noAutofit/>
          </a:bodyPr>
          <a:lstStyle/>
          <a:p>
            <a:r>
              <a:rPr lang="fr-BE" sz="2400" dirty="0" err="1"/>
              <a:t>Implemenation</a:t>
            </a:r>
            <a:r>
              <a:rPr lang="fr-BE" sz="2400" dirty="0"/>
              <a:t> </a:t>
            </a:r>
            <a:r>
              <a:rPr lang="fr-BE" sz="2400" b="1" i="1" dirty="0"/>
              <a:t>.</a:t>
            </a:r>
            <a:r>
              <a:rPr lang="fr-BE" sz="2400" b="1" i="1" dirty="0" err="1"/>
              <a:t>env</a:t>
            </a:r>
            <a:r>
              <a:rPr lang="fr-BE" sz="2400" b="1" i="1" dirty="0"/>
              <a:t> </a:t>
            </a:r>
            <a:r>
              <a:rPr lang="fr-BE" sz="2400" dirty="0"/>
              <a:t>and </a:t>
            </a:r>
            <a:r>
              <a:rPr lang="fr-BE" sz="2400" b="1" i="1" dirty="0" err="1"/>
              <a:t>profile.yml</a:t>
            </a:r>
            <a:r>
              <a:rPr lang="fr-BE" sz="2400" b="1" i="1" dirty="0"/>
              <a:t> files</a:t>
            </a:r>
            <a:endParaRPr lang="en-BE" sz="2400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2A350-0A2D-D690-2790-B7E5FBBE9F78}"/>
              </a:ext>
            </a:extLst>
          </p:cNvPr>
          <p:cNvSpPr txBox="1"/>
          <p:nvPr/>
        </p:nvSpPr>
        <p:spPr>
          <a:xfrm>
            <a:off x="1540672" y="138006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100" dirty="0"/>
          </a:p>
          <a:p>
            <a:endParaRPr lang="en-GB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ABFBE-C6F2-DBAE-10A3-BD7D2BCD474D}"/>
              </a:ext>
            </a:extLst>
          </p:cNvPr>
          <p:cNvSpPr txBox="1"/>
          <p:nvPr/>
        </p:nvSpPr>
        <p:spPr>
          <a:xfrm>
            <a:off x="355600" y="804333"/>
            <a:ext cx="11590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fr-BE" sz="1050" dirty="0" err="1"/>
              <a:t>Define</a:t>
            </a:r>
            <a:r>
              <a:rPr lang="fr-BE" sz="1050" dirty="0"/>
              <a:t> </a:t>
            </a:r>
            <a:r>
              <a:rPr lang="fr-BE" sz="1050" b="1" dirty="0" err="1"/>
              <a:t>dbt_Freshcart_project</a:t>
            </a:r>
            <a:r>
              <a:rPr lang="fr-BE" sz="1050" b="1" dirty="0"/>
              <a:t>\</a:t>
            </a:r>
            <a:r>
              <a:rPr lang="fr-BE" sz="1050" b="1" dirty="0">
                <a:highlight>
                  <a:srgbClr val="FFFF00"/>
                </a:highlight>
              </a:rPr>
              <a:t>.</a:t>
            </a:r>
            <a:r>
              <a:rPr lang="fr-BE" sz="1050" b="1" dirty="0" err="1">
                <a:highlight>
                  <a:srgbClr val="FFFF00"/>
                </a:highlight>
              </a:rPr>
              <a:t>env</a:t>
            </a:r>
            <a:r>
              <a:rPr lang="fr-BE" sz="1050" b="1" dirty="0">
                <a:highlight>
                  <a:srgbClr val="FFFF00"/>
                </a:highlight>
              </a:rPr>
              <a:t> </a:t>
            </a:r>
            <a:r>
              <a:rPr lang="fr-BE" sz="1050" dirty="0"/>
              <a:t>file to store all variable values (</a:t>
            </a:r>
            <a:r>
              <a:rPr lang="fr-BE" sz="1050" b="1" i="1" dirty="0" err="1"/>
              <a:t>conn</a:t>
            </a:r>
            <a:r>
              <a:rPr lang="fr-BE" sz="1050" b="1" i="1" dirty="0"/>
              <a:t>-string-</a:t>
            </a:r>
            <a:r>
              <a:rPr lang="fr-BE" sz="1050" b="1" i="1" dirty="0" err="1"/>
              <a:t>dwh</a:t>
            </a:r>
            <a:r>
              <a:rPr lang="fr-BE" sz="1050" dirty="0"/>
              <a:t>, </a:t>
            </a:r>
            <a:r>
              <a:rPr lang="fr-BE" sz="1050" b="1" i="1" dirty="0" err="1"/>
              <a:t>dwh</a:t>
            </a:r>
            <a:r>
              <a:rPr lang="fr-BE" sz="1050" b="1" i="1" dirty="0"/>
              <a:t>,</a:t>
            </a:r>
            <a:r>
              <a:rPr lang="fr-BE" sz="1050" dirty="0"/>
              <a:t> </a:t>
            </a:r>
            <a:r>
              <a:rPr lang="fr-BE" sz="1050" b="1" i="1" dirty="0" err="1"/>
              <a:t>Lkh</a:t>
            </a:r>
            <a:r>
              <a:rPr lang="fr-BE" sz="1050" dirty="0"/>
              <a:t> )</a:t>
            </a:r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r>
              <a:rPr lang="fr-BE" sz="1050" dirty="0" err="1"/>
              <a:t>Define</a:t>
            </a:r>
            <a:r>
              <a:rPr lang="fr-BE" sz="1050" dirty="0"/>
              <a:t>  </a:t>
            </a:r>
            <a:r>
              <a:rPr lang="en-GB" sz="1050" b="1" i="1" dirty="0"/>
              <a:t>C:\Users\oumar.coulibaly\.dbt\</a:t>
            </a:r>
            <a:r>
              <a:rPr lang="fr-BE" sz="1050" b="1" i="1" dirty="0" err="1">
                <a:highlight>
                  <a:srgbClr val="FFFF00"/>
                </a:highlight>
              </a:rPr>
              <a:t>profile.yml</a:t>
            </a:r>
            <a:r>
              <a:rPr lang="fr-BE" sz="1050" b="1" i="1" dirty="0">
                <a:highlight>
                  <a:srgbClr val="FFFF00"/>
                </a:highlight>
              </a:rPr>
              <a:t> </a:t>
            </a:r>
            <a:r>
              <a:rPr lang="fr-BE" sz="1050" dirty="0"/>
              <a:t>file  in 1 document  (for </a:t>
            </a:r>
            <a:r>
              <a:rPr lang="fr-BE" sz="1050" dirty="0" err="1"/>
              <a:t>deployment</a:t>
            </a:r>
            <a:r>
              <a:rPr lang="fr-BE" sz="1050" dirty="0"/>
              <a:t> </a:t>
            </a:r>
            <a:r>
              <a:rPr lang="fr-BE" sz="1050" dirty="0" err="1"/>
              <a:t>containing</a:t>
            </a:r>
            <a:r>
              <a:rPr lang="fr-BE" sz="1050" dirty="0"/>
              <a:t> the </a:t>
            </a:r>
            <a:r>
              <a:rPr lang="fr-BE" sz="1050" dirty="0" err="1"/>
              <a:t>target</a:t>
            </a:r>
            <a:r>
              <a:rPr lang="fr-BE" sz="1050" dirty="0"/>
              <a:t> </a:t>
            </a:r>
            <a:r>
              <a:rPr lang="fr-BE" sz="1050" dirty="0" err="1"/>
              <a:t>environments</a:t>
            </a:r>
            <a:r>
              <a:rPr lang="fr-BE" sz="1050" dirty="0"/>
              <a:t> dev, test, prod)</a:t>
            </a:r>
            <a:endParaRPr lang="en-BE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2986F-1B37-8C39-4E25-F700801B2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54" y="1109049"/>
            <a:ext cx="6942422" cy="594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CFD901-1829-4879-9760-73438D916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6" y="2253235"/>
            <a:ext cx="4037096" cy="1548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C17829-4D2A-4497-4ADA-E26EAB7D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67" y="3850266"/>
            <a:ext cx="3445934" cy="23891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B783A5-B6F6-D8D8-4ABC-5602DCE11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365" y="3994301"/>
            <a:ext cx="4235846" cy="22450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01A0C1-8100-AFFE-9FFC-AC56009C7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2975" y="4121594"/>
            <a:ext cx="4115947" cy="21177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CA0DE46-A0DE-219D-EC94-581EC49F3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2652" y="2242069"/>
            <a:ext cx="3706259" cy="145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5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7C3-A176-302D-74BD-8B039B22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38983-9765-11EF-E0DB-7EFAA423E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73048"/>
            <a:ext cx="8541173" cy="414467"/>
          </a:xfrm>
        </p:spPr>
        <p:txBody>
          <a:bodyPr>
            <a:noAutofit/>
          </a:bodyPr>
          <a:lstStyle/>
          <a:p>
            <a:r>
              <a:rPr lang="fr-BE" sz="2800" dirty="0" err="1"/>
              <a:t>Implemenation</a:t>
            </a:r>
            <a:r>
              <a:rPr lang="fr-BE" sz="2800" dirty="0"/>
              <a:t> </a:t>
            </a:r>
            <a:r>
              <a:rPr lang="fr-BE" sz="2800" b="1" i="1" dirty="0" err="1"/>
              <a:t>source.yml</a:t>
            </a:r>
            <a:r>
              <a:rPr lang="fr-BE" sz="2800" b="1" i="1" dirty="0"/>
              <a:t> and </a:t>
            </a:r>
            <a:r>
              <a:rPr lang="fr-BE" sz="2800" b="1" i="1" dirty="0" err="1"/>
              <a:t>project.yml</a:t>
            </a:r>
            <a:endParaRPr lang="en-B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833FE-2AEB-CC35-831F-B5D915759463}"/>
              </a:ext>
            </a:extLst>
          </p:cNvPr>
          <p:cNvSpPr txBox="1"/>
          <p:nvPr/>
        </p:nvSpPr>
        <p:spPr>
          <a:xfrm>
            <a:off x="1540672" y="138006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100" dirty="0"/>
          </a:p>
          <a:p>
            <a:endParaRPr lang="en-GB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FBD14-B821-6FC3-3B13-A87816A58DCD}"/>
              </a:ext>
            </a:extLst>
          </p:cNvPr>
          <p:cNvSpPr txBox="1"/>
          <p:nvPr/>
        </p:nvSpPr>
        <p:spPr>
          <a:xfrm>
            <a:off x="355600" y="804333"/>
            <a:ext cx="11590867" cy="38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50" dirty="0"/>
              <a:t>3. </a:t>
            </a:r>
            <a:r>
              <a:rPr lang="fr-BE" sz="1050" dirty="0" err="1"/>
              <a:t>Define</a:t>
            </a:r>
            <a:r>
              <a:rPr lang="fr-BE" sz="1050" dirty="0"/>
              <a:t> </a:t>
            </a:r>
            <a:r>
              <a:rPr lang="fr-BE" sz="1050" b="1" dirty="0" err="1"/>
              <a:t>dbt_Freshcart_project</a:t>
            </a:r>
            <a:r>
              <a:rPr lang="fr-BE" sz="1050" b="1" dirty="0"/>
              <a:t>\</a:t>
            </a:r>
            <a:r>
              <a:rPr lang="fr-BE" sz="1050" b="1" dirty="0">
                <a:highlight>
                  <a:srgbClr val="FFFF00"/>
                </a:highlight>
              </a:rPr>
              <a:t>source </a:t>
            </a:r>
            <a:r>
              <a:rPr lang="fr-BE" sz="1050" dirty="0"/>
              <a:t>fi </a:t>
            </a:r>
            <a:r>
              <a:rPr lang="fr-BE" sz="1050" dirty="0" err="1"/>
              <a:t>containing</a:t>
            </a:r>
            <a:r>
              <a:rPr lang="fr-BE" sz="1050" dirty="0"/>
              <a:t> source system info  (</a:t>
            </a:r>
            <a:r>
              <a:rPr lang="fr-BE" sz="1050" b="1" i="1" dirty="0"/>
              <a:t>in </a:t>
            </a:r>
            <a:r>
              <a:rPr lang="fr-BE" sz="1050" b="1" i="1" dirty="0" err="1"/>
              <a:t>this</a:t>
            </a:r>
            <a:r>
              <a:rPr lang="fr-BE" sz="1050" b="1" i="1" dirty="0"/>
              <a:t> case </a:t>
            </a:r>
            <a:r>
              <a:rPr lang="fr-BE" sz="1050" b="1" i="1" dirty="0" err="1"/>
              <a:t>it’s</a:t>
            </a:r>
            <a:r>
              <a:rPr lang="fr-BE" sz="1050" b="1" i="1" dirty="0"/>
              <a:t> the</a:t>
            </a:r>
            <a:r>
              <a:rPr lang="fr-BE" sz="1050" dirty="0"/>
              <a:t> </a:t>
            </a:r>
            <a:r>
              <a:rPr lang="fr-BE" sz="1050" b="1" i="1" dirty="0" err="1"/>
              <a:t>Lkh</a:t>
            </a:r>
            <a:r>
              <a:rPr lang="fr-BE" sz="1050" b="1" i="1" dirty="0"/>
              <a:t> , </a:t>
            </a:r>
            <a:r>
              <a:rPr lang="fr-BE" sz="1050" b="1" i="1" dirty="0" err="1"/>
              <a:t>scheam</a:t>
            </a:r>
            <a:r>
              <a:rPr lang="fr-BE" sz="1050" b="1" i="1" dirty="0"/>
              <a:t> and tables </a:t>
            </a:r>
            <a:r>
              <a:rPr lang="fr-BE" sz="1050" dirty="0"/>
              <a:t> )</a:t>
            </a:r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pPr marL="228600" indent="-228600">
              <a:buAutoNum type="arabicPeriod"/>
            </a:pPr>
            <a:endParaRPr lang="fr-BE" sz="1050" dirty="0"/>
          </a:p>
          <a:p>
            <a:r>
              <a:rPr lang="fr-BE" sz="1050" dirty="0"/>
              <a:t>4. </a:t>
            </a:r>
            <a:r>
              <a:rPr lang="fr-BE" sz="1050" dirty="0" err="1"/>
              <a:t>Define</a:t>
            </a:r>
            <a:r>
              <a:rPr lang="fr-BE" sz="1050" dirty="0"/>
              <a:t> </a:t>
            </a:r>
            <a:r>
              <a:rPr lang="fr-BE" sz="1050" b="1" dirty="0" err="1"/>
              <a:t>dbt_Freshcart_project</a:t>
            </a:r>
            <a:r>
              <a:rPr lang="fr-BE" sz="1050" b="1" dirty="0"/>
              <a:t>\</a:t>
            </a:r>
            <a:r>
              <a:rPr lang="fr-BE" sz="1050" b="1" dirty="0" err="1">
                <a:highlight>
                  <a:srgbClr val="FFFF00"/>
                </a:highlight>
              </a:rPr>
              <a:t>dbt_project.yml</a:t>
            </a:r>
            <a:r>
              <a:rPr lang="fr-BE" sz="1050" b="1" dirty="0">
                <a:highlight>
                  <a:srgbClr val="FFFF00"/>
                </a:highlight>
              </a:rPr>
              <a:t>  </a:t>
            </a:r>
            <a:r>
              <a:rPr lang="fr-BE" sz="1050" dirty="0"/>
              <a:t>file   (for the mapping </a:t>
            </a:r>
            <a:r>
              <a:rPr lang="fr-BE" sz="1050" dirty="0" err="1"/>
              <a:t>tussen</a:t>
            </a:r>
            <a:r>
              <a:rPr lang="fr-BE" sz="1050" dirty="0"/>
              <a:t> </a:t>
            </a:r>
            <a:r>
              <a:rPr lang="fr-BE" sz="1050" dirty="0" err="1"/>
              <a:t>fabric</a:t>
            </a:r>
            <a:r>
              <a:rPr lang="fr-BE" sz="1050" dirty="0"/>
              <a:t> </a:t>
            </a:r>
            <a:r>
              <a:rPr lang="fr-BE" sz="1050" dirty="0" err="1"/>
              <a:t>Lkh</a:t>
            </a:r>
            <a:r>
              <a:rPr lang="fr-BE" sz="1050" dirty="0"/>
              <a:t> and </a:t>
            </a:r>
            <a:r>
              <a:rPr lang="fr-BE" sz="1050" dirty="0" err="1"/>
              <a:t>dwh</a:t>
            </a:r>
            <a:r>
              <a:rPr lang="fr-BE" sz="1050" dirty="0"/>
              <a:t> </a:t>
            </a:r>
            <a:r>
              <a:rPr lang="fr-BE" sz="1050" dirty="0" err="1"/>
              <a:t>with</a:t>
            </a:r>
            <a:r>
              <a:rPr lang="fr-BE" sz="1050" dirty="0"/>
              <a:t> </a:t>
            </a:r>
            <a:r>
              <a:rPr lang="fr-BE" sz="1050" dirty="0" err="1"/>
              <a:t>dbt</a:t>
            </a:r>
            <a:r>
              <a:rPr lang="fr-BE" sz="1050" dirty="0"/>
              <a:t> </a:t>
            </a:r>
            <a:r>
              <a:rPr lang="fr-BE" sz="1050" dirty="0" err="1"/>
              <a:t>objects</a:t>
            </a:r>
            <a:r>
              <a:rPr lang="fr-BE" sz="1050" dirty="0"/>
              <a:t> )</a:t>
            </a:r>
          </a:p>
          <a:p>
            <a:endParaRPr lang="fr-BE" sz="1050" dirty="0"/>
          </a:p>
          <a:p>
            <a:r>
              <a:rPr lang="fr-BE" sz="1050" dirty="0"/>
              <a:t>In (</a:t>
            </a:r>
            <a:r>
              <a:rPr lang="fr-BE" sz="1050" dirty="0" err="1"/>
              <a:t>dbt</a:t>
            </a:r>
            <a:r>
              <a:rPr lang="fr-BE" sz="1050" dirty="0"/>
              <a:t>) </a:t>
            </a:r>
            <a:r>
              <a:rPr lang="fr-BE" sz="1050" dirty="0" err="1"/>
              <a:t>models</a:t>
            </a:r>
            <a:r>
              <a:rPr lang="fr-BE" sz="1050" dirty="0"/>
              <a:t>\</a:t>
            </a:r>
            <a:r>
              <a:rPr lang="fr-BE" sz="1050" dirty="0" err="1"/>
              <a:t>staging</a:t>
            </a:r>
            <a:r>
              <a:rPr lang="fr-BE" sz="1050" dirty="0"/>
              <a:t>\ </a:t>
            </a:r>
            <a:r>
              <a:rPr lang="fr-BE" sz="1050" b="1" i="1" dirty="0" err="1"/>
              <a:t>stg_customer</a:t>
            </a:r>
            <a:r>
              <a:rPr lang="fr-BE" sz="1050" b="1" i="1" dirty="0"/>
              <a:t>   </a:t>
            </a:r>
            <a:r>
              <a:rPr lang="fr-BE" sz="1050" dirty="0" err="1"/>
              <a:t>fabric</a:t>
            </a:r>
            <a:r>
              <a:rPr lang="fr-BE" sz="1050" dirty="0"/>
              <a:t> (bronze) </a:t>
            </a:r>
            <a:r>
              <a:rPr lang="fr-BE" sz="1050" dirty="0" err="1"/>
              <a:t>raw_customers</a:t>
            </a:r>
            <a:r>
              <a:rPr lang="fr-BE" sz="1050" dirty="0"/>
              <a:t>  </a:t>
            </a:r>
            <a:r>
              <a:rPr lang="fr-BE" sz="1050" dirty="0" err="1"/>
              <a:t>get</a:t>
            </a:r>
            <a:r>
              <a:rPr lang="fr-BE" sz="1050" dirty="0"/>
              <a:t> </a:t>
            </a:r>
            <a:r>
              <a:rPr lang="fr-BE" sz="1050" dirty="0" err="1"/>
              <a:t>transformed</a:t>
            </a:r>
            <a:r>
              <a:rPr lang="fr-BE" sz="1050" dirty="0"/>
              <a:t> </a:t>
            </a:r>
          </a:p>
          <a:p>
            <a:r>
              <a:rPr lang="fr-BE" sz="1050" dirty="0"/>
              <a:t>to </a:t>
            </a:r>
            <a:r>
              <a:rPr lang="fr-BE" sz="1050" dirty="0" err="1"/>
              <a:t>become</a:t>
            </a:r>
            <a:r>
              <a:rPr lang="fr-BE" sz="1050" dirty="0"/>
              <a:t>  </a:t>
            </a:r>
            <a:r>
              <a:rPr lang="fr-BE" sz="1050" b="1" i="1" dirty="0" err="1"/>
              <a:t>dbo_silver.stg_customer</a:t>
            </a:r>
            <a:r>
              <a:rPr lang="fr-BE" sz="1050" b="1" i="1" dirty="0"/>
              <a:t> </a:t>
            </a:r>
            <a:r>
              <a:rPr lang="fr-BE" sz="1050" dirty="0"/>
              <a:t>in the </a:t>
            </a:r>
            <a:r>
              <a:rPr lang="fr-BE" sz="1050" dirty="0" err="1"/>
              <a:t>dwh</a:t>
            </a:r>
            <a:r>
              <a:rPr lang="fr-BE" sz="1050" dirty="0"/>
              <a:t>. </a:t>
            </a:r>
            <a:endParaRPr lang="en-BE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37B1093-2672-10DE-D5EB-EBB201D4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51" y="1083734"/>
            <a:ext cx="3528782" cy="26790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3D9A56-4203-A0AC-151A-C00847E99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144" y="389332"/>
            <a:ext cx="2956187" cy="37389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FC7DB17-539C-7BD1-D740-096D3A73F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334" y="2992343"/>
            <a:ext cx="2641599" cy="34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9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4FAA-1E98-4BA7-B1DD-786EA515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930C-8D55-64E8-3CE0-A04951EF5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73048"/>
            <a:ext cx="8541173" cy="414467"/>
          </a:xfrm>
        </p:spPr>
        <p:txBody>
          <a:bodyPr>
            <a:noAutofit/>
          </a:bodyPr>
          <a:lstStyle/>
          <a:p>
            <a:r>
              <a:rPr lang="fr-BE" sz="2800" dirty="0" err="1"/>
              <a:t>Implemenation</a:t>
            </a:r>
            <a:r>
              <a:rPr lang="fr-BE" sz="2800" dirty="0"/>
              <a:t> </a:t>
            </a:r>
            <a:r>
              <a:rPr lang="fr-BE" sz="2800" b="1" i="1" dirty="0" err="1"/>
              <a:t>customers.sql</a:t>
            </a:r>
            <a:r>
              <a:rPr lang="fr-BE" sz="2800" b="1" i="1" dirty="0"/>
              <a:t> </a:t>
            </a:r>
            <a:endParaRPr lang="en-BE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C0921-646A-709F-4173-7E0957F0AECC}"/>
              </a:ext>
            </a:extLst>
          </p:cNvPr>
          <p:cNvSpPr txBox="1"/>
          <p:nvPr/>
        </p:nvSpPr>
        <p:spPr>
          <a:xfrm>
            <a:off x="1540672" y="138006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100" dirty="0"/>
          </a:p>
          <a:p>
            <a:endParaRPr lang="en-GB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7E8BFE-9E98-A600-FC9C-D73FBFFF2C35}"/>
              </a:ext>
            </a:extLst>
          </p:cNvPr>
          <p:cNvSpPr txBox="1"/>
          <p:nvPr/>
        </p:nvSpPr>
        <p:spPr>
          <a:xfrm>
            <a:off x="228600" y="518293"/>
            <a:ext cx="1159086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50" dirty="0"/>
              <a:t>5. In (</a:t>
            </a:r>
            <a:r>
              <a:rPr lang="fr-BE" sz="1050" dirty="0" err="1"/>
              <a:t>dbt</a:t>
            </a:r>
            <a:r>
              <a:rPr lang="fr-BE" sz="1050" dirty="0"/>
              <a:t>) </a:t>
            </a:r>
            <a:r>
              <a:rPr lang="fr-BE" sz="1050" dirty="0" err="1"/>
              <a:t>models</a:t>
            </a:r>
            <a:r>
              <a:rPr lang="fr-BE" sz="1050" dirty="0"/>
              <a:t>\</a:t>
            </a:r>
            <a:r>
              <a:rPr lang="fr-BE" sz="1050" dirty="0" err="1"/>
              <a:t>staging</a:t>
            </a:r>
            <a:r>
              <a:rPr lang="fr-BE" sz="1050" dirty="0"/>
              <a:t>\ </a:t>
            </a:r>
            <a:r>
              <a:rPr lang="fr-BE" sz="1050" b="1" i="1" dirty="0" err="1"/>
              <a:t>stg_customer</a:t>
            </a:r>
            <a:r>
              <a:rPr lang="fr-BE" sz="1050" b="1" i="1" dirty="0"/>
              <a:t>   </a:t>
            </a:r>
            <a:r>
              <a:rPr lang="fr-BE" sz="1050" dirty="0" err="1"/>
              <a:t>fabric</a:t>
            </a:r>
            <a:r>
              <a:rPr lang="fr-BE" sz="1050" dirty="0"/>
              <a:t> (bronze) </a:t>
            </a:r>
            <a:r>
              <a:rPr lang="fr-BE" sz="1050" dirty="0" err="1"/>
              <a:t>raw_customers</a:t>
            </a:r>
            <a:r>
              <a:rPr lang="fr-BE" sz="1050" dirty="0"/>
              <a:t>  </a:t>
            </a:r>
            <a:r>
              <a:rPr lang="fr-BE" sz="1050" dirty="0" err="1"/>
              <a:t>get</a:t>
            </a:r>
            <a:r>
              <a:rPr lang="fr-BE" sz="1050" dirty="0"/>
              <a:t> </a:t>
            </a:r>
            <a:r>
              <a:rPr lang="fr-BE" sz="1050" dirty="0" err="1"/>
              <a:t>transformed</a:t>
            </a:r>
            <a:r>
              <a:rPr lang="fr-BE" sz="1050" dirty="0"/>
              <a:t> </a:t>
            </a:r>
          </a:p>
          <a:p>
            <a:r>
              <a:rPr lang="fr-BE" sz="1050" dirty="0"/>
              <a:t>to </a:t>
            </a:r>
            <a:r>
              <a:rPr lang="fr-BE" sz="1050" dirty="0" err="1"/>
              <a:t>become</a:t>
            </a:r>
            <a:r>
              <a:rPr lang="fr-BE" sz="1050" dirty="0"/>
              <a:t>  </a:t>
            </a:r>
            <a:r>
              <a:rPr lang="fr-BE" sz="1050" b="1" i="1" dirty="0" err="1"/>
              <a:t>dbo_silver.stg_customer</a:t>
            </a:r>
            <a:r>
              <a:rPr lang="fr-BE" sz="1050" b="1" i="1" dirty="0"/>
              <a:t> </a:t>
            </a:r>
            <a:r>
              <a:rPr lang="fr-BE" sz="1050" dirty="0"/>
              <a:t>in the </a:t>
            </a:r>
            <a:r>
              <a:rPr lang="fr-BE" sz="1050" dirty="0" err="1"/>
              <a:t>dwh</a:t>
            </a:r>
            <a:r>
              <a:rPr lang="fr-BE" sz="1050" dirty="0"/>
              <a:t>. </a:t>
            </a:r>
          </a:p>
          <a:p>
            <a:endParaRPr lang="fr-BE" sz="1050" dirty="0"/>
          </a:p>
          <a:p>
            <a:r>
              <a:rPr lang="fr-BE" sz="1050" dirty="0"/>
              <a:t>In the </a:t>
            </a:r>
            <a:r>
              <a:rPr lang="fr-BE" sz="1050" dirty="0" err="1"/>
              <a:t>staging</a:t>
            </a:r>
            <a:r>
              <a:rPr lang="fr-BE" sz="1050" dirty="0"/>
              <a:t> folder (</a:t>
            </a:r>
            <a:r>
              <a:rPr lang="fr-BE" sz="1050" dirty="0" err="1"/>
              <a:t>dbt</a:t>
            </a:r>
            <a:r>
              <a:rPr lang="fr-BE" sz="1050" dirty="0"/>
              <a:t>) , </a:t>
            </a:r>
            <a:r>
              <a:rPr lang="fr-BE" sz="1050" dirty="0" err="1"/>
              <a:t>create</a:t>
            </a:r>
            <a:r>
              <a:rPr lang="fr-BE" sz="1050" dirty="0"/>
              <a:t> a files call </a:t>
            </a:r>
            <a:r>
              <a:rPr lang="fr-BE" sz="1050" b="1" i="1" dirty="0" err="1"/>
              <a:t>customer.sql</a:t>
            </a:r>
            <a:r>
              <a:rPr lang="fr-BE" sz="1050" b="1" i="1" dirty="0"/>
              <a:t>  </a:t>
            </a:r>
            <a:r>
              <a:rPr lang="fr-BE" sz="1050" dirty="0"/>
              <a:t>(</a:t>
            </a:r>
            <a:r>
              <a:rPr lang="fr-BE" sz="1050" dirty="0">
                <a:highlight>
                  <a:srgbClr val="FFFF00"/>
                </a:highlight>
              </a:rPr>
              <a:t>the </a:t>
            </a:r>
            <a:r>
              <a:rPr lang="fr-BE" sz="1050" dirty="0" err="1">
                <a:highlight>
                  <a:srgbClr val="FFFF00"/>
                </a:highlight>
              </a:rPr>
              <a:t>same</a:t>
            </a:r>
            <a:r>
              <a:rPr lang="fr-BE" sz="1050" dirty="0">
                <a:highlight>
                  <a:srgbClr val="FFFF00"/>
                </a:highlight>
              </a:rPr>
              <a:t> process </a:t>
            </a:r>
            <a:r>
              <a:rPr lang="fr-BE" sz="1050" dirty="0" err="1">
                <a:highlight>
                  <a:srgbClr val="FFFF00"/>
                </a:highlight>
              </a:rPr>
              <a:t>is</a:t>
            </a:r>
            <a:r>
              <a:rPr lang="fr-BE" sz="1050" dirty="0">
                <a:highlight>
                  <a:srgbClr val="FFFF00"/>
                </a:highlight>
              </a:rPr>
              <a:t> all tables in the </a:t>
            </a:r>
            <a:r>
              <a:rPr lang="fr-BE" sz="1050" dirty="0" err="1">
                <a:highlight>
                  <a:srgbClr val="FFFF00"/>
                </a:highlight>
              </a:rPr>
              <a:t>datamodel</a:t>
            </a:r>
            <a:r>
              <a:rPr lang="fr-BE" sz="1050" dirty="0"/>
              <a:t>)</a:t>
            </a:r>
          </a:p>
          <a:p>
            <a:r>
              <a:rPr lang="fr-BE" sz="1050" dirty="0"/>
              <a:t>The </a:t>
            </a:r>
            <a:r>
              <a:rPr lang="fr-BE" sz="1050" b="1" i="1" dirty="0"/>
              <a:t>source  </a:t>
            </a:r>
            <a:r>
              <a:rPr lang="fr-BE" sz="1050" dirty="0" err="1"/>
              <a:t>is</a:t>
            </a:r>
            <a:r>
              <a:rPr lang="fr-BE" sz="1050" dirty="0"/>
              <a:t> </a:t>
            </a:r>
            <a:r>
              <a:rPr lang="fr-BE" sz="1050" dirty="0" err="1"/>
              <a:t>defined</a:t>
            </a:r>
            <a:r>
              <a:rPr lang="fr-BE" sz="1050" dirty="0"/>
              <a:t> at </a:t>
            </a:r>
            <a:r>
              <a:rPr lang="fr-BE" sz="1050" b="1" i="1" dirty="0"/>
              <a:t>section 3  , </a:t>
            </a:r>
            <a:r>
              <a:rPr lang="fr-BE" sz="1050" dirty="0"/>
              <a:t>the business </a:t>
            </a:r>
            <a:r>
              <a:rPr lang="fr-BE" sz="1050" dirty="0" err="1"/>
              <a:t>logic</a:t>
            </a:r>
            <a:r>
              <a:rPr lang="fr-BE" sz="1050" dirty="0"/>
              <a:t>  </a:t>
            </a:r>
            <a:r>
              <a:rPr lang="fr-BE" sz="1050" dirty="0" err="1"/>
              <a:t>should</a:t>
            </a:r>
            <a:r>
              <a:rPr lang="fr-BE" sz="1050" dirty="0"/>
              <a:t> </a:t>
            </a:r>
            <a:r>
              <a:rPr lang="fr-BE" sz="1050" dirty="0" err="1"/>
              <a:t>be</a:t>
            </a:r>
            <a:r>
              <a:rPr lang="fr-BE" sz="1050" dirty="0"/>
              <a:t> </a:t>
            </a:r>
            <a:r>
              <a:rPr lang="fr-BE" sz="1050" dirty="0" err="1"/>
              <a:t>aggreed</a:t>
            </a:r>
            <a:r>
              <a:rPr lang="fr-BE" sz="1050" dirty="0"/>
              <a:t> by the business </a:t>
            </a:r>
            <a:endParaRPr lang="en-BE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C61E4-1145-97FA-2C9A-BA327AFD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86384"/>
            <a:ext cx="5361533" cy="4214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18FD22-714F-946F-7322-BA0AFD1F9A1A}"/>
              </a:ext>
            </a:extLst>
          </p:cNvPr>
          <p:cNvSpPr txBox="1"/>
          <p:nvPr/>
        </p:nvSpPr>
        <p:spPr>
          <a:xfrm>
            <a:off x="5958402" y="2832463"/>
            <a:ext cx="586106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50" dirty="0"/>
              <a:t>6. Test if </a:t>
            </a:r>
            <a:r>
              <a:rPr lang="fr-BE" sz="1050" dirty="0" err="1"/>
              <a:t>it</a:t>
            </a:r>
            <a:r>
              <a:rPr lang="fr-BE" sz="1050" dirty="0"/>
              <a:t> </a:t>
            </a:r>
            <a:r>
              <a:rPr lang="fr-BE" sz="1050" dirty="0" err="1"/>
              <a:t>works</a:t>
            </a:r>
            <a:r>
              <a:rPr lang="fr-BE" sz="1050" dirty="0"/>
              <a:t>  </a:t>
            </a:r>
          </a:p>
          <a:p>
            <a:r>
              <a:rPr lang="fr-BE" sz="1050" b="1" i="1" dirty="0">
                <a:solidFill>
                  <a:srgbClr val="002060"/>
                </a:solidFill>
              </a:rPr>
              <a:t> </a:t>
            </a:r>
            <a:r>
              <a:rPr lang="en-GB" sz="1050" b="1" i="1" dirty="0" err="1">
                <a:solidFill>
                  <a:srgbClr val="002060"/>
                </a:solidFill>
              </a:rPr>
              <a:t>dbt</a:t>
            </a:r>
            <a:r>
              <a:rPr lang="en-GB" sz="1050" b="1" i="1" dirty="0">
                <a:solidFill>
                  <a:srgbClr val="002060"/>
                </a:solidFill>
              </a:rPr>
              <a:t> run </a:t>
            </a:r>
            <a:r>
              <a:rPr lang="en-GB" sz="1050" dirty="0">
                <a:solidFill>
                  <a:srgbClr val="FFC000"/>
                </a:solidFill>
              </a:rPr>
              <a:t>--select </a:t>
            </a:r>
            <a:r>
              <a:rPr lang="en-GB" sz="1050" dirty="0" err="1">
                <a:solidFill>
                  <a:srgbClr val="FFC000"/>
                </a:solidFill>
              </a:rPr>
              <a:t>stg_customer</a:t>
            </a:r>
            <a:r>
              <a:rPr lang="en-GB" sz="1050" dirty="0">
                <a:solidFill>
                  <a:srgbClr val="FFC000"/>
                </a:solidFill>
              </a:rPr>
              <a:t>  customer                     </a:t>
            </a:r>
            <a:r>
              <a:rPr lang="en-GB" sz="1050" dirty="0">
                <a:solidFill>
                  <a:srgbClr val="00B050"/>
                </a:solidFill>
              </a:rPr>
              <a:t>#(see table exist after crating </a:t>
            </a:r>
            <a:r>
              <a:rPr lang="en-GB" sz="1050" dirty="0" err="1">
                <a:solidFill>
                  <a:srgbClr val="00B050"/>
                </a:solidFill>
              </a:rPr>
              <a:t>sql</a:t>
            </a:r>
            <a:r>
              <a:rPr lang="en-GB" sz="1050" dirty="0">
                <a:solidFill>
                  <a:srgbClr val="00B050"/>
                </a:solidFill>
              </a:rPr>
              <a:t> file )</a:t>
            </a:r>
          </a:p>
          <a:p>
            <a:endParaRPr lang="en-GB" sz="1050" dirty="0">
              <a:solidFill>
                <a:srgbClr val="00B050"/>
              </a:solidFill>
            </a:endParaRPr>
          </a:p>
          <a:p>
            <a:r>
              <a:rPr lang="en-GB" sz="1050" dirty="0">
                <a:solidFill>
                  <a:srgbClr val="00B050"/>
                </a:solidFill>
              </a:rPr>
              <a:t>7</a:t>
            </a:r>
            <a:r>
              <a:rPr lang="en-GB" sz="1050" dirty="0"/>
              <a:t>.Run some data quality </a:t>
            </a:r>
            <a:r>
              <a:rPr lang="en-GB" sz="1050" dirty="0" err="1"/>
              <a:t>chek</a:t>
            </a:r>
            <a:r>
              <a:rPr lang="en-GB" sz="1050" dirty="0"/>
              <a:t> using  </a:t>
            </a:r>
            <a:r>
              <a:rPr lang="en-GB" sz="1050" b="1" dirty="0" err="1"/>
              <a:t>schema.yml</a:t>
            </a:r>
            <a:r>
              <a:rPr lang="en-GB" sz="1050" b="1" dirty="0"/>
              <a:t> file  </a:t>
            </a:r>
            <a:endParaRPr lang="fr-BE" sz="1050" b="1" dirty="0"/>
          </a:p>
          <a:p>
            <a:endParaRPr lang="en-BE" sz="1050" dirty="0"/>
          </a:p>
        </p:txBody>
      </p:sp>
    </p:spTree>
    <p:extLst>
      <p:ext uri="{BB962C8B-B14F-4D97-AF65-F5344CB8AC3E}">
        <p14:creationId xmlns:p14="http://schemas.microsoft.com/office/powerpoint/2010/main" val="353798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11416</TotalTime>
  <Words>1148</Words>
  <Application>Microsoft Office PowerPoint</Application>
  <PresentationFormat>Widescreen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dbt</vt:lpstr>
      <vt:lpstr>dbt</vt:lpstr>
      <vt:lpstr>Dbt-set up in 6 setp</vt:lpstr>
      <vt:lpstr>dbt</vt:lpstr>
      <vt:lpstr>Dbt_project.yml</vt:lpstr>
      <vt:lpstr>Dbt_project.yml + Source.yml</vt:lpstr>
      <vt:lpstr>Use dbt project and venv exists</vt:lpstr>
      <vt:lpstr>Implemenation .env and profile.yml files</vt:lpstr>
      <vt:lpstr>Implemenation source.yml and project.yml</vt:lpstr>
      <vt:lpstr>Implemenation customers.sql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26</cp:revision>
  <dcterms:created xsi:type="dcterms:W3CDTF">2026-03-29T10:46:37Z</dcterms:created>
  <dcterms:modified xsi:type="dcterms:W3CDTF">2026-04-24T08:22:11Z</dcterms:modified>
</cp:coreProperties>
</file>