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7" r:id="rId13"/>
    <p:sldId id="268" r:id="rId14"/>
    <p:sldId id="269" r:id="rId15"/>
    <p:sldId id="270" r:id="rId16"/>
    <p:sldId id="271" r:id="rId17"/>
    <p:sldId id="272" r:id="rId18"/>
  </p:sldIdLst>
  <p:sldSz cx="12192000" cy="6858000"/>
  <p:notesSz cx="6858000" cy="9144000"/>
  <p:defaultTextStyle>
    <a:defPPr>
      <a:defRPr lang="en-B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90" d="100"/>
          <a:sy n="90" d="100"/>
        </p:scale>
        <p:origin x="398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79B6E3-8CAF-32A1-7EF3-01A4EDFAE21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BE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BF3D629-4166-2F01-3FF0-4FE9860076D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B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576B06B-BC17-28CB-6489-679701E74A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080311-DA48-4449-905F-0CC22E4B4F12}" type="datetimeFigureOut">
              <a:rPr lang="en-BE" smtClean="0"/>
              <a:t>01/04/2026</a:t>
            </a:fld>
            <a:endParaRPr lang="en-B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594450-31A0-D8EF-98BE-560AD0CDE9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A4F8F2F-BD7E-11C4-27CA-9720BFCF2D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666156-D0E5-4C25-9C78-18534D657F3A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20604767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B4EA8D-60D7-DEE9-66D3-72FDFAE43A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B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D1D77D-1F98-2C88-CE8A-9090ECF981B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B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17289BA-78EE-DCF7-A4EF-DA40FB9156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080311-DA48-4449-905F-0CC22E4B4F12}" type="datetimeFigureOut">
              <a:rPr lang="en-BE" smtClean="0"/>
              <a:t>01/04/2026</a:t>
            </a:fld>
            <a:endParaRPr lang="en-B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DA01BD9-304D-BCBD-7BE8-F17F794BB2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40B2CE-16A7-BED3-7E8D-52C45CF976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666156-D0E5-4C25-9C78-18534D657F3A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42822538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DD8FC1-86C1-4251-FD1C-5BFEFCC75F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B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A8CD1AA-1A6C-14F3-DC67-66145A59D2E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681F6D8-3F9A-0C00-DAB7-513AFC6A13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080311-DA48-4449-905F-0CC22E4B4F12}" type="datetimeFigureOut">
              <a:rPr lang="en-BE" smtClean="0"/>
              <a:t>01/04/2026</a:t>
            </a:fld>
            <a:endParaRPr lang="en-B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7A032C-EBE6-C61A-1971-77BAE00856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C144678-E328-9855-A691-0C573F4B71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666156-D0E5-4C25-9C78-18534D657F3A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12567297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EE0634-29A2-3C97-C2D9-8AE0A9D516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B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CA861B-631A-3E24-618F-02C537CD6E2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BE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EBC7E25-6705-3DA6-54D6-4F38E390288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BE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5590187-CC32-B867-497C-58EDC10F09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080311-DA48-4449-905F-0CC22E4B4F12}" type="datetimeFigureOut">
              <a:rPr lang="en-BE" smtClean="0"/>
              <a:t>01/04/2026</a:t>
            </a:fld>
            <a:endParaRPr lang="en-B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DB13760-F916-ED96-495B-03A6E878C5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01B96CE-013A-A2EC-F833-383699D463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666156-D0E5-4C25-9C78-18534D657F3A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2728048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5BF602-0CAF-90F0-0320-911D0777F3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B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60A38A3-205F-FD36-167A-5755A592440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03E60B7-1504-362C-E4A6-1E7995AB95E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BE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2F20178-0872-D00B-B8D7-4A41880509A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25F9D5F-D94F-FE06-F1BD-A1137292962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BE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C639B59-6265-1545-A096-62094EE7A9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080311-DA48-4449-905F-0CC22E4B4F12}" type="datetimeFigureOut">
              <a:rPr lang="en-BE" smtClean="0"/>
              <a:t>01/04/2026</a:t>
            </a:fld>
            <a:endParaRPr lang="en-BE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3FF8E60-F1DD-B0B3-E26A-3572F29655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829F4BA-4A7B-29E0-D287-562B5FD0F5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666156-D0E5-4C25-9C78-18534D657F3A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17577738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834645-AA80-1BA4-6B70-67DCC2EA0B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BE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1DA736E-B312-0350-D8E2-1DF4DB898F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080311-DA48-4449-905F-0CC22E4B4F12}" type="datetimeFigureOut">
              <a:rPr lang="en-BE" smtClean="0"/>
              <a:t>01/04/2026</a:t>
            </a:fld>
            <a:endParaRPr lang="en-B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24EED47-905A-E737-28D4-8E1A4A4718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ACCBE24-5A7C-885A-5EE3-FB7CBC2791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666156-D0E5-4C25-9C78-18534D657F3A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20055504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1A97D69-EF0B-7C0D-0799-519886D24A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080311-DA48-4449-905F-0CC22E4B4F12}" type="datetimeFigureOut">
              <a:rPr lang="en-BE" smtClean="0"/>
              <a:t>01/04/2026</a:t>
            </a:fld>
            <a:endParaRPr lang="en-BE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6E84001-304B-3AD2-E7B9-A51E266BC2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A07D638-B79C-EB63-B14A-6321EDC66D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666156-D0E5-4C25-9C78-18534D657F3A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310143431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DC74E0-BEFC-1566-1919-A15839141B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B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4E3121-F988-E34D-2815-54DAE65BAF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B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AE5CABE-E433-F713-D782-352BAAF5D2D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AA5A2B3-CFC7-7354-E598-250C8AF8A6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080311-DA48-4449-905F-0CC22E4B4F12}" type="datetimeFigureOut">
              <a:rPr lang="en-BE" smtClean="0"/>
              <a:t>01/04/2026</a:t>
            </a:fld>
            <a:endParaRPr lang="en-B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B770ABA-7778-76B2-7F62-AF0AF60FB0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CD3E8F-420F-6517-38F3-4186BD7DC3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666156-D0E5-4C25-9C78-18534D657F3A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37291034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4541CF-FB1F-5307-7228-C17DA9DC8B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BE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49A27E9-B83E-4F88-BC49-5A95780A960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B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4AE50B5-CE4B-3A7E-CF17-C7A8477D99C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6066F1A-8DAF-1330-3AAD-E4E26D43AD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080311-DA48-4449-905F-0CC22E4B4F12}" type="datetimeFigureOut">
              <a:rPr lang="en-BE" smtClean="0"/>
              <a:t>01/04/2026</a:t>
            </a:fld>
            <a:endParaRPr lang="en-B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29C024C-153B-CBB2-950A-1CC39A6FC6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85299F2-CA15-B3EB-9114-6A17A38B01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666156-D0E5-4C25-9C78-18534D657F3A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24798928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A38B1F-5CDA-EC48-980A-7AF04E5E68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B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63ABB9B-3200-6980-C9A5-9993DB5DE1E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B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0E0146-B491-E695-7755-B3E00D8362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080311-DA48-4449-905F-0CC22E4B4F12}" type="datetimeFigureOut">
              <a:rPr lang="en-BE" smtClean="0"/>
              <a:t>01/04/2026</a:t>
            </a:fld>
            <a:endParaRPr lang="en-B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D6C6214-FD2A-E4E8-7380-B85C8D14F6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6ADE695-D3C4-6510-C6EA-B22A24C610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666156-D0E5-4C25-9C78-18534D657F3A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15636236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E38BC91-9A34-90D7-4679-C7C5FD98F35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B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2B32588-C051-5D25-B36B-F044973BF2D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B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3BA6F72-B448-B5AB-AF10-382155366F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080311-DA48-4449-905F-0CC22E4B4F12}" type="datetimeFigureOut">
              <a:rPr lang="en-BE" smtClean="0"/>
              <a:t>01/04/2026</a:t>
            </a:fld>
            <a:endParaRPr lang="en-B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835E9DD-5F81-E18E-1E1B-C1A6460430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AD2FCF-5E66-B840-D4B9-C52C82BC86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666156-D0E5-4C25-9C78-18534D657F3A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35603967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53971FA-1CD1-079F-2410-8ED03FB555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B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FB5007C-0A61-6936-5EA7-A7D1F2E749D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B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627D8E-0BFB-59F4-D098-EA23251A16E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3080311-DA48-4449-905F-0CC22E4B4F12}" type="datetimeFigureOut">
              <a:rPr lang="en-BE" smtClean="0"/>
              <a:t>01/04/2026</a:t>
            </a:fld>
            <a:endParaRPr lang="en-B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A941FA7-C4FB-6495-9B72-18DA69F4C06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B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E71EAEF-ADEE-1231-6FB7-D6130A92394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A666156-D0E5-4C25-9C78-18534D657F3A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40958728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B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7" Type="http://schemas.openxmlformats.org/officeDocument/2006/relationships/image" Target="../media/image27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0.png"/><Relationship Id="rId3" Type="http://schemas.openxmlformats.org/officeDocument/2006/relationships/image" Target="../media/image35.png"/><Relationship Id="rId7" Type="http://schemas.openxmlformats.org/officeDocument/2006/relationships/image" Target="../media/image39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8.png"/><Relationship Id="rId5" Type="http://schemas.openxmlformats.org/officeDocument/2006/relationships/image" Target="../media/image37.png"/><Relationship Id="rId4" Type="http://schemas.openxmlformats.org/officeDocument/2006/relationships/image" Target="../media/image36.png"/><Relationship Id="rId9" Type="http://schemas.openxmlformats.org/officeDocument/2006/relationships/image" Target="../media/image41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4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78E0A9-06D6-56C8-ABBC-EB6F958018D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03868" y="93132"/>
            <a:ext cx="9144000" cy="766763"/>
          </a:xfrm>
        </p:spPr>
        <p:txBody>
          <a:bodyPr>
            <a:noAutofit/>
          </a:bodyPr>
          <a:lstStyle/>
          <a:p>
            <a:r>
              <a:rPr lang="fr-BE" sz="2800" dirty="0" err="1"/>
              <a:t>Fabric</a:t>
            </a:r>
            <a:r>
              <a:rPr lang="fr-BE" sz="2800" dirty="0"/>
              <a:t> platform monitoring</a:t>
            </a:r>
            <a:endParaRPr lang="en-BE" sz="28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2D410A2-DB75-C01A-CC6A-7287662B37C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6184" y="1393412"/>
            <a:ext cx="4290432" cy="466384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D098D61-96C7-4D92-31F5-5DF82A144D8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2295" y="2645407"/>
            <a:ext cx="3353091" cy="3596952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7CD3FC31-975A-BFD2-9FE6-00A4734186A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61972" y="1035822"/>
            <a:ext cx="4663844" cy="27967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263803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A99EEA-A495-5C62-E302-8589A75FBC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4DD860-1B6A-49CE-9D50-2735597A67A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03868" y="93132"/>
            <a:ext cx="9144000" cy="766763"/>
          </a:xfrm>
        </p:spPr>
        <p:txBody>
          <a:bodyPr>
            <a:noAutofit/>
          </a:bodyPr>
          <a:lstStyle/>
          <a:p>
            <a:r>
              <a:rPr lang="fr-BE" sz="2800" dirty="0" err="1"/>
              <a:t>Fabric</a:t>
            </a:r>
            <a:r>
              <a:rPr lang="fr-BE" sz="2800" dirty="0"/>
              <a:t> platform monitoring</a:t>
            </a:r>
            <a:endParaRPr lang="en-BE" sz="28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72AFB4B-E54A-6830-45F5-2F26DE2B3F63}"/>
              </a:ext>
            </a:extLst>
          </p:cNvPr>
          <p:cNvSpPr txBox="1"/>
          <p:nvPr/>
        </p:nvSpPr>
        <p:spPr>
          <a:xfrm>
            <a:off x="285307" y="946298"/>
            <a:ext cx="11621386" cy="507831"/>
          </a:xfrm>
          <a:prstGeom prst="rect">
            <a:avLst/>
          </a:prstGeom>
          <a:noFill/>
        </p:spPr>
        <p:txBody>
          <a:bodyPr wrap="square" numCol="3" rtlCol="0">
            <a:spAutoFit/>
          </a:bodyPr>
          <a:lstStyle/>
          <a:p>
            <a:r>
              <a:rPr lang="fr-BE" sz="900" dirty="0" err="1"/>
              <a:t>Capacity</a:t>
            </a:r>
            <a:r>
              <a:rPr lang="fr-BE" sz="900" dirty="0"/>
              <a:t> </a:t>
            </a:r>
            <a:r>
              <a:rPr lang="fr-BE" sz="900" dirty="0" err="1"/>
              <a:t>Metrics</a:t>
            </a:r>
            <a:r>
              <a:rPr lang="fr-BE" sz="900" dirty="0"/>
              <a:t> app</a:t>
            </a:r>
          </a:p>
          <a:p>
            <a:r>
              <a:rPr lang="fr-BE" sz="900" dirty="0" err="1"/>
              <a:t>Fabric</a:t>
            </a:r>
            <a:r>
              <a:rPr lang="fr-BE" sz="900" dirty="0"/>
              <a:t> </a:t>
            </a:r>
            <a:r>
              <a:rPr lang="fr-BE" sz="900" dirty="0" err="1"/>
              <a:t>Eventhouse</a:t>
            </a:r>
            <a:r>
              <a:rPr lang="fr-BE" sz="900" dirty="0"/>
              <a:t> Monitoring</a:t>
            </a:r>
          </a:p>
          <a:p>
            <a:r>
              <a:rPr lang="fr-BE" sz="900" dirty="0" err="1"/>
              <a:t>Fabric</a:t>
            </a:r>
            <a:r>
              <a:rPr lang="fr-BE" sz="900" dirty="0"/>
              <a:t> United Admin Monitoring(FUAM) setup p12-13</a:t>
            </a:r>
            <a:endParaRPr lang="en-BE" sz="900" dirty="0"/>
          </a:p>
        </p:txBody>
      </p:sp>
    </p:spTree>
    <p:extLst>
      <p:ext uri="{BB962C8B-B14F-4D97-AF65-F5344CB8AC3E}">
        <p14:creationId xmlns:p14="http://schemas.microsoft.com/office/powerpoint/2010/main" val="108411717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F4F035-1253-3423-9C46-26B4152DC3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FBC852-DD5C-DE65-02ED-B75B1FB431C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03868" y="93132"/>
            <a:ext cx="9144000" cy="766763"/>
          </a:xfrm>
        </p:spPr>
        <p:txBody>
          <a:bodyPr>
            <a:noAutofit/>
          </a:bodyPr>
          <a:lstStyle/>
          <a:p>
            <a:r>
              <a:rPr lang="fr-BE" sz="2800" dirty="0" err="1"/>
              <a:t>Fabric</a:t>
            </a:r>
            <a:r>
              <a:rPr lang="fr-BE" sz="2800" dirty="0"/>
              <a:t> platform monitoring / table to </a:t>
            </a:r>
            <a:r>
              <a:rPr lang="fr-BE" sz="2800" dirty="0" err="1"/>
              <a:t>extract</a:t>
            </a:r>
            <a:r>
              <a:rPr lang="fr-BE" sz="2800" dirty="0"/>
              <a:t> </a:t>
            </a:r>
            <a:r>
              <a:rPr lang="fr-BE" sz="2800" dirty="0" err="1"/>
              <a:t>from</a:t>
            </a:r>
            <a:r>
              <a:rPr lang="fr-BE" sz="2800" dirty="0"/>
              <a:t> KQL</a:t>
            </a:r>
            <a:endParaRPr lang="en-BE" sz="28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FEBEFFA-50F8-146B-FFBC-8EA12211FA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1864" y="1042976"/>
            <a:ext cx="5398884" cy="4772048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9920E5E3-7CF8-F5B1-C38A-CEB31D354EA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08366" y="1241025"/>
            <a:ext cx="6111770" cy="12421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90697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5759BB-0945-D802-5F3F-D974C02985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7E8E6E-2307-07F9-7AB6-6E7EE78FE6F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03868" y="93132"/>
            <a:ext cx="9144000" cy="766763"/>
          </a:xfrm>
        </p:spPr>
        <p:txBody>
          <a:bodyPr>
            <a:noAutofit/>
          </a:bodyPr>
          <a:lstStyle/>
          <a:p>
            <a:r>
              <a:rPr lang="fr-BE" sz="2800" dirty="0" err="1"/>
              <a:t>Fabric</a:t>
            </a:r>
            <a:r>
              <a:rPr lang="fr-BE" sz="2800" dirty="0"/>
              <a:t> platform monitoring / file table </a:t>
            </a:r>
            <a:r>
              <a:rPr lang="fr-BE" sz="2800" dirty="0" err="1"/>
              <a:t>fact</a:t>
            </a:r>
            <a:r>
              <a:rPr lang="fr-BE" sz="2800" dirty="0"/>
              <a:t> and Dim</a:t>
            </a:r>
            <a:endParaRPr lang="en-BE" sz="28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9C0FEB3-1A54-D90C-B4F8-4ADB2AD63AE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4896" y="1055078"/>
            <a:ext cx="3617123" cy="517546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7C339DE-6633-3D98-8BF1-89C3DF4D12D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78907" y="1387208"/>
            <a:ext cx="2339543" cy="1272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256565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9A7DA5-23F0-23AB-17CF-55EE820A2C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38F4EC-3827-E75B-FCA3-91E9E410EE4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03868" y="93132"/>
            <a:ext cx="9144000" cy="766763"/>
          </a:xfrm>
        </p:spPr>
        <p:txBody>
          <a:bodyPr>
            <a:noAutofit/>
          </a:bodyPr>
          <a:lstStyle/>
          <a:p>
            <a:r>
              <a:rPr lang="fr-BE" sz="2800" dirty="0" err="1"/>
              <a:t>Fabric</a:t>
            </a:r>
            <a:r>
              <a:rPr lang="fr-BE" sz="2800" dirty="0"/>
              <a:t> platform monitoring /</a:t>
            </a:r>
            <a:r>
              <a:rPr lang="fr-BE" sz="2800" dirty="0" err="1"/>
              <a:t>necessary</a:t>
            </a:r>
            <a:r>
              <a:rPr lang="fr-BE" sz="2800" dirty="0"/>
              <a:t> </a:t>
            </a:r>
            <a:r>
              <a:rPr lang="fr-BE" sz="2800" dirty="0" err="1"/>
              <a:t>visuals</a:t>
            </a:r>
            <a:r>
              <a:rPr lang="fr-BE" sz="2800" dirty="0"/>
              <a:t> </a:t>
            </a:r>
            <a:endParaRPr lang="en-BE" sz="28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B64CD29-F682-98B5-6C25-5F04CE36A6E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0335" y="1350265"/>
            <a:ext cx="2408129" cy="3886537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D85C1B69-4E63-07A6-C472-7674B03FBCC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38789" y="1505662"/>
            <a:ext cx="3254022" cy="3101609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FA65ECB7-8087-77E2-3A18-FBE25015AF1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39418" y="1381298"/>
            <a:ext cx="3254022" cy="20477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542786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82F477-DB6F-E91A-F206-CDE740F963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B4FEDC-AF9C-7511-EAA7-B61893D250A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03868" y="93132"/>
            <a:ext cx="9144000" cy="766763"/>
          </a:xfrm>
        </p:spPr>
        <p:txBody>
          <a:bodyPr>
            <a:noAutofit/>
          </a:bodyPr>
          <a:lstStyle/>
          <a:p>
            <a:r>
              <a:rPr lang="fr-BE" sz="2800" dirty="0" err="1"/>
              <a:t>Fabric</a:t>
            </a:r>
            <a:r>
              <a:rPr lang="fr-BE" sz="2800" dirty="0"/>
              <a:t> platform monitoring /</a:t>
            </a:r>
            <a:r>
              <a:rPr lang="fr-BE" sz="2800" dirty="0" err="1"/>
              <a:t>Cost</a:t>
            </a:r>
            <a:r>
              <a:rPr lang="fr-BE" sz="2800" dirty="0"/>
              <a:t> </a:t>
            </a:r>
            <a:r>
              <a:rPr lang="fr-BE" sz="2800" dirty="0" err="1"/>
              <a:t>consideration</a:t>
            </a:r>
            <a:r>
              <a:rPr lang="fr-BE" sz="2800" dirty="0"/>
              <a:t> </a:t>
            </a:r>
            <a:endParaRPr lang="en-BE" sz="28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2AF077F-965E-9C71-1DA7-DF431CA835A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3384" y="1125560"/>
            <a:ext cx="4884843" cy="255292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2EDB52A-09F6-EEA2-E8A4-F7285E83C3C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2374" y="3883163"/>
            <a:ext cx="3215919" cy="1699407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8D5368C3-27D9-F916-FACE-805E06EA4C3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03668" y="1719480"/>
            <a:ext cx="3697573" cy="25529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254335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8F6326-880B-D1F2-F89C-973D17F561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666F15-DAAB-D023-5C15-4A29F19CD7D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03868" y="93132"/>
            <a:ext cx="9144000" cy="766763"/>
          </a:xfrm>
        </p:spPr>
        <p:txBody>
          <a:bodyPr>
            <a:noAutofit/>
          </a:bodyPr>
          <a:lstStyle/>
          <a:p>
            <a:r>
              <a:rPr lang="fr-BE" sz="2800" dirty="0" err="1"/>
              <a:t>Fabric</a:t>
            </a:r>
            <a:r>
              <a:rPr lang="fr-BE" sz="2800" dirty="0"/>
              <a:t> platform monitoring /</a:t>
            </a:r>
            <a:r>
              <a:rPr lang="fr-BE" sz="2800" dirty="0" err="1"/>
              <a:t>Cost</a:t>
            </a:r>
            <a:r>
              <a:rPr lang="fr-BE" sz="2800" dirty="0"/>
              <a:t> </a:t>
            </a:r>
            <a:r>
              <a:rPr lang="fr-BE" sz="2800" dirty="0" err="1"/>
              <a:t>consideration</a:t>
            </a:r>
            <a:r>
              <a:rPr lang="fr-BE" sz="2800" dirty="0"/>
              <a:t> </a:t>
            </a:r>
            <a:endParaRPr lang="en-BE" sz="28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365F3BF-8742-68D0-63E6-AAB465E0EE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6835" y="859895"/>
            <a:ext cx="4418657" cy="2311494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910D75D5-F255-196C-A44E-8579ADD0343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67093" y="976433"/>
            <a:ext cx="3619814" cy="4549534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98C22FE6-0322-9A36-D8A7-3542D8A41FD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89189" y="976433"/>
            <a:ext cx="2758679" cy="46638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294737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9580BF-2887-67AF-7DA4-971E8F4F18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2A9357-1363-96F7-E664-338A80C4A35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03868" y="93132"/>
            <a:ext cx="9144000" cy="766763"/>
          </a:xfrm>
        </p:spPr>
        <p:txBody>
          <a:bodyPr>
            <a:noAutofit/>
          </a:bodyPr>
          <a:lstStyle/>
          <a:p>
            <a:r>
              <a:rPr lang="fr-BE" sz="2800" dirty="0" err="1"/>
              <a:t>Fabric</a:t>
            </a:r>
            <a:r>
              <a:rPr lang="fr-BE" sz="2800" dirty="0"/>
              <a:t> monitoring /</a:t>
            </a:r>
            <a:r>
              <a:rPr lang="fr-BE" sz="2800" dirty="0" err="1"/>
              <a:t>Cost</a:t>
            </a:r>
            <a:r>
              <a:rPr lang="fr-BE" sz="2800" dirty="0"/>
              <a:t> </a:t>
            </a:r>
            <a:r>
              <a:rPr lang="fr-BE" sz="2800" dirty="0" err="1"/>
              <a:t>comparison</a:t>
            </a:r>
            <a:r>
              <a:rPr lang="fr-BE" sz="2800" dirty="0"/>
              <a:t> en conclusion </a:t>
            </a:r>
            <a:endParaRPr lang="en-BE" sz="28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4E43317-1438-1B0E-E242-44301231B9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5933" y="1050178"/>
            <a:ext cx="4191333" cy="270984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9EC889B-8F20-2793-D3C9-08A4DA20EAE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51657" y="1050179"/>
            <a:ext cx="3463079" cy="3267822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891D2B49-EA3F-ACD3-07F5-CF65CCF0CF0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35195" y="1194111"/>
            <a:ext cx="3821121" cy="2802155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2CD4633A-F0B2-5976-0886-0E8D966CBB8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5933" y="3996266"/>
            <a:ext cx="4038950" cy="2598645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C293157D-268E-40EC-DEA4-740A51A2CDA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52678" y="4318001"/>
            <a:ext cx="4122777" cy="23014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504258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98D3B4-4247-E149-BB24-205C77B490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AE907E-3520-D4EB-719E-A93E2A4FA8E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03868" y="93132"/>
            <a:ext cx="9144000" cy="766763"/>
          </a:xfrm>
        </p:spPr>
        <p:txBody>
          <a:bodyPr>
            <a:noAutofit/>
          </a:bodyPr>
          <a:lstStyle/>
          <a:p>
            <a:r>
              <a:rPr lang="fr-BE" sz="2800" dirty="0" err="1"/>
              <a:t>Fabric</a:t>
            </a:r>
            <a:r>
              <a:rPr lang="fr-BE" sz="2800" dirty="0"/>
              <a:t> monitoring /</a:t>
            </a:r>
            <a:r>
              <a:rPr lang="fr-BE" sz="2800" dirty="0" err="1"/>
              <a:t>Implementation</a:t>
            </a:r>
            <a:r>
              <a:rPr lang="fr-BE" sz="2800" dirty="0"/>
              <a:t> /KQL </a:t>
            </a:r>
            <a:endParaRPr lang="en-BE" sz="28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60583D8-6F7C-2915-4A49-D8F1B848B7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312" y="859896"/>
            <a:ext cx="2812098" cy="2869488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DF998C01-9748-4570-7894-F471245188D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390" y="4016466"/>
            <a:ext cx="2615661" cy="2587535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ACB5AA9F-ACCE-CDEE-E382-A85F38F5253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77746" y="950726"/>
            <a:ext cx="5006774" cy="1874682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D68ECAAC-DBF3-3563-D7AC-4E94761AC6F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75516" y="2965701"/>
            <a:ext cx="5471634" cy="1066892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0B4ECDAD-0499-2A93-91B2-896FE249703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177746" y="4016466"/>
            <a:ext cx="4442845" cy="1204064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3F1BACC5-957A-10CA-9CFC-B9B403ECA2F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275516" y="5381448"/>
            <a:ext cx="5105842" cy="10516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400709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707914-0C3D-2859-5615-A468DD90F1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605AFB-BB67-85A0-3564-5843EAD19CF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03868" y="93132"/>
            <a:ext cx="9144000" cy="766763"/>
          </a:xfrm>
        </p:spPr>
        <p:txBody>
          <a:bodyPr>
            <a:noAutofit/>
          </a:bodyPr>
          <a:lstStyle/>
          <a:p>
            <a:r>
              <a:rPr lang="fr-BE" sz="2800" dirty="0" err="1"/>
              <a:t>Fabric</a:t>
            </a:r>
            <a:r>
              <a:rPr lang="fr-BE" sz="2800" dirty="0"/>
              <a:t> monitoring /</a:t>
            </a:r>
            <a:r>
              <a:rPr lang="fr-BE" sz="2800" dirty="0" err="1"/>
              <a:t>Implementation</a:t>
            </a:r>
            <a:r>
              <a:rPr lang="fr-BE" sz="2800" dirty="0"/>
              <a:t> /</a:t>
            </a:r>
            <a:r>
              <a:rPr lang="fr-BE" sz="2800" dirty="0" err="1"/>
              <a:t>Lakehouse</a:t>
            </a:r>
            <a:endParaRPr lang="en-BE" sz="28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04BD5A7-0ECF-7AEB-DF86-E9D0B7195DC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7986" y="1202168"/>
            <a:ext cx="4633362" cy="228619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25887FB-4B0E-C3CC-CB89-4158BF8F113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41348" y="1095903"/>
            <a:ext cx="2289875" cy="4802549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B78A9F7D-BE56-F4E7-BE40-63887955E10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38073" y="1095903"/>
            <a:ext cx="2994920" cy="624894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04524C3A-9937-EC87-BC77-0A29A99A12D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31223" y="1956805"/>
            <a:ext cx="4237087" cy="36960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540460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0AF49E-8101-45DC-D425-BB8326E37A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DAFA3E-83E0-F4CA-D942-24618DAAFC5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03868" y="93132"/>
            <a:ext cx="9144000" cy="766763"/>
          </a:xfrm>
        </p:spPr>
        <p:txBody>
          <a:bodyPr>
            <a:noAutofit/>
          </a:bodyPr>
          <a:lstStyle/>
          <a:p>
            <a:r>
              <a:rPr lang="fr-BE" sz="2800" dirty="0" err="1"/>
              <a:t>Fabric</a:t>
            </a:r>
            <a:r>
              <a:rPr lang="fr-BE" sz="2800" dirty="0"/>
              <a:t> monitoring /</a:t>
            </a:r>
            <a:r>
              <a:rPr lang="fr-BE" sz="2800" dirty="0" err="1"/>
              <a:t>Implementation</a:t>
            </a:r>
            <a:r>
              <a:rPr lang="fr-BE" sz="2800" dirty="0"/>
              <a:t> Recommandation</a:t>
            </a:r>
            <a:endParaRPr lang="en-BE" sz="28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69541F4-69E7-B909-585A-B6A7233A569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8159" y="1097078"/>
            <a:ext cx="3718882" cy="4663844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17B0ECD1-A8E9-C3B6-F48B-771A66564CA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7073" y="1484525"/>
            <a:ext cx="3977985" cy="24157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715076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1F5F73-2709-1259-B267-532751C5B1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17669F-4B81-5E55-DAD6-9F4C58E63AF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82604" y="114398"/>
            <a:ext cx="9144000" cy="766763"/>
          </a:xfrm>
        </p:spPr>
        <p:txBody>
          <a:bodyPr>
            <a:noAutofit/>
          </a:bodyPr>
          <a:lstStyle/>
          <a:p>
            <a:r>
              <a:rPr lang="fr-BE" sz="1800" dirty="0"/>
              <a:t>FUAM</a:t>
            </a:r>
            <a:endParaRPr lang="en-BE" sz="18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84CF907-FA46-5D53-71AE-E978E35809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7078" y="984643"/>
            <a:ext cx="4737889" cy="108870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B2340FA-FF70-2491-8D4B-3C6B2DF23F3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7078" y="2381693"/>
            <a:ext cx="3139035" cy="2583712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64A35B97-75EE-471B-E6FF-D40085B5876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7078" y="5098851"/>
            <a:ext cx="3026108" cy="1644751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BFCC6A19-F9EB-5D33-B71B-10594208375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26113" y="2094614"/>
            <a:ext cx="3078819" cy="2870791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F2F4C69F-7B6B-3E7F-CE03-AA7D3B68210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61628" y="114398"/>
            <a:ext cx="4126820" cy="2134358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6A29EEBF-232F-3F68-EAFD-D1F9ABEDD93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95027" y="2142941"/>
            <a:ext cx="2862674" cy="2466304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71A8A6F8-FE9A-3057-5CBF-709A81A3F20A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426113" y="5082294"/>
            <a:ext cx="2509284" cy="1677864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F364E7DB-C71E-54CC-BAFC-684EFFC87E2E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048324" y="4609245"/>
            <a:ext cx="3068938" cy="2052084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3D7D9B37-EA4E-04A9-DCDB-C62F158FC63A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780137" y="3241650"/>
            <a:ext cx="3292934" cy="17237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998657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3279B4-2199-E413-0026-C81B8FA33A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E23AEB-1DA1-BBB7-6E76-7DF3E1D240D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29441" y="159489"/>
            <a:ext cx="9144000" cy="392063"/>
          </a:xfrm>
        </p:spPr>
        <p:txBody>
          <a:bodyPr>
            <a:noAutofit/>
          </a:bodyPr>
          <a:lstStyle/>
          <a:p>
            <a:r>
              <a:rPr lang="fr-BE" sz="1800" dirty="0"/>
              <a:t>FUAM</a:t>
            </a:r>
            <a:endParaRPr lang="en-BE" sz="18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60A9E11-5BFF-2022-8FA4-E5646D480F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1506" y="995001"/>
            <a:ext cx="3682141" cy="3056004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A6A13814-D7F5-779D-7AEE-2036E4AE83B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47163" y="890852"/>
            <a:ext cx="4335819" cy="305600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5B1960EB-245A-58E0-11CA-D0931923087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5862" y="4494454"/>
            <a:ext cx="10962559" cy="168402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415C3EB-BFB4-5323-2FA6-E2D020318B30}"/>
              </a:ext>
            </a:extLst>
          </p:cNvPr>
          <p:cNvSpPr txBox="1"/>
          <p:nvPr/>
        </p:nvSpPr>
        <p:spPr>
          <a:xfrm>
            <a:off x="557312" y="4232844"/>
            <a:ext cx="3506088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BE" sz="1100" b="1" i="1" dirty="0">
                <a:solidFill>
                  <a:srgbClr val="FF0000"/>
                </a:solidFill>
              </a:rPr>
              <a:t>FUAM master </a:t>
            </a:r>
            <a:r>
              <a:rPr lang="fr-BE" sz="1100" b="1" i="1" dirty="0" err="1">
                <a:solidFill>
                  <a:srgbClr val="FF0000"/>
                </a:solidFill>
              </a:rPr>
              <a:t>pepeline</a:t>
            </a:r>
            <a:r>
              <a:rPr lang="fr-BE" sz="1100" b="1" i="1" dirty="0">
                <a:solidFill>
                  <a:srgbClr val="FF0000"/>
                </a:solidFill>
              </a:rPr>
              <a:t> in action and run </a:t>
            </a:r>
            <a:r>
              <a:rPr lang="fr-BE" sz="1100" b="1" i="1" dirty="0" err="1">
                <a:solidFill>
                  <a:srgbClr val="FF0000"/>
                </a:solidFill>
              </a:rPr>
              <a:t>succesfully</a:t>
            </a:r>
            <a:r>
              <a:rPr lang="fr-BE" sz="1100" b="1" i="1" dirty="0">
                <a:solidFill>
                  <a:srgbClr val="FF0000"/>
                </a:solidFill>
              </a:rPr>
              <a:t> </a:t>
            </a:r>
            <a:endParaRPr lang="en-BE" sz="1100" b="1" i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9150545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369292-E261-1F87-810B-F5D7724B55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F3C709-8B28-A453-55CB-681A1E74173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29441" y="159489"/>
            <a:ext cx="9144000" cy="392063"/>
          </a:xfrm>
        </p:spPr>
        <p:txBody>
          <a:bodyPr>
            <a:noAutofit/>
          </a:bodyPr>
          <a:lstStyle/>
          <a:p>
            <a:r>
              <a:rPr lang="fr-BE" sz="1800" dirty="0" err="1"/>
              <a:t>Some</a:t>
            </a:r>
            <a:r>
              <a:rPr lang="fr-BE" sz="1800" dirty="0"/>
              <a:t> Notebooks </a:t>
            </a:r>
            <a:r>
              <a:rPr lang="fr-BE" sz="1800" dirty="0" err="1"/>
              <a:t>erros</a:t>
            </a:r>
            <a:r>
              <a:rPr lang="fr-BE" sz="1800" dirty="0"/>
              <a:t> (</a:t>
            </a:r>
            <a:r>
              <a:rPr lang="fr-BE" sz="1800" dirty="0" err="1"/>
              <a:t>domain</a:t>
            </a:r>
            <a:r>
              <a:rPr lang="fr-BE" sz="1800" dirty="0"/>
              <a:t> pipeline)</a:t>
            </a:r>
            <a:endParaRPr lang="en-BE" sz="18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7ADCEA5-10E5-9DEE-08C0-4BF48CFCF75A}"/>
              </a:ext>
            </a:extLst>
          </p:cNvPr>
          <p:cNvSpPr txBox="1"/>
          <p:nvPr/>
        </p:nvSpPr>
        <p:spPr>
          <a:xfrm>
            <a:off x="223283" y="2663309"/>
            <a:ext cx="10643191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BE" sz="500" dirty="0"/>
              <a:t># </a:t>
            </a:r>
            <a:r>
              <a:rPr lang="fr-BE" sz="500" dirty="0" err="1"/>
              <a:t>Explode</a:t>
            </a:r>
            <a:r>
              <a:rPr lang="fr-BE" sz="500" dirty="0"/>
              <a:t> </a:t>
            </a:r>
            <a:r>
              <a:rPr lang="fr-BE" sz="500" dirty="0" err="1"/>
              <a:t>json</a:t>
            </a:r>
            <a:r>
              <a:rPr lang="fr-BE" sz="500" dirty="0"/>
              <a:t> </a:t>
            </a:r>
            <a:r>
              <a:rPr lang="fr-BE" sz="500" dirty="0" err="1"/>
              <a:t>subset</a:t>
            </a:r>
            <a:r>
              <a:rPr lang="fr-BE" sz="500" dirty="0"/>
              <a:t> structure</a:t>
            </a:r>
          </a:p>
          <a:p>
            <a:r>
              <a:rPr lang="fr-BE" sz="500" dirty="0" err="1"/>
              <a:t>exploded_df</a:t>
            </a:r>
            <a:r>
              <a:rPr lang="fr-BE" sz="500" dirty="0"/>
              <a:t> = </a:t>
            </a:r>
            <a:r>
              <a:rPr lang="fr-BE" sz="500" dirty="0" err="1"/>
              <a:t>bronze_df.select</a:t>
            </a:r>
            <a:r>
              <a:rPr lang="fr-BE" sz="500" dirty="0"/>
              <a:t>(</a:t>
            </a:r>
            <a:r>
              <a:rPr lang="fr-BE" sz="500" dirty="0" err="1"/>
              <a:t>explode</a:t>
            </a:r>
            <a:r>
              <a:rPr lang="fr-BE" sz="500" dirty="0"/>
              <a:t>("</a:t>
            </a:r>
            <a:r>
              <a:rPr lang="fr-BE" sz="500" dirty="0" err="1"/>
              <a:t>domains</a:t>
            </a:r>
            <a:r>
              <a:rPr lang="fr-BE" sz="500" dirty="0"/>
              <a:t>").alias("d"))</a:t>
            </a:r>
          </a:p>
          <a:p>
            <a:br>
              <a:rPr lang="fr-BE" sz="500" dirty="0"/>
            </a:br>
            <a:endParaRPr lang="fr-BE" sz="500" dirty="0"/>
          </a:p>
          <a:p>
            <a:r>
              <a:rPr lang="fr-BE" sz="500" dirty="0"/>
              <a:t># </a:t>
            </a:r>
            <a:r>
              <a:rPr lang="fr-BE" sz="500" dirty="0" err="1"/>
              <a:t>Extract</a:t>
            </a:r>
            <a:r>
              <a:rPr lang="fr-BE" sz="500" dirty="0"/>
              <a:t> </a:t>
            </a:r>
            <a:r>
              <a:rPr lang="fr-BE" sz="500" dirty="0" err="1"/>
              <a:t>json</a:t>
            </a:r>
            <a:r>
              <a:rPr lang="fr-BE" sz="500" dirty="0"/>
              <a:t> </a:t>
            </a:r>
            <a:r>
              <a:rPr lang="fr-BE" sz="500" dirty="0" err="1"/>
              <a:t>objects</a:t>
            </a:r>
            <a:r>
              <a:rPr lang="fr-BE" sz="500" dirty="0"/>
              <a:t> to </a:t>
            </a:r>
            <a:r>
              <a:rPr lang="fr-BE" sz="500" dirty="0" err="1"/>
              <a:t>tabular</a:t>
            </a:r>
            <a:r>
              <a:rPr lang="fr-BE" sz="500" dirty="0"/>
              <a:t> </a:t>
            </a:r>
            <a:r>
              <a:rPr lang="fr-BE" sz="500" dirty="0" err="1"/>
              <a:t>form</a:t>
            </a:r>
            <a:endParaRPr lang="fr-BE" sz="500" dirty="0"/>
          </a:p>
          <a:p>
            <a:r>
              <a:rPr lang="fr-BE" sz="500" dirty="0" err="1"/>
              <a:t>extracted_df</a:t>
            </a:r>
            <a:r>
              <a:rPr lang="fr-BE" sz="500" dirty="0"/>
              <a:t> = </a:t>
            </a:r>
            <a:r>
              <a:rPr lang="fr-BE" sz="500" dirty="0" err="1"/>
              <a:t>exploded_df.select</a:t>
            </a:r>
            <a:r>
              <a:rPr lang="fr-BE" sz="500" dirty="0"/>
              <a:t>(col("d.*"))</a:t>
            </a:r>
          </a:p>
          <a:p>
            <a:br>
              <a:rPr lang="fr-BE" sz="500" dirty="0"/>
            </a:br>
            <a:endParaRPr lang="fr-BE" sz="500" dirty="0"/>
          </a:p>
          <a:p>
            <a:r>
              <a:rPr lang="fr-BE" sz="500" dirty="0" err="1"/>
              <a:t>extracted_df</a:t>
            </a:r>
            <a:r>
              <a:rPr lang="fr-BE" sz="500" dirty="0"/>
              <a:t> = </a:t>
            </a:r>
            <a:r>
              <a:rPr lang="fr-BE" sz="500" dirty="0" err="1"/>
              <a:t>extracted_df.withColumnRenamed</a:t>
            </a:r>
            <a:r>
              <a:rPr lang="fr-BE" sz="500" dirty="0"/>
              <a:t>("id", "</a:t>
            </a:r>
            <a:r>
              <a:rPr lang="fr-BE" sz="500" dirty="0" err="1"/>
              <a:t>DomainId</a:t>
            </a:r>
            <a:r>
              <a:rPr lang="fr-BE" sz="500" dirty="0"/>
              <a:t>").</a:t>
            </a:r>
            <a:r>
              <a:rPr lang="fr-BE" sz="500" dirty="0" err="1"/>
              <a:t>withColumnRenamed</a:t>
            </a:r>
            <a:r>
              <a:rPr lang="fr-BE" sz="500" dirty="0"/>
              <a:t>("</a:t>
            </a:r>
            <a:r>
              <a:rPr lang="fr-BE" sz="500" dirty="0" err="1"/>
              <a:t>parentDomainId</a:t>
            </a:r>
            <a:r>
              <a:rPr lang="fr-BE" sz="500" dirty="0"/>
              <a:t>", "</a:t>
            </a:r>
            <a:r>
              <a:rPr lang="fr-BE" sz="500" dirty="0" err="1"/>
              <a:t>ParentDomainId</a:t>
            </a:r>
            <a:r>
              <a:rPr lang="fr-BE" sz="500" dirty="0"/>
              <a:t>").</a:t>
            </a:r>
            <a:r>
              <a:rPr lang="fr-BE" sz="500" dirty="0" err="1"/>
              <a:t>withColumnRenamed</a:t>
            </a:r>
            <a:r>
              <a:rPr lang="fr-BE" sz="500" dirty="0"/>
              <a:t>("</a:t>
            </a:r>
            <a:r>
              <a:rPr lang="fr-BE" sz="500" dirty="0" err="1"/>
              <a:t>displayName</a:t>
            </a:r>
            <a:r>
              <a:rPr lang="fr-BE" sz="500" dirty="0"/>
              <a:t>", "</a:t>
            </a:r>
            <a:r>
              <a:rPr lang="fr-BE" sz="500" dirty="0" err="1"/>
              <a:t>DomainName</a:t>
            </a:r>
            <a:r>
              <a:rPr lang="fr-BE" sz="500" dirty="0"/>
              <a:t>").</a:t>
            </a:r>
            <a:r>
              <a:rPr lang="fr-BE" sz="500" dirty="0" err="1"/>
              <a:t>withColumnRenamed</a:t>
            </a:r>
            <a:r>
              <a:rPr lang="fr-BE" sz="500" dirty="0"/>
              <a:t>("</a:t>
            </a:r>
            <a:r>
              <a:rPr lang="fr-BE" sz="500" dirty="0" err="1"/>
              <a:t>contributorsScope</a:t>
            </a:r>
            <a:r>
              <a:rPr lang="fr-BE" sz="500" dirty="0"/>
              <a:t>", "</a:t>
            </a:r>
            <a:r>
              <a:rPr lang="fr-BE" sz="500" dirty="0" err="1"/>
              <a:t>DomainContributorsScope</a:t>
            </a:r>
            <a:r>
              <a:rPr lang="fr-BE" sz="500" dirty="0"/>
              <a:t>").</a:t>
            </a:r>
            <a:r>
              <a:rPr lang="fr-BE" sz="500" dirty="0" err="1"/>
              <a:t>withColumnRenamed</a:t>
            </a:r>
            <a:r>
              <a:rPr lang="fr-BE" sz="500" dirty="0"/>
              <a:t>("description", "</a:t>
            </a:r>
            <a:r>
              <a:rPr lang="fr-BE" sz="500" dirty="0" err="1"/>
              <a:t>DomainDescription</a:t>
            </a:r>
            <a:r>
              <a:rPr lang="fr-BE" sz="500" dirty="0"/>
              <a:t>")</a:t>
            </a:r>
          </a:p>
          <a:p>
            <a:r>
              <a:rPr lang="fr-BE" sz="500" dirty="0" err="1"/>
              <a:t>silver_df</a:t>
            </a:r>
            <a:r>
              <a:rPr lang="fr-BE" sz="500" dirty="0"/>
              <a:t> = </a:t>
            </a:r>
            <a:r>
              <a:rPr lang="fr-BE" sz="500" dirty="0" err="1"/>
              <a:t>extracted_df.withColumn</a:t>
            </a:r>
            <a:r>
              <a:rPr lang="fr-BE" sz="500" dirty="0"/>
              <a:t>("</a:t>
            </a:r>
            <a:r>
              <a:rPr lang="fr-BE" sz="500" dirty="0" err="1"/>
              <a:t>DomainId</a:t>
            </a:r>
            <a:r>
              <a:rPr lang="fr-BE" sz="500" dirty="0"/>
              <a:t>", </a:t>
            </a:r>
            <a:r>
              <a:rPr lang="fr-BE" sz="500" dirty="0" err="1"/>
              <a:t>upper</a:t>
            </a:r>
            <a:r>
              <a:rPr lang="fr-BE" sz="500" dirty="0"/>
              <a:t>("</a:t>
            </a:r>
            <a:r>
              <a:rPr lang="fr-BE" sz="500" dirty="0" err="1"/>
              <a:t>DomainId</a:t>
            </a:r>
            <a:r>
              <a:rPr lang="fr-BE" sz="500" dirty="0"/>
              <a:t>")).</a:t>
            </a:r>
            <a:r>
              <a:rPr lang="fr-BE" sz="500" dirty="0" err="1"/>
              <a:t>withColumn</a:t>
            </a:r>
            <a:r>
              <a:rPr lang="fr-BE" sz="500" dirty="0"/>
              <a:t>("</a:t>
            </a:r>
            <a:r>
              <a:rPr lang="fr-BE" sz="500" dirty="0" err="1"/>
              <a:t>ParentDomainId</a:t>
            </a:r>
            <a:r>
              <a:rPr lang="fr-BE" sz="500" dirty="0"/>
              <a:t>", </a:t>
            </a:r>
            <a:r>
              <a:rPr lang="fr-BE" sz="500" dirty="0" err="1"/>
              <a:t>upper</a:t>
            </a:r>
            <a:r>
              <a:rPr lang="fr-BE" sz="500" dirty="0"/>
              <a:t>("</a:t>
            </a:r>
            <a:r>
              <a:rPr lang="fr-BE" sz="500" dirty="0" err="1"/>
              <a:t>ParentDomainId</a:t>
            </a:r>
            <a:r>
              <a:rPr lang="fr-BE" sz="500" dirty="0"/>
              <a:t>"))</a:t>
            </a:r>
          </a:p>
          <a:p>
            <a:br>
              <a:rPr lang="fr-BE" sz="500" dirty="0"/>
            </a:br>
            <a:endParaRPr lang="fr-BE" sz="500" dirty="0"/>
          </a:p>
          <a:p>
            <a:r>
              <a:rPr lang="fr-BE" sz="500" dirty="0"/>
              <a:t>if </a:t>
            </a:r>
            <a:r>
              <a:rPr lang="fr-BE" sz="500" dirty="0" err="1"/>
              <a:t>display_data</a:t>
            </a:r>
            <a:r>
              <a:rPr lang="fr-BE" sz="500" dirty="0"/>
              <a:t>:</a:t>
            </a:r>
          </a:p>
          <a:p>
            <a:r>
              <a:rPr lang="fr-BE" sz="500" dirty="0"/>
              <a:t>    display(</a:t>
            </a:r>
            <a:r>
              <a:rPr lang="fr-BE" sz="500" dirty="0" err="1"/>
              <a:t>extracted_df</a:t>
            </a:r>
            <a:r>
              <a:rPr lang="fr-BE" sz="500" dirty="0"/>
              <a:t>)</a:t>
            </a:r>
          </a:p>
          <a:p>
            <a:endParaRPr lang="en-BE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8B9F14F-C6F8-AAD6-0915-39E908EE98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92865" y="582317"/>
            <a:ext cx="7716944" cy="1970789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C1FB97BC-1DDD-880C-79D6-82B078C9CA9A}"/>
              </a:ext>
            </a:extLst>
          </p:cNvPr>
          <p:cNvSpPr txBox="1"/>
          <p:nvPr/>
        </p:nvSpPr>
        <p:spPr>
          <a:xfrm>
            <a:off x="5801441" y="784730"/>
            <a:ext cx="120147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BE" sz="1200" b="1" i="1" dirty="0" err="1">
                <a:solidFill>
                  <a:srgbClr val="FF0000"/>
                </a:solidFill>
              </a:rPr>
              <a:t>error</a:t>
            </a:r>
            <a:endParaRPr lang="en-BE" sz="1200" b="1" i="1" dirty="0">
              <a:solidFill>
                <a:srgbClr val="FF0000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4690C8A-056A-8FE7-E8AC-B109D128E1E2}"/>
              </a:ext>
            </a:extLst>
          </p:cNvPr>
          <p:cNvSpPr txBox="1"/>
          <p:nvPr/>
        </p:nvSpPr>
        <p:spPr>
          <a:xfrm>
            <a:off x="3235842" y="2699803"/>
            <a:ext cx="120147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BE" sz="1100" b="1" i="1" dirty="0">
                <a:solidFill>
                  <a:srgbClr val="FF0000"/>
                </a:solidFill>
              </a:rPr>
              <a:t>Original code</a:t>
            </a:r>
            <a:endParaRPr lang="en-BE" sz="1100" b="1" i="1" dirty="0">
              <a:solidFill>
                <a:srgbClr val="FF0000"/>
              </a:solidFill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D210D87F-4282-1C46-7CDF-7B7B300930A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20855" y="3575987"/>
            <a:ext cx="4972494" cy="3122524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6DE26FC9-6D7D-F8E1-3533-E89BB9B2A40E}"/>
              </a:ext>
            </a:extLst>
          </p:cNvPr>
          <p:cNvSpPr txBox="1"/>
          <p:nvPr/>
        </p:nvSpPr>
        <p:spPr>
          <a:xfrm>
            <a:off x="8640725" y="3718975"/>
            <a:ext cx="120147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BE" sz="1100" b="1" i="1" dirty="0">
                <a:solidFill>
                  <a:srgbClr val="FF0000"/>
                </a:solidFill>
              </a:rPr>
              <a:t>Fix </a:t>
            </a:r>
            <a:r>
              <a:rPr lang="fr-BE" sz="1100" b="1" i="1" dirty="0" err="1">
                <a:solidFill>
                  <a:srgbClr val="FF0000"/>
                </a:solidFill>
              </a:rPr>
              <a:t>from</a:t>
            </a:r>
            <a:r>
              <a:rPr lang="fr-BE" sz="1100" b="1" i="1" dirty="0">
                <a:solidFill>
                  <a:srgbClr val="FF0000"/>
                </a:solidFill>
              </a:rPr>
              <a:t> </a:t>
            </a:r>
            <a:r>
              <a:rPr lang="fr-BE" sz="1100" b="1" i="1" dirty="0" err="1">
                <a:solidFill>
                  <a:srgbClr val="FF0000"/>
                </a:solidFill>
              </a:rPr>
              <a:t>copilot</a:t>
            </a:r>
            <a:endParaRPr lang="en-BE" sz="1100" b="1" i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716894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5C5614-BDBE-EA52-3059-EB36F251EE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B870A1-C6C3-1021-3B43-3005B8CEF2B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29441" y="159489"/>
            <a:ext cx="9144000" cy="392063"/>
          </a:xfrm>
        </p:spPr>
        <p:txBody>
          <a:bodyPr>
            <a:noAutofit/>
          </a:bodyPr>
          <a:lstStyle/>
          <a:p>
            <a:r>
              <a:rPr lang="fr-BE" sz="1800" dirty="0" err="1"/>
              <a:t>Some</a:t>
            </a:r>
            <a:r>
              <a:rPr lang="fr-BE" sz="1800" dirty="0"/>
              <a:t> pipeline </a:t>
            </a:r>
            <a:r>
              <a:rPr lang="fr-BE" sz="1800" dirty="0" err="1"/>
              <a:t>capacity</a:t>
            </a:r>
            <a:r>
              <a:rPr lang="fr-BE" sz="1800" dirty="0"/>
              <a:t> </a:t>
            </a:r>
            <a:r>
              <a:rPr lang="fr-BE" sz="1800" dirty="0" err="1"/>
              <a:t>metrics</a:t>
            </a:r>
            <a:r>
              <a:rPr lang="fr-BE" sz="1800" dirty="0"/>
              <a:t> </a:t>
            </a:r>
            <a:r>
              <a:rPr lang="fr-BE" sz="1800" dirty="0" err="1"/>
              <a:t>error</a:t>
            </a:r>
            <a:endParaRPr lang="en-BE" sz="18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9FD742A-7F88-B8DD-709D-EAC77F051C98}"/>
              </a:ext>
            </a:extLst>
          </p:cNvPr>
          <p:cNvSpPr txBox="1"/>
          <p:nvPr/>
        </p:nvSpPr>
        <p:spPr>
          <a:xfrm>
            <a:off x="543934" y="437993"/>
            <a:ext cx="679666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BE" sz="1000" i="1" dirty="0">
                <a:solidFill>
                  <a:srgbClr val="FF0000"/>
                </a:solidFill>
              </a:rPr>
              <a:t>The </a:t>
            </a:r>
            <a:r>
              <a:rPr lang="fr-BE" sz="1000" i="1" dirty="0" err="1">
                <a:solidFill>
                  <a:srgbClr val="FF0000"/>
                </a:solidFill>
              </a:rPr>
              <a:t>automaticlly</a:t>
            </a:r>
            <a:r>
              <a:rPr lang="fr-BE" sz="1000" i="1" dirty="0">
                <a:solidFill>
                  <a:srgbClr val="FF0000"/>
                </a:solidFill>
              </a:rPr>
              <a:t> </a:t>
            </a:r>
            <a:r>
              <a:rPr lang="fr-BE" sz="1000" i="1" dirty="0" err="1">
                <a:solidFill>
                  <a:srgbClr val="FF0000"/>
                </a:solidFill>
              </a:rPr>
              <a:t>created</a:t>
            </a:r>
            <a:r>
              <a:rPr lang="fr-BE" sz="1000" i="1" dirty="0">
                <a:solidFill>
                  <a:srgbClr val="FF0000"/>
                </a:solidFill>
              </a:rPr>
              <a:t>  pipeline made </a:t>
            </a:r>
            <a:r>
              <a:rPr lang="fr-BE" sz="1000" i="1" dirty="0" err="1">
                <a:solidFill>
                  <a:srgbClr val="FF0000"/>
                </a:solidFill>
              </a:rPr>
              <a:t>some</a:t>
            </a:r>
            <a:r>
              <a:rPr lang="fr-BE" sz="1000" i="1" dirty="0">
                <a:solidFill>
                  <a:srgbClr val="FF0000"/>
                </a:solidFill>
              </a:rPr>
              <a:t> </a:t>
            </a:r>
            <a:r>
              <a:rPr lang="fr-BE" sz="1000" i="1" dirty="0" err="1">
                <a:solidFill>
                  <a:srgbClr val="FF0000"/>
                </a:solidFill>
              </a:rPr>
              <a:t>mistable</a:t>
            </a:r>
            <a:r>
              <a:rPr lang="fr-BE" sz="1000" i="1" dirty="0">
                <a:solidFill>
                  <a:srgbClr val="FF0000"/>
                </a:solidFill>
              </a:rPr>
              <a:t> on the </a:t>
            </a:r>
            <a:r>
              <a:rPr lang="fr-BE" sz="1000" i="1" dirty="0" err="1">
                <a:solidFill>
                  <a:srgbClr val="FF0000"/>
                </a:solidFill>
              </a:rPr>
              <a:t>Capacity</a:t>
            </a:r>
            <a:r>
              <a:rPr lang="fr-BE" sz="1000" i="1" dirty="0">
                <a:solidFill>
                  <a:srgbClr val="FF0000"/>
                </a:solidFill>
              </a:rPr>
              <a:t> </a:t>
            </a:r>
            <a:r>
              <a:rPr lang="fr-BE" sz="1000" i="1" dirty="0" err="1">
                <a:solidFill>
                  <a:srgbClr val="FF0000"/>
                </a:solidFill>
              </a:rPr>
              <a:t>metrcis</a:t>
            </a:r>
            <a:r>
              <a:rPr lang="fr-BE" sz="1000" i="1" dirty="0">
                <a:solidFill>
                  <a:srgbClr val="FF0000"/>
                </a:solidFill>
              </a:rPr>
              <a:t> Workspace info,</a:t>
            </a:r>
          </a:p>
          <a:p>
            <a:r>
              <a:rPr lang="fr-BE" sz="1000" b="1" i="1" dirty="0" err="1">
                <a:solidFill>
                  <a:srgbClr val="FF0000"/>
                </a:solidFill>
              </a:rPr>
              <a:t>Capacity</a:t>
            </a:r>
            <a:r>
              <a:rPr lang="fr-BE" sz="1000" b="1" i="1" dirty="0">
                <a:solidFill>
                  <a:srgbClr val="FF0000"/>
                </a:solidFill>
              </a:rPr>
              <a:t> </a:t>
            </a:r>
            <a:r>
              <a:rPr lang="fr-BE" sz="1000" b="1" i="1" dirty="0" err="1">
                <a:solidFill>
                  <a:srgbClr val="FF0000"/>
                </a:solidFill>
              </a:rPr>
              <a:t>metric</a:t>
            </a:r>
            <a:r>
              <a:rPr lang="fr-BE" sz="1000" b="1" i="1" dirty="0">
                <a:solidFill>
                  <a:srgbClr val="FF0000"/>
                </a:solidFill>
              </a:rPr>
              <a:t> WS ID  </a:t>
            </a:r>
            <a:r>
              <a:rPr lang="fr-BE" sz="1000" i="1" dirty="0">
                <a:solidFill>
                  <a:srgbClr val="FF0000"/>
                </a:solidFill>
              </a:rPr>
              <a:t>and </a:t>
            </a:r>
            <a:r>
              <a:rPr lang="fr-BE" sz="1000" i="1" dirty="0" err="1">
                <a:solidFill>
                  <a:srgbClr val="FF0000"/>
                </a:solidFill>
              </a:rPr>
              <a:t>and</a:t>
            </a:r>
            <a:r>
              <a:rPr lang="fr-BE" sz="1000" i="1" dirty="0">
                <a:solidFill>
                  <a:srgbClr val="FF0000"/>
                </a:solidFill>
              </a:rPr>
              <a:t> </a:t>
            </a:r>
            <a:r>
              <a:rPr lang="fr-BE" sz="1000" b="1" i="1" dirty="0" err="1">
                <a:solidFill>
                  <a:srgbClr val="FF0000"/>
                </a:solidFill>
              </a:rPr>
              <a:t>datatest</a:t>
            </a:r>
            <a:r>
              <a:rPr lang="fr-BE" sz="1000" b="1" i="1" dirty="0">
                <a:solidFill>
                  <a:srgbClr val="FF0000"/>
                </a:solidFill>
              </a:rPr>
              <a:t> ID  </a:t>
            </a:r>
            <a:r>
              <a:rPr lang="fr-BE" sz="1000" i="1" dirty="0" err="1">
                <a:solidFill>
                  <a:srgbClr val="FF0000"/>
                </a:solidFill>
              </a:rPr>
              <a:t>were</a:t>
            </a:r>
            <a:r>
              <a:rPr lang="fr-BE" sz="1000" i="1" dirty="0">
                <a:solidFill>
                  <a:srgbClr val="FF0000"/>
                </a:solidFill>
              </a:rPr>
              <a:t>  </a:t>
            </a:r>
            <a:r>
              <a:rPr lang="fr-BE" sz="1000" i="1" dirty="0" err="1">
                <a:solidFill>
                  <a:srgbClr val="FF0000"/>
                </a:solidFill>
              </a:rPr>
              <a:t>wrong</a:t>
            </a:r>
            <a:r>
              <a:rPr lang="fr-BE" sz="1000" i="1" dirty="0">
                <a:solidFill>
                  <a:srgbClr val="FF0000"/>
                </a:solidFill>
              </a:rPr>
              <a:t> in the Master pipeline , </a:t>
            </a:r>
            <a:r>
              <a:rPr lang="fr-BE" sz="1000" i="1" dirty="0" err="1">
                <a:solidFill>
                  <a:srgbClr val="FF0000"/>
                </a:solidFill>
              </a:rPr>
              <a:t>make</a:t>
            </a:r>
            <a:r>
              <a:rPr lang="fr-BE" sz="1000" i="1" dirty="0">
                <a:solidFill>
                  <a:srgbClr val="FF0000"/>
                </a:solidFill>
              </a:rPr>
              <a:t> sure </a:t>
            </a:r>
            <a:r>
              <a:rPr lang="fr-BE" sz="1000" i="1" dirty="0" err="1">
                <a:solidFill>
                  <a:srgbClr val="FF0000"/>
                </a:solidFill>
              </a:rPr>
              <a:t>you</a:t>
            </a:r>
            <a:r>
              <a:rPr lang="fr-BE" sz="1000" i="1" dirty="0">
                <a:solidFill>
                  <a:srgbClr val="FF0000"/>
                </a:solidFill>
              </a:rPr>
              <a:t> </a:t>
            </a:r>
            <a:r>
              <a:rPr lang="fr-BE" sz="1000" i="1" dirty="0" err="1">
                <a:solidFill>
                  <a:srgbClr val="FF0000"/>
                </a:solidFill>
              </a:rPr>
              <a:t>add</a:t>
            </a:r>
            <a:r>
              <a:rPr lang="fr-BE" sz="1000" i="1" dirty="0">
                <a:solidFill>
                  <a:srgbClr val="FF0000"/>
                </a:solidFill>
              </a:rPr>
              <a:t> the good values </a:t>
            </a:r>
            <a:endParaRPr lang="en-BE" sz="1000" i="1" dirty="0">
              <a:solidFill>
                <a:srgbClr val="FF0000"/>
              </a:solidFill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78876C61-EAB7-2A22-85DE-25BAC5EFD81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3469" y="937622"/>
            <a:ext cx="6637595" cy="14098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242133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7A0268-1C4F-F69C-9659-4539A877FF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40FD73-C198-5026-464B-3D4F3FF1D3F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29441" y="159489"/>
            <a:ext cx="9144000" cy="392063"/>
          </a:xfrm>
        </p:spPr>
        <p:txBody>
          <a:bodyPr>
            <a:noAutofit/>
          </a:bodyPr>
          <a:lstStyle/>
          <a:p>
            <a:r>
              <a:rPr lang="fr-BE" sz="1800" dirty="0" err="1"/>
              <a:t>Some</a:t>
            </a:r>
            <a:r>
              <a:rPr lang="fr-BE" sz="1800" dirty="0"/>
              <a:t> </a:t>
            </a:r>
            <a:r>
              <a:rPr lang="fr-BE" sz="1800" dirty="0" err="1"/>
              <a:t>pip</a:t>
            </a:r>
            <a:r>
              <a:rPr lang="fr-BE" sz="1800" dirty="0"/>
              <a:t> </a:t>
            </a:r>
            <a:r>
              <a:rPr lang="fr-BE" sz="1800" dirty="0" err="1"/>
              <a:t>capacity</a:t>
            </a:r>
            <a:r>
              <a:rPr lang="fr-BE" sz="1800" dirty="0"/>
              <a:t> </a:t>
            </a:r>
            <a:r>
              <a:rPr lang="fr-BE" sz="1800" dirty="0" err="1"/>
              <a:t>metrics</a:t>
            </a:r>
            <a:endParaRPr lang="en-BE" sz="18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E6BEF90-6FC4-6C7B-1589-73F9CF1C881D}"/>
              </a:ext>
            </a:extLst>
          </p:cNvPr>
          <p:cNvSpPr txBox="1"/>
          <p:nvPr/>
        </p:nvSpPr>
        <p:spPr>
          <a:xfrm>
            <a:off x="543934" y="437993"/>
            <a:ext cx="679666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BE" sz="1000" i="1" dirty="0">
                <a:solidFill>
                  <a:srgbClr val="FF0000"/>
                </a:solidFill>
              </a:rPr>
              <a:t>The </a:t>
            </a:r>
            <a:r>
              <a:rPr lang="fr-BE" sz="1000" i="1" dirty="0" err="1">
                <a:solidFill>
                  <a:srgbClr val="FF0000"/>
                </a:solidFill>
              </a:rPr>
              <a:t>automaticlly</a:t>
            </a:r>
            <a:r>
              <a:rPr lang="fr-BE" sz="1000" i="1" dirty="0">
                <a:solidFill>
                  <a:srgbClr val="FF0000"/>
                </a:solidFill>
              </a:rPr>
              <a:t> </a:t>
            </a:r>
            <a:r>
              <a:rPr lang="fr-BE" sz="1000" i="1" dirty="0" err="1">
                <a:solidFill>
                  <a:srgbClr val="FF0000"/>
                </a:solidFill>
              </a:rPr>
              <a:t>created</a:t>
            </a:r>
            <a:r>
              <a:rPr lang="fr-BE" sz="1000" i="1" dirty="0">
                <a:solidFill>
                  <a:srgbClr val="FF0000"/>
                </a:solidFill>
              </a:rPr>
              <a:t>  pipeline made </a:t>
            </a:r>
            <a:r>
              <a:rPr lang="fr-BE" sz="1000" i="1" dirty="0" err="1">
                <a:solidFill>
                  <a:srgbClr val="FF0000"/>
                </a:solidFill>
              </a:rPr>
              <a:t>some</a:t>
            </a:r>
            <a:r>
              <a:rPr lang="fr-BE" sz="1000" i="1" dirty="0">
                <a:solidFill>
                  <a:srgbClr val="FF0000"/>
                </a:solidFill>
              </a:rPr>
              <a:t> </a:t>
            </a:r>
            <a:r>
              <a:rPr lang="fr-BE" sz="1000" i="1" dirty="0" err="1">
                <a:solidFill>
                  <a:srgbClr val="FF0000"/>
                </a:solidFill>
              </a:rPr>
              <a:t>mistable</a:t>
            </a:r>
            <a:r>
              <a:rPr lang="fr-BE" sz="1000" i="1" dirty="0">
                <a:solidFill>
                  <a:srgbClr val="FF0000"/>
                </a:solidFill>
              </a:rPr>
              <a:t> on the </a:t>
            </a:r>
            <a:r>
              <a:rPr lang="fr-BE" sz="1000" i="1" dirty="0" err="1">
                <a:solidFill>
                  <a:srgbClr val="FF0000"/>
                </a:solidFill>
              </a:rPr>
              <a:t>Capacity</a:t>
            </a:r>
            <a:r>
              <a:rPr lang="fr-BE" sz="1000" i="1" dirty="0">
                <a:solidFill>
                  <a:srgbClr val="FF0000"/>
                </a:solidFill>
              </a:rPr>
              <a:t> </a:t>
            </a:r>
            <a:r>
              <a:rPr lang="fr-BE" sz="1000" i="1" dirty="0" err="1">
                <a:solidFill>
                  <a:srgbClr val="FF0000"/>
                </a:solidFill>
              </a:rPr>
              <a:t>metrcis</a:t>
            </a:r>
            <a:r>
              <a:rPr lang="fr-BE" sz="1000" i="1" dirty="0">
                <a:solidFill>
                  <a:srgbClr val="FF0000"/>
                </a:solidFill>
              </a:rPr>
              <a:t> Workspace info,</a:t>
            </a:r>
          </a:p>
          <a:p>
            <a:r>
              <a:rPr lang="fr-BE" sz="1000" b="1" i="1" dirty="0" err="1">
                <a:solidFill>
                  <a:srgbClr val="FF0000"/>
                </a:solidFill>
              </a:rPr>
              <a:t>Capacity</a:t>
            </a:r>
            <a:r>
              <a:rPr lang="fr-BE" sz="1000" b="1" i="1" dirty="0">
                <a:solidFill>
                  <a:srgbClr val="FF0000"/>
                </a:solidFill>
              </a:rPr>
              <a:t> </a:t>
            </a:r>
            <a:r>
              <a:rPr lang="fr-BE" sz="1000" b="1" i="1" dirty="0" err="1">
                <a:solidFill>
                  <a:srgbClr val="FF0000"/>
                </a:solidFill>
              </a:rPr>
              <a:t>metric</a:t>
            </a:r>
            <a:r>
              <a:rPr lang="fr-BE" sz="1000" b="1" i="1" dirty="0">
                <a:solidFill>
                  <a:srgbClr val="FF0000"/>
                </a:solidFill>
              </a:rPr>
              <a:t> WS ID  </a:t>
            </a:r>
            <a:r>
              <a:rPr lang="fr-BE" sz="1000" i="1" dirty="0">
                <a:solidFill>
                  <a:srgbClr val="FF0000"/>
                </a:solidFill>
              </a:rPr>
              <a:t>and </a:t>
            </a:r>
            <a:r>
              <a:rPr lang="fr-BE" sz="1000" i="1" dirty="0" err="1">
                <a:solidFill>
                  <a:srgbClr val="FF0000"/>
                </a:solidFill>
              </a:rPr>
              <a:t>and</a:t>
            </a:r>
            <a:r>
              <a:rPr lang="fr-BE" sz="1000" i="1" dirty="0">
                <a:solidFill>
                  <a:srgbClr val="FF0000"/>
                </a:solidFill>
              </a:rPr>
              <a:t> </a:t>
            </a:r>
            <a:r>
              <a:rPr lang="fr-BE" sz="1000" b="1" i="1" dirty="0" err="1">
                <a:solidFill>
                  <a:srgbClr val="FF0000"/>
                </a:solidFill>
              </a:rPr>
              <a:t>datatest</a:t>
            </a:r>
            <a:r>
              <a:rPr lang="fr-BE" sz="1000" b="1" i="1" dirty="0">
                <a:solidFill>
                  <a:srgbClr val="FF0000"/>
                </a:solidFill>
              </a:rPr>
              <a:t> ID  </a:t>
            </a:r>
            <a:r>
              <a:rPr lang="fr-BE" sz="1000" i="1" dirty="0" err="1">
                <a:solidFill>
                  <a:srgbClr val="FF0000"/>
                </a:solidFill>
              </a:rPr>
              <a:t>were</a:t>
            </a:r>
            <a:r>
              <a:rPr lang="fr-BE" sz="1000" i="1" dirty="0">
                <a:solidFill>
                  <a:srgbClr val="FF0000"/>
                </a:solidFill>
              </a:rPr>
              <a:t>  </a:t>
            </a:r>
            <a:r>
              <a:rPr lang="fr-BE" sz="1000" i="1" dirty="0" err="1">
                <a:solidFill>
                  <a:srgbClr val="FF0000"/>
                </a:solidFill>
              </a:rPr>
              <a:t>wrong</a:t>
            </a:r>
            <a:r>
              <a:rPr lang="fr-BE" sz="1000" i="1" dirty="0">
                <a:solidFill>
                  <a:srgbClr val="FF0000"/>
                </a:solidFill>
              </a:rPr>
              <a:t> in the Master pipeline , </a:t>
            </a:r>
            <a:r>
              <a:rPr lang="fr-BE" sz="1000" i="1" dirty="0" err="1">
                <a:solidFill>
                  <a:srgbClr val="FF0000"/>
                </a:solidFill>
              </a:rPr>
              <a:t>make</a:t>
            </a:r>
            <a:r>
              <a:rPr lang="fr-BE" sz="1000" i="1" dirty="0">
                <a:solidFill>
                  <a:srgbClr val="FF0000"/>
                </a:solidFill>
              </a:rPr>
              <a:t> sure </a:t>
            </a:r>
            <a:r>
              <a:rPr lang="fr-BE" sz="1000" i="1" dirty="0" err="1">
                <a:solidFill>
                  <a:srgbClr val="FF0000"/>
                </a:solidFill>
              </a:rPr>
              <a:t>you</a:t>
            </a:r>
            <a:r>
              <a:rPr lang="fr-BE" sz="1000" i="1" dirty="0">
                <a:solidFill>
                  <a:srgbClr val="FF0000"/>
                </a:solidFill>
              </a:rPr>
              <a:t> </a:t>
            </a:r>
            <a:r>
              <a:rPr lang="fr-BE" sz="1000" i="1" dirty="0" err="1">
                <a:solidFill>
                  <a:srgbClr val="FF0000"/>
                </a:solidFill>
              </a:rPr>
              <a:t>add</a:t>
            </a:r>
            <a:r>
              <a:rPr lang="fr-BE" sz="1000" i="1" dirty="0">
                <a:solidFill>
                  <a:srgbClr val="FF0000"/>
                </a:solidFill>
              </a:rPr>
              <a:t> the good values </a:t>
            </a:r>
            <a:endParaRPr lang="en-BE" sz="1000" i="1" dirty="0">
              <a:solidFill>
                <a:srgbClr val="FF0000"/>
              </a:solidFill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3EE6A06B-E66A-B412-E318-6403C8A9FE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3469" y="937622"/>
            <a:ext cx="6637595" cy="14098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07627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61DCA9-FE3D-F2C0-1987-9B29364D89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E0A268-DFDA-B7EF-72B7-7FF6FC20C57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29441" y="159489"/>
            <a:ext cx="9144000" cy="392063"/>
          </a:xfrm>
        </p:spPr>
        <p:txBody>
          <a:bodyPr>
            <a:noAutofit/>
          </a:bodyPr>
          <a:lstStyle/>
          <a:p>
            <a:r>
              <a:rPr lang="fr-BE" sz="1800" dirty="0" err="1"/>
              <a:t>Some</a:t>
            </a:r>
            <a:r>
              <a:rPr lang="fr-BE" sz="1800" dirty="0"/>
              <a:t> Service principale </a:t>
            </a:r>
            <a:r>
              <a:rPr lang="fr-BE" sz="1800" dirty="0" err="1"/>
              <a:t>errors</a:t>
            </a:r>
            <a:r>
              <a:rPr lang="fr-BE" sz="1800" dirty="0"/>
              <a:t> for </a:t>
            </a:r>
            <a:r>
              <a:rPr lang="fr-BE" sz="1800" dirty="0" err="1"/>
              <a:t>erchestration</a:t>
            </a:r>
            <a:endParaRPr lang="en-BE" sz="18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E495B06-4B67-3B60-189A-FA0755D93645}"/>
              </a:ext>
            </a:extLst>
          </p:cNvPr>
          <p:cNvSpPr txBox="1"/>
          <p:nvPr/>
        </p:nvSpPr>
        <p:spPr>
          <a:xfrm>
            <a:off x="450801" y="903660"/>
            <a:ext cx="6796666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BE" sz="1000" dirty="0" err="1">
                <a:solidFill>
                  <a:srgbClr val="FF0000"/>
                </a:solidFill>
              </a:rPr>
              <a:t>Using</a:t>
            </a:r>
            <a:r>
              <a:rPr lang="fr-BE" sz="1000" dirty="0">
                <a:solidFill>
                  <a:srgbClr val="FF0000"/>
                </a:solidFill>
              </a:rPr>
              <a:t> the </a:t>
            </a:r>
            <a:r>
              <a:rPr lang="fr-BE" sz="1000" b="1" i="1" dirty="0">
                <a:solidFill>
                  <a:srgbClr val="FF0000"/>
                </a:solidFill>
              </a:rPr>
              <a:t>service </a:t>
            </a:r>
            <a:r>
              <a:rPr lang="fr-BE" sz="1000" b="1" i="1" dirty="0" err="1">
                <a:solidFill>
                  <a:srgbClr val="FF0000"/>
                </a:solidFill>
              </a:rPr>
              <a:t>prinpal</a:t>
            </a:r>
            <a:r>
              <a:rPr lang="fr-BE" sz="1000" b="1" i="1" dirty="0">
                <a:solidFill>
                  <a:srgbClr val="FF0000"/>
                </a:solidFill>
              </a:rPr>
              <a:t> </a:t>
            </a:r>
            <a:r>
              <a:rPr lang="fr-BE" sz="1000" b="1" i="1" dirty="0" err="1">
                <a:solidFill>
                  <a:srgbClr val="FF0000"/>
                </a:solidFill>
              </a:rPr>
              <a:t>created</a:t>
            </a:r>
            <a:r>
              <a:rPr lang="fr-BE" sz="1000" b="1" i="1" dirty="0">
                <a:solidFill>
                  <a:srgbClr val="FF0000"/>
                </a:solidFill>
              </a:rPr>
              <a:t>  </a:t>
            </a:r>
            <a:r>
              <a:rPr lang="fr-BE" sz="1000" dirty="0">
                <a:solidFill>
                  <a:srgbClr val="FF0000"/>
                </a:solidFill>
              </a:rPr>
              <a:t>to </a:t>
            </a:r>
            <a:r>
              <a:rPr lang="fr-BE" sz="1000" dirty="0" err="1">
                <a:solidFill>
                  <a:srgbClr val="FF0000"/>
                </a:solidFill>
              </a:rPr>
              <a:t>connect</a:t>
            </a:r>
            <a:r>
              <a:rPr lang="fr-BE" sz="1000" dirty="0">
                <a:solidFill>
                  <a:srgbClr val="FF0000"/>
                </a:solidFill>
              </a:rPr>
              <a:t> to </a:t>
            </a:r>
            <a:r>
              <a:rPr lang="fr-BE" sz="1000" dirty="0" err="1">
                <a:solidFill>
                  <a:srgbClr val="FF0000"/>
                </a:solidFill>
              </a:rPr>
              <a:t>Faric</a:t>
            </a:r>
            <a:r>
              <a:rPr lang="fr-BE" sz="1000" dirty="0">
                <a:solidFill>
                  <a:srgbClr val="FF0000"/>
                </a:solidFill>
              </a:rPr>
              <a:t> </a:t>
            </a:r>
            <a:r>
              <a:rPr lang="fr-BE" sz="1000" dirty="0" err="1">
                <a:solidFill>
                  <a:srgbClr val="FF0000"/>
                </a:solidFill>
              </a:rPr>
              <a:t>website</a:t>
            </a:r>
            <a:r>
              <a:rPr lang="fr-BE" sz="1000" dirty="0">
                <a:solidFill>
                  <a:srgbClr val="FF0000"/>
                </a:solidFill>
              </a:rPr>
              <a:t>. </a:t>
            </a:r>
            <a:r>
              <a:rPr lang="fr-BE" sz="1000" dirty="0" err="1">
                <a:solidFill>
                  <a:srgbClr val="FF0000"/>
                </a:solidFill>
              </a:rPr>
              <a:t>We</a:t>
            </a:r>
            <a:r>
              <a:rPr lang="fr-BE" sz="1000" dirty="0">
                <a:solidFill>
                  <a:srgbClr val="FF0000"/>
                </a:solidFill>
              </a:rPr>
              <a:t> are </a:t>
            </a:r>
            <a:r>
              <a:rPr lang="fr-BE" sz="1000" dirty="0" err="1">
                <a:solidFill>
                  <a:srgbClr val="FF0000"/>
                </a:solidFill>
              </a:rPr>
              <a:t>getting</a:t>
            </a:r>
            <a:r>
              <a:rPr lang="fr-BE" sz="1000" dirty="0">
                <a:solidFill>
                  <a:srgbClr val="FF0000"/>
                </a:solidFill>
              </a:rPr>
              <a:t> </a:t>
            </a:r>
            <a:r>
              <a:rPr lang="fr-BE" sz="1000" dirty="0" err="1">
                <a:solidFill>
                  <a:srgbClr val="FF0000"/>
                </a:solidFill>
              </a:rPr>
              <a:t>still</a:t>
            </a:r>
            <a:r>
              <a:rPr lang="fr-BE" sz="1000" dirty="0">
                <a:solidFill>
                  <a:srgbClr val="FF0000"/>
                </a:solidFill>
              </a:rPr>
              <a:t> </a:t>
            </a:r>
            <a:r>
              <a:rPr lang="fr-BE" sz="1000" dirty="0" err="1">
                <a:solidFill>
                  <a:srgbClr val="FF0000"/>
                </a:solidFill>
              </a:rPr>
              <a:t>some</a:t>
            </a:r>
            <a:r>
              <a:rPr lang="fr-BE" sz="1000" dirty="0">
                <a:solidFill>
                  <a:srgbClr val="FF0000"/>
                </a:solidFill>
              </a:rPr>
              <a:t> </a:t>
            </a:r>
            <a:r>
              <a:rPr lang="fr-BE" sz="1000" dirty="0" err="1">
                <a:solidFill>
                  <a:srgbClr val="FF0000"/>
                </a:solidFill>
              </a:rPr>
              <a:t>errors</a:t>
            </a:r>
            <a:r>
              <a:rPr lang="fr-BE" sz="1000" dirty="0">
                <a:solidFill>
                  <a:srgbClr val="FF0000"/>
                </a:solidFill>
              </a:rPr>
              <a:t> </a:t>
            </a:r>
            <a:r>
              <a:rPr lang="fr-BE" sz="1000" dirty="0" err="1">
                <a:solidFill>
                  <a:srgbClr val="FF0000"/>
                </a:solidFill>
              </a:rPr>
              <a:t>saying</a:t>
            </a:r>
            <a:r>
              <a:rPr lang="fr-BE" sz="1000" dirty="0">
                <a:solidFill>
                  <a:srgbClr val="FF0000"/>
                </a:solidFill>
              </a:rPr>
              <a:t> the caller in not </a:t>
            </a:r>
            <a:r>
              <a:rPr lang="fr-BE" sz="1000" dirty="0" err="1">
                <a:solidFill>
                  <a:srgbClr val="FF0000"/>
                </a:solidFill>
              </a:rPr>
              <a:t>authenticated</a:t>
            </a:r>
            <a:r>
              <a:rPr lang="fr-BE" sz="1000" dirty="0">
                <a:solidFill>
                  <a:srgbClr val="FF0000"/>
                </a:solidFill>
              </a:rPr>
              <a:t>.</a:t>
            </a:r>
          </a:p>
          <a:p>
            <a:endParaRPr lang="fr-BE" sz="1000" dirty="0"/>
          </a:p>
          <a:p>
            <a:endParaRPr lang="fr-BE" sz="1000" dirty="0"/>
          </a:p>
          <a:p>
            <a:r>
              <a:rPr lang="fr-BE" sz="1000" dirty="0" err="1"/>
              <a:t>Workarround</a:t>
            </a:r>
            <a:r>
              <a:rPr lang="fr-BE" sz="1000" dirty="0"/>
              <a:t> : User </a:t>
            </a:r>
            <a:r>
              <a:rPr lang="fr-BE" sz="1000" dirty="0" err="1"/>
              <a:t>your</a:t>
            </a:r>
            <a:r>
              <a:rPr lang="fr-BE" sz="1000" dirty="0"/>
              <a:t> </a:t>
            </a:r>
            <a:r>
              <a:rPr lang="fr-BE" sz="1000" dirty="0" err="1"/>
              <a:t>own</a:t>
            </a:r>
            <a:r>
              <a:rPr lang="fr-BE" sz="1000" dirty="0"/>
              <a:t> </a:t>
            </a:r>
            <a:r>
              <a:rPr lang="fr-BE" sz="1000" dirty="0" err="1"/>
              <a:t>account</a:t>
            </a:r>
            <a:r>
              <a:rPr lang="fr-BE" sz="1000" dirty="0"/>
              <a:t>  (if </a:t>
            </a:r>
            <a:r>
              <a:rPr lang="fr-BE" sz="1000" dirty="0" err="1"/>
              <a:t>you</a:t>
            </a:r>
            <a:r>
              <a:rPr lang="fr-BE" sz="1000" dirty="0"/>
              <a:t> a </a:t>
            </a:r>
            <a:r>
              <a:rPr lang="fr-BE" sz="1000" b="1" i="1" dirty="0" err="1"/>
              <a:t>Fabric</a:t>
            </a:r>
            <a:r>
              <a:rPr lang="fr-BE" sz="1000" b="1" i="1" dirty="0"/>
              <a:t> </a:t>
            </a:r>
            <a:r>
              <a:rPr lang="fr-BE" sz="1000" b="1" i="1" dirty="0" err="1"/>
              <a:t>Capacity</a:t>
            </a:r>
            <a:r>
              <a:rPr lang="fr-BE" sz="1000" b="1" i="1" dirty="0"/>
              <a:t> </a:t>
            </a:r>
            <a:r>
              <a:rPr lang="fr-BE" sz="1000" dirty="0"/>
              <a:t>and </a:t>
            </a:r>
            <a:r>
              <a:rPr lang="fr-BE" sz="1000" b="1" i="1" dirty="0" err="1"/>
              <a:t>Capacity</a:t>
            </a:r>
            <a:r>
              <a:rPr lang="fr-BE" sz="1000" b="1" i="1" dirty="0"/>
              <a:t> </a:t>
            </a:r>
            <a:r>
              <a:rPr lang="fr-BE" sz="1000" b="1" i="1" dirty="0" err="1"/>
              <a:t>metric</a:t>
            </a:r>
            <a:r>
              <a:rPr lang="fr-BE" sz="1000" b="1" i="1" dirty="0"/>
              <a:t> </a:t>
            </a:r>
            <a:r>
              <a:rPr lang="fr-BE" sz="1000" b="1" dirty="0"/>
              <a:t>Admin  and </a:t>
            </a:r>
            <a:endParaRPr lang="en-BE" sz="1000" b="1" dirty="0"/>
          </a:p>
        </p:txBody>
      </p:sp>
    </p:spTree>
    <p:extLst>
      <p:ext uri="{BB962C8B-B14F-4D97-AF65-F5344CB8AC3E}">
        <p14:creationId xmlns:p14="http://schemas.microsoft.com/office/powerpoint/2010/main" val="275570569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6174</TotalTime>
  <Words>358</Words>
  <Application>Microsoft Office PowerPoint</Application>
  <PresentationFormat>Widescreen</PresentationFormat>
  <Paragraphs>43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1" baseType="lpstr">
      <vt:lpstr>Aptos</vt:lpstr>
      <vt:lpstr>Aptos Display</vt:lpstr>
      <vt:lpstr>Arial</vt:lpstr>
      <vt:lpstr>Office Theme</vt:lpstr>
      <vt:lpstr>Fabric platform monitoring</vt:lpstr>
      <vt:lpstr>Fabric platform monitoring</vt:lpstr>
      <vt:lpstr>Fabric platform monitoring / table to extract from KQL</vt:lpstr>
      <vt:lpstr>Fabric platform monitoring / file table fact and Dim</vt:lpstr>
      <vt:lpstr>Fabric platform monitoring /necessary visuals </vt:lpstr>
      <vt:lpstr>Fabric platform monitoring /Cost consideration </vt:lpstr>
      <vt:lpstr>Fabric platform monitoring /Cost consideration </vt:lpstr>
      <vt:lpstr>Fabric monitoring /Cost comparison en conclusion </vt:lpstr>
      <vt:lpstr>Fabric monitoring /Implementation /KQL </vt:lpstr>
      <vt:lpstr>Fabric monitoring /Implementation /Lakehouse</vt:lpstr>
      <vt:lpstr>Fabric monitoring /Implementation Recommandation</vt:lpstr>
      <vt:lpstr>FUAM</vt:lpstr>
      <vt:lpstr>FUAM</vt:lpstr>
      <vt:lpstr>Some Notebooks erros (domain pipeline)</vt:lpstr>
      <vt:lpstr>Some pipeline capacity metrics error</vt:lpstr>
      <vt:lpstr>Some pip capacity metrics</vt:lpstr>
      <vt:lpstr>Some Service principale errors for erchestration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Coulibaly Oumar</dc:creator>
  <cp:lastModifiedBy>Coulibaly Oumar</cp:lastModifiedBy>
  <cp:revision>21</cp:revision>
  <dcterms:created xsi:type="dcterms:W3CDTF">2026-03-27T09:50:15Z</dcterms:created>
  <dcterms:modified xsi:type="dcterms:W3CDTF">2026-04-01T09:28:25Z</dcterms:modified>
</cp:coreProperties>
</file>