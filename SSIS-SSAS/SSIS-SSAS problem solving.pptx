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5FCC1-282B-F56B-995D-9DCCD1466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BD493-0583-EC5A-5665-6976A2271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39EBE-E629-01E0-72C8-B5B425AA8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F24D5-D541-428B-B46F-154D930EF7AC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45A4C-9792-DD20-36D6-2649CD6EA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085AD-50A0-F43D-7B7D-F0B7C8AE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7500-8EA3-4273-80ED-877B5BA85A1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1602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E3DAE-B9E2-E3A1-52ED-579754CCD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1BB4E-F22B-3331-1EAB-228DE8416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DEA0F-2EDC-6112-697E-3F5D7E6CF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F24D5-D541-428B-B46F-154D930EF7AC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9E913-53C5-27EC-A332-723897E33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DA3D0-9409-5A2F-5834-F41944D99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7500-8EA3-4273-80ED-877B5BA85A1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7791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7596-65E0-B2F3-2F11-EFFEC0444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B5B3E-34C6-9C7F-B125-8CB506BD3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3B8AF-1F88-C07B-1155-F74713D5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F24D5-D541-428B-B46F-154D930EF7AC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0A6C6-5933-0A02-24DF-621E30947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85158-81C7-950F-B4D2-011706D84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7500-8EA3-4273-80ED-877B5BA85A1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3598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EA48D-FE02-222A-3018-1F931C7F9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474D0-2F24-881E-FE11-A648CD7710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17538-4B3F-FF7E-A4CF-69F6F348A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99121-4079-5746-B768-51F19856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F24D5-D541-428B-B46F-154D930EF7AC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ECC5C-9F9D-AEFA-EC70-3CAADE3E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0173E-542A-FFB5-7052-60FC4B96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7500-8EA3-4273-80ED-877B5BA85A1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5677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7A97-BDE0-56C4-5B3F-ADDA4F88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A8EBA-244E-F418-93A4-47366C093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8A367-2210-1549-B148-F74527E78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2133F-5E7B-A49C-53F8-25E9FD1AB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3D5A29-F30C-C19D-46C6-B08843B64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C76CA-49FF-7911-916B-B8DBE0E4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F24D5-D541-428B-B46F-154D930EF7AC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89894-C804-804F-18BA-96A44D112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648BE5-A66F-A7B9-1379-CC2ABADA8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7500-8EA3-4273-80ED-877B5BA85A1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52450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04616-1DA1-7032-8B27-4C11F8E1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A42A7D-06EB-1E63-53AB-76D8DB30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F24D5-D541-428B-B46F-154D930EF7AC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030F4-2B14-AA8B-CBD1-6BC905343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FADFE7-3516-8FB6-57C6-F8A139F1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7500-8EA3-4273-80ED-877B5BA85A1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06761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0FE120-9711-6F94-66E1-2DCC1EAEC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F24D5-D541-428B-B46F-154D930EF7AC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F04D7D-3F76-C738-7F66-AD4BEC580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406A9-825C-B4F2-9B1C-804B64F43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7500-8EA3-4273-80ED-877B5BA85A1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96590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1291C-0318-CC60-8918-9C09C4F1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2D724-E33D-5A11-FE80-EE212523A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EABF4-319E-C3E5-0591-5BA323B59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6225F-6399-219C-194F-78EDAB8B3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F24D5-D541-428B-B46F-154D930EF7AC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D5901-9D27-D213-5C3E-9DDB2015C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ACA84-931C-EE52-48FA-0B53C5B2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7500-8EA3-4273-80ED-877B5BA85A1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48307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06783-3EFB-F7FD-CF32-991567841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EF504-566E-BBBC-4F2A-E7DBDF4EE5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F22E9-02C9-72F9-E460-A4C69264F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E9741-A145-A942-B9BB-2359E3F16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F24D5-D541-428B-B46F-154D930EF7AC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B4966-4523-15BE-57AF-8CB50AC1E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C0285-F51A-25F7-8F11-FB6795A8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7500-8EA3-4273-80ED-877B5BA85A1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79726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537E-469E-5915-F0E6-FBAC31704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AB63F-4FC1-1EEF-B237-D0053F92E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434D2-1310-7A81-1467-4AE9E159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F24D5-D541-428B-B46F-154D930EF7AC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6EB62-120B-A071-7816-822F369E6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B328B-FCBF-FCE2-946F-1B8F25A2E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7500-8EA3-4273-80ED-877B5BA85A1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01902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A124C-F916-7A9B-51B7-4CB760C832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03EC9-F82D-337D-D56B-35BD6E80A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3207A-4B79-6993-BEC7-8D17E0432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F24D5-D541-428B-B46F-154D930EF7AC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7928E-5960-2FC6-1BE7-CE0DA78F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58DBC-52D6-B9F1-796B-D928FC026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7500-8EA3-4273-80ED-877B5BA85A1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6799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0D8AA-4B7B-BDA0-07D8-E0825551E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25E39-17C0-F3FD-D386-7A936C9EE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740D9-F1CF-C083-2DF5-ACFE976ABE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F24D5-D541-428B-B46F-154D930EF7AC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F7742-E549-7641-1E63-950DED22A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83437-7D65-FE81-44A7-D4B197D39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297500-8EA3-4273-80ED-877B5BA85A1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37590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D4489-F63C-9FF1-CA3C-4988B0A59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384" y="64009"/>
            <a:ext cx="9144000" cy="521207"/>
          </a:xfrm>
        </p:spPr>
        <p:txBody>
          <a:bodyPr>
            <a:noAutofit/>
          </a:bodyPr>
          <a:lstStyle/>
          <a:p>
            <a:r>
              <a:rPr lang="fr-BE" sz="2800" dirty="0"/>
              <a:t>SSIS issues </a:t>
            </a:r>
            <a:r>
              <a:rPr lang="fr-BE" sz="2800" dirty="0" err="1"/>
              <a:t>solved</a:t>
            </a:r>
            <a:endParaRPr lang="en-BE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8C199-80D2-DA73-93E3-38FE3A78F3E5}"/>
              </a:ext>
            </a:extLst>
          </p:cNvPr>
          <p:cNvSpPr txBox="1"/>
          <p:nvPr/>
        </p:nvSpPr>
        <p:spPr>
          <a:xfrm>
            <a:off x="237744" y="585216"/>
            <a:ext cx="11746992" cy="284693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fr-BE" sz="900" b="1" i="1" dirty="0">
                <a:solidFill>
                  <a:srgbClr val="FF0000"/>
                </a:solidFill>
              </a:rPr>
              <a:t>Topic 1</a:t>
            </a:r>
          </a:p>
          <a:p>
            <a:r>
              <a:rPr lang="fr-BE" sz="900" b="1" i="1" dirty="0" err="1"/>
              <a:t>Problem</a:t>
            </a:r>
            <a:r>
              <a:rPr lang="fr-BE" sz="900" b="1" i="1" dirty="0"/>
              <a:t> : </a:t>
            </a:r>
            <a:r>
              <a:rPr lang="fr-BE" sz="900" i="1" dirty="0"/>
              <a:t>slow </a:t>
            </a:r>
            <a:r>
              <a:rPr lang="fr-BE" sz="900" i="1" dirty="0" err="1"/>
              <a:t>siss</a:t>
            </a:r>
            <a:r>
              <a:rPr lang="fr-BE" sz="900" i="1" dirty="0"/>
              <a:t> package </a:t>
            </a:r>
            <a:r>
              <a:rPr lang="fr-BE" sz="900" i="1" dirty="0" err="1"/>
              <a:t>that</a:t>
            </a:r>
            <a:r>
              <a:rPr lang="fr-BE" sz="900" i="1" dirty="0"/>
              <a:t> </a:t>
            </a:r>
            <a:r>
              <a:rPr lang="fr-BE" sz="900" i="1" dirty="0" err="1"/>
              <a:t>load</a:t>
            </a:r>
            <a:r>
              <a:rPr lang="fr-BE" sz="900" i="1" dirty="0"/>
              <a:t> </a:t>
            </a:r>
            <a:r>
              <a:rPr lang="fr-BE" sz="900" i="1" dirty="0" err="1"/>
              <a:t>fact</a:t>
            </a:r>
            <a:r>
              <a:rPr lang="fr-BE" sz="900" i="1" dirty="0"/>
              <a:t> table , </a:t>
            </a:r>
            <a:r>
              <a:rPr lang="fr-BE" sz="900" i="1" dirty="0" err="1"/>
              <a:t>because</a:t>
            </a:r>
            <a:r>
              <a:rPr lang="fr-BE" sz="900" i="1" dirty="0"/>
              <a:t> of the volume of data </a:t>
            </a:r>
            <a:r>
              <a:rPr lang="fr-BE" sz="900" i="1" dirty="0" err="1"/>
              <a:t>that</a:t>
            </a:r>
            <a:r>
              <a:rPr lang="fr-BE" sz="900" i="1" dirty="0"/>
              <a:t> </a:t>
            </a:r>
            <a:r>
              <a:rPr lang="fr-BE" sz="900" i="1" dirty="0" err="1"/>
              <a:t>is</a:t>
            </a:r>
            <a:r>
              <a:rPr lang="fr-BE" sz="900" i="1" dirty="0"/>
              <a:t> </a:t>
            </a:r>
            <a:r>
              <a:rPr lang="fr-BE" sz="900" i="1" dirty="0" err="1"/>
              <a:t>bicoming</a:t>
            </a:r>
            <a:r>
              <a:rPr lang="fr-BE" sz="900" i="1" dirty="0"/>
              <a:t> high (Million of </a:t>
            </a:r>
            <a:r>
              <a:rPr lang="fr-BE" sz="900" i="1" dirty="0" err="1"/>
              <a:t>rows</a:t>
            </a:r>
            <a:r>
              <a:rPr lang="fr-BE" sz="900" i="1" dirty="0"/>
              <a:t> )</a:t>
            </a:r>
          </a:p>
          <a:p>
            <a:endParaRPr lang="fr-BE" sz="900" i="1" dirty="0"/>
          </a:p>
          <a:p>
            <a:r>
              <a:rPr lang="fr-BE" sz="900" b="1" dirty="0"/>
              <a:t>Goal</a:t>
            </a:r>
            <a:r>
              <a:rPr lang="fr-BE" sz="900" i="1" dirty="0"/>
              <a:t> : </a:t>
            </a:r>
          </a:p>
          <a:p>
            <a:r>
              <a:rPr lang="fr-BE" sz="900" i="1" dirty="0"/>
              <a:t>solve the </a:t>
            </a:r>
            <a:r>
              <a:rPr lang="fr-BE" sz="900" i="1" dirty="0" err="1"/>
              <a:t>this</a:t>
            </a:r>
            <a:r>
              <a:rPr lang="fr-BE" sz="900" i="1" dirty="0"/>
              <a:t> </a:t>
            </a:r>
            <a:r>
              <a:rPr lang="fr-BE" sz="900" i="1" dirty="0" err="1"/>
              <a:t>failure</a:t>
            </a:r>
            <a:r>
              <a:rPr lang="fr-BE" sz="900" i="1" dirty="0"/>
              <a:t> issue </a:t>
            </a:r>
            <a:r>
              <a:rPr lang="fr-BE" sz="900" i="1" dirty="0" err="1"/>
              <a:t>robustly</a:t>
            </a:r>
            <a:r>
              <a:rPr lang="fr-BE" sz="900" i="1" dirty="0"/>
              <a:t> </a:t>
            </a:r>
          </a:p>
          <a:p>
            <a:endParaRPr lang="fr-BE" sz="900" i="1" dirty="0"/>
          </a:p>
          <a:p>
            <a:r>
              <a:rPr lang="fr-BE" sz="900" b="1" dirty="0"/>
              <a:t>Root causes:</a:t>
            </a:r>
          </a:p>
          <a:p>
            <a:r>
              <a:rPr lang="fr-BE" sz="900" i="1" dirty="0"/>
              <a:t>Row by </a:t>
            </a:r>
            <a:r>
              <a:rPr lang="fr-BE" sz="900" i="1" dirty="0" err="1"/>
              <a:t>row</a:t>
            </a:r>
            <a:r>
              <a:rPr lang="fr-BE" sz="900" i="1" dirty="0"/>
              <a:t> transformations - </a:t>
            </a:r>
            <a:r>
              <a:rPr lang="fr-BE" sz="900" i="1" dirty="0" err="1"/>
              <a:t>Lookup</a:t>
            </a:r>
            <a:r>
              <a:rPr lang="fr-BE" sz="900" i="1" dirty="0"/>
              <a:t> not </a:t>
            </a:r>
            <a:r>
              <a:rPr lang="fr-BE" sz="900" i="1" dirty="0" err="1"/>
              <a:t>uptimized</a:t>
            </a:r>
            <a:r>
              <a:rPr lang="fr-BE" sz="900" i="1" dirty="0"/>
              <a:t>-No </a:t>
            </a:r>
            <a:r>
              <a:rPr lang="fr-BE" sz="900" i="1" dirty="0" err="1"/>
              <a:t>partitionning</a:t>
            </a:r>
            <a:r>
              <a:rPr lang="fr-BE" sz="900" i="1" dirty="0"/>
              <a:t>  -Indexes issues</a:t>
            </a:r>
          </a:p>
          <a:p>
            <a:endParaRPr lang="fr-BE" sz="900" i="1" dirty="0"/>
          </a:p>
          <a:p>
            <a:r>
              <a:rPr lang="fr-BE" sz="900" b="1" i="1" dirty="0"/>
              <a:t>Solution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 err="1"/>
              <a:t>Lookup</a:t>
            </a:r>
            <a:r>
              <a:rPr lang="fr-BE" sz="900" i="1" dirty="0"/>
              <a:t> </a:t>
            </a:r>
            <a:r>
              <a:rPr lang="fr-BE" sz="900" i="1" dirty="0" err="1"/>
              <a:t>with</a:t>
            </a:r>
            <a:r>
              <a:rPr lang="fr-BE" sz="900" i="1" dirty="0"/>
              <a:t> full  cash (</a:t>
            </a:r>
            <a:r>
              <a:rPr lang="fr-BE" sz="900" i="1" dirty="0" err="1"/>
              <a:t>instaed</a:t>
            </a:r>
            <a:r>
              <a:rPr lang="fr-BE" sz="900" i="1" dirty="0"/>
              <a:t> of no </a:t>
            </a:r>
            <a:r>
              <a:rPr lang="fr-BE" sz="900" i="1" dirty="0" err="1"/>
              <a:t>cach</a:t>
            </a:r>
            <a:r>
              <a:rPr lang="fr-BE" sz="900" i="1" dirty="0"/>
              <a:t>)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/>
              <a:t> </a:t>
            </a:r>
            <a:r>
              <a:rPr lang="fr-BE" sz="900" b="1" dirty="0"/>
              <a:t>Destination option </a:t>
            </a:r>
            <a:r>
              <a:rPr lang="fr-BE" sz="900" i="1" dirty="0"/>
              <a:t>setting Dara </a:t>
            </a:r>
            <a:r>
              <a:rPr lang="fr-BE" sz="900" i="1" dirty="0" err="1"/>
              <a:t>access</a:t>
            </a:r>
            <a:r>
              <a:rPr lang="fr-BE" sz="900" i="1" dirty="0"/>
              <a:t> mode to </a:t>
            </a:r>
            <a:r>
              <a:rPr lang="fr-BE" sz="900" b="1" dirty="0"/>
              <a:t>table or </a:t>
            </a:r>
            <a:r>
              <a:rPr lang="fr-BE" sz="900" b="1" dirty="0" err="1"/>
              <a:t>views</a:t>
            </a:r>
            <a:r>
              <a:rPr lang="fr-BE" sz="900" b="1" dirty="0"/>
              <a:t> – </a:t>
            </a:r>
            <a:r>
              <a:rPr lang="fr-BE" sz="900" b="1" dirty="0" err="1"/>
              <a:t>fact</a:t>
            </a:r>
            <a:r>
              <a:rPr lang="fr-BE" sz="900" b="1" dirty="0"/>
              <a:t> </a:t>
            </a:r>
            <a:r>
              <a:rPr lang="fr-BE" sz="900" b="1" dirty="0" err="1"/>
              <a:t>laod</a:t>
            </a:r>
            <a:r>
              <a:rPr lang="fr-BE" sz="900" b="1" dirty="0"/>
              <a:t>  / R</a:t>
            </a:r>
            <a:r>
              <a:rPr lang="fr-BE" sz="900" dirty="0"/>
              <a:t>ow per batch : 100 000 and max insert commit size : 100 000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b="1" dirty="0"/>
              <a:t> </a:t>
            </a:r>
            <a:r>
              <a:rPr lang="fr-BE" sz="900" b="1" i="1" dirty="0" err="1"/>
              <a:t>D</a:t>
            </a:r>
            <a:r>
              <a:rPr lang="fr-BE" sz="900" i="1" dirty="0" err="1"/>
              <a:t>isable</a:t>
            </a:r>
            <a:r>
              <a:rPr lang="fr-BE" sz="900" i="1" dirty="0"/>
              <a:t> index </a:t>
            </a:r>
            <a:r>
              <a:rPr lang="fr-BE" sz="900" i="1" dirty="0" err="1"/>
              <a:t>before</a:t>
            </a:r>
            <a:r>
              <a:rPr lang="fr-BE" sz="900" i="1" dirty="0"/>
              <a:t> </a:t>
            </a:r>
            <a:r>
              <a:rPr lang="fr-BE" sz="900" i="1" dirty="0" err="1"/>
              <a:t>load</a:t>
            </a:r>
            <a:r>
              <a:rPr lang="fr-BE" sz="900" i="1" dirty="0"/>
              <a:t> (</a:t>
            </a:r>
            <a:r>
              <a:rPr lang="fr-BE" sz="900" i="1" dirty="0" err="1"/>
              <a:t>using</a:t>
            </a:r>
            <a:r>
              <a:rPr lang="fr-BE" sz="900" i="1" dirty="0"/>
              <a:t> Alter INDEX ON </a:t>
            </a:r>
            <a:r>
              <a:rPr lang="fr-BE" sz="900" i="1" dirty="0" err="1"/>
              <a:t>Disable</a:t>
            </a:r>
            <a:r>
              <a:rPr lang="fr-BE" sz="900" i="1" dirty="0"/>
              <a:t> /</a:t>
            </a:r>
            <a:r>
              <a:rPr lang="fr-BE" sz="900" i="1" dirty="0" err="1"/>
              <a:t>Rebuild</a:t>
            </a:r>
            <a:r>
              <a:rPr lang="fr-BE" sz="900" i="1" dirty="0"/>
              <a:t>)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b="1" dirty="0" err="1"/>
              <a:t>Incremental</a:t>
            </a:r>
            <a:r>
              <a:rPr lang="fr-BE" sz="900" b="1" dirty="0"/>
              <a:t> </a:t>
            </a:r>
            <a:r>
              <a:rPr lang="fr-BE" sz="900" b="1" dirty="0" err="1"/>
              <a:t>load</a:t>
            </a:r>
            <a:r>
              <a:rPr lang="fr-BE" sz="900" b="1" dirty="0"/>
              <a:t> </a:t>
            </a:r>
            <a:r>
              <a:rPr lang="fr-BE" sz="900" i="1" dirty="0" err="1"/>
              <a:t>using</a:t>
            </a:r>
            <a:r>
              <a:rPr lang="fr-BE" sz="900" i="1" dirty="0"/>
              <a:t>  by </a:t>
            </a:r>
            <a:r>
              <a:rPr lang="fr-BE" sz="900" i="1" dirty="0" err="1"/>
              <a:t>loading</a:t>
            </a:r>
            <a:r>
              <a:rPr lang="fr-BE" sz="900" i="1" dirty="0"/>
              <a:t> </a:t>
            </a:r>
            <a:r>
              <a:rPr lang="fr-BE" sz="900" i="1" dirty="0" err="1"/>
              <a:t>only</a:t>
            </a:r>
            <a:r>
              <a:rPr lang="fr-BE" sz="900" i="1" dirty="0"/>
              <a:t> new </a:t>
            </a:r>
            <a:r>
              <a:rPr lang="fr-BE" sz="900" i="1" dirty="0" err="1"/>
              <a:t>lly</a:t>
            </a:r>
            <a:r>
              <a:rPr lang="fr-BE" sz="900" i="1" dirty="0"/>
              <a:t> </a:t>
            </a:r>
            <a:r>
              <a:rPr lang="fr-BE" sz="900" i="1" dirty="0" err="1"/>
              <a:t>added</a:t>
            </a:r>
            <a:r>
              <a:rPr lang="fr-BE" sz="900" i="1" dirty="0"/>
              <a:t> </a:t>
            </a:r>
            <a:r>
              <a:rPr lang="fr-BE" sz="900" i="1" dirty="0" err="1"/>
              <a:t>rows</a:t>
            </a:r>
            <a:endParaRPr lang="fr-BE" sz="900" i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 err="1"/>
              <a:t>Some</a:t>
            </a:r>
            <a:r>
              <a:rPr lang="fr-BE" sz="900" i="1" dirty="0"/>
              <a:t> </a:t>
            </a:r>
            <a:r>
              <a:rPr lang="fr-BE" sz="900" i="1" dirty="0" err="1"/>
              <a:t>performence</a:t>
            </a:r>
            <a:r>
              <a:rPr lang="fr-BE" sz="900" i="1" dirty="0"/>
              <a:t> </a:t>
            </a:r>
            <a:r>
              <a:rPr lang="fr-BE" sz="900" i="1" dirty="0" err="1"/>
              <a:t>tunning</a:t>
            </a:r>
            <a:r>
              <a:rPr lang="fr-BE" sz="900" i="1" dirty="0"/>
              <a:t> </a:t>
            </a:r>
            <a:r>
              <a:rPr lang="fr-BE" sz="900" i="1" dirty="0" err="1"/>
              <a:t>parametters</a:t>
            </a:r>
            <a:r>
              <a:rPr lang="fr-BE" sz="900" i="1" dirty="0"/>
              <a:t>  setup : </a:t>
            </a:r>
            <a:r>
              <a:rPr lang="fr-BE" sz="900" b="1" i="1" dirty="0" err="1"/>
              <a:t>DefaultBufferMaxRows</a:t>
            </a:r>
            <a:r>
              <a:rPr lang="fr-BE" sz="900" i="1" dirty="0"/>
              <a:t> = 100 000 / </a:t>
            </a:r>
            <a:r>
              <a:rPr lang="fr-BE" sz="900" b="1" i="1" dirty="0" err="1"/>
              <a:t>DefaultBufferSize</a:t>
            </a:r>
            <a:r>
              <a:rPr lang="fr-BE" sz="900" i="1" dirty="0"/>
              <a:t> = 104 857 600 /</a:t>
            </a:r>
            <a:r>
              <a:rPr lang="fr-BE" sz="900" b="1" i="1" dirty="0"/>
              <a:t> </a:t>
            </a:r>
            <a:r>
              <a:rPr lang="fr-BE" sz="900" b="1" i="1" dirty="0" err="1"/>
              <a:t>MaxConcurentExecution</a:t>
            </a:r>
            <a:r>
              <a:rPr lang="fr-BE" sz="900" b="1" i="1" dirty="0"/>
              <a:t> </a:t>
            </a:r>
            <a:r>
              <a:rPr lang="fr-BE" sz="900" i="1" dirty="0"/>
              <a:t>= -1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BE" sz="900" i="1" dirty="0"/>
          </a:p>
          <a:p>
            <a:r>
              <a:rPr lang="fr-BE" sz="900" i="1" dirty="0"/>
              <a:t> </a:t>
            </a:r>
            <a:r>
              <a:rPr lang="fr-BE" sz="900" i="1" dirty="0" err="1"/>
              <a:t>Result</a:t>
            </a:r>
            <a:r>
              <a:rPr lang="fr-BE" sz="900" i="1" dirty="0"/>
              <a:t> : </a:t>
            </a:r>
          </a:p>
          <a:p>
            <a:r>
              <a:rPr lang="fr-BE" sz="900" b="1" i="1" dirty="0"/>
              <a:t>No </a:t>
            </a:r>
            <a:r>
              <a:rPr lang="fr-BE" sz="900" b="1" i="1" dirty="0" err="1"/>
              <a:t>faillure</a:t>
            </a:r>
            <a:r>
              <a:rPr lang="fr-BE" sz="900" b="1" i="1" dirty="0"/>
              <a:t> </a:t>
            </a:r>
          </a:p>
          <a:p>
            <a:r>
              <a:rPr lang="fr-BE" sz="900" i="1" dirty="0" err="1"/>
              <a:t>Load</a:t>
            </a:r>
            <a:r>
              <a:rPr lang="fr-BE" sz="900" i="1" dirty="0"/>
              <a:t> time </a:t>
            </a:r>
            <a:r>
              <a:rPr lang="fr-BE" sz="900" i="1" dirty="0" err="1"/>
              <a:t>reduce</a:t>
            </a:r>
            <a:r>
              <a:rPr lang="fr-BE" sz="900" i="1" dirty="0"/>
              <a:t> </a:t>
            </a:r>
            <a:r>
              <a:rPr lang="fr-BE" sz="900" b="1" i="1" dirty="0" err="1"/>
              <a:t>from</a:t>
            </a:r>
            <a:r>
              <a:rPr lang="fr-BE" sz="900" b="1" i="1" dirty="0"/>
              <a:t> 12 </a:t>
            </a:r>
            <a:r>
              <a:rPr lang="fr-BE" sz="900" b="1" i="1" dirty="0" err="1"/>
              <a:t>hour</a:t>
            </a:r>
            <a:r>
              <a:rPr lang="fr-BE" sz="900" b="1" i="1" dirty="0"/>
              <a:t> to 45 min </a:t>
            </a:r>
          </a:p>
          <a:p>
            <a:endParaRPr lang="en-BE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01D4B6-45D2-5C34-353B-2FC88827B295}"/>
              </a:ext>
            </a:extLst>
          </p:cNvPr>
          <p:cNvSpPr txBox="1"/>
          <p:nvPr/>
        </p:nvSpPr>
        <p:spPr>
          <a:xfrm>
            <a:off x="237744" y="3566160"/>
            <a:ext cx="11731752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fr-BE" sz="900" b="1" i="1" dirty="0">
                <a:solidFill>
                  <a:srgbClr val="FF0000"/>
                </a:solidFill>
              </a:rPr>
              <a:t>Topic 2</a:t>
            </a:r>
          </a:p>
          <a:p>
            <a:r>
              <a:rPr lang="fr-BE" sz="900" b="1" i="1" dirty="0" err="1"/>
              <a:t>Problem</a:t>
            </a:r>
            <a:r>
              <a:rPr lang="fr-BE" sz="900" b="1" i="1" dirty="0"/>
              <a:t> : </a:t>
            </a:r>
            <a:r>
              <a:rPr lang="fr-BE" sz="900" i="1" dirty="0"/>
              <a:t>Package </a:t>
            </a:r>
            <a:r>
              <a:rPr lang="fr-BE" sz="900" i="1" dirty="0" err="1"/>
              <a:t>failure</a:t>
            </a:r>
            <a:r>
              <a:rPr lang="fr-BE" sz="900" i="1" dirty="0"/>
              <a:t> due to </a:t>
            </a:r>
            <a:r>
              <a:rPr lang="fr-BE" sz="900" i="1" dirty="0" err="1"/>
              <a:t>schema</a:t>
            </a:r>
            <a:r>
              <a:rPr lang="fr-BE" sz="900" i="1" dirty="0"/>
              <a:t> change </a:t>
            </a:r>
          </a:p>
          <a:p>
            <a:endParaRPr lang="fr-BE" sz="900" i="1" dirty="0"/>
          </a:p>
          <a:p>
            <a:r>
              <a:rPr lang="fr-BE" sz="900" b="1" i="1" dirty="0"/>
              <a:t>Gold </a:t>
            </a:r>
            <a:r>
              <a:rPr lang="fr-BE" sz="900" i="1" dirty="0"/>
              <a:t>: solve the issue , and </a:t>
            </a:r>
            <a:r>
              <a:rPr lang="fr-BE" sz="900" i="1" dirty="0" err="1"/>
              <a:t>implement</a:t>
            </a:r>
            <a:r>
              <a:rPr lang="fr-BE" sz="900" i="1" dirty="0"/>
              <a:t> a </a:t>
            </a:r>
            <a:r>
              <a:rPr lang="fr-BE" sz="900" i="1" dirty="0" err="1"/>
              <a:t>robust</a:t>
            </a:r>
            <a:r>
              <a:rPr lang="fr-BE" sz="900" i="1" dirty="0"/>
              <a:t> solution</a:t>
            </a:r>
          </a:p>
          <a:p>
            <a:endParaRPr lang="fr-BE" sz="900" i="1" dirty="0"/>
          </a:p>
          <a:p>
            <a:r>
              <a:rPr lang="fr-BE" sz="900" b="1" i="1" dirty="0"/>
              <a:t>Root cause </a:t>
            </a:r>
            <a:r>
              <a:rPr lang="fr-BE" sz="900" i="1" dirty="0"/>
              <a:t>:</a:t>
            </a:r>
          </a:p>
          <a:p>
            <a:r>
              <a:rPr lang="fr-BE" sz="900" i="1" dirty="0"/>
              <a:t>Source table </a:t>
            </a:r>
            <a:r>
              <a:rPr lang="fr-BE" sz="900" i="1" dirty="0" err="1"/>
              <a:t>schema</a:t>
            </a:r>
            <a:r>
              <a:rPr lang="fr-BE" sz="900" i="1" dirty="0"/>
              <a:t> change  (</a:t>
            </a:r>
            <a:r>
              <a:rPr lang="fr-BE" sz="900" i="1" dirty="0" err="1"/>
              <a:t>column</a:t>
            </a:r>
            <a:r>
              <a:rPr lang="fr-BE" sz="900" i="1" dirty="0"/>
              <a:t> </a:t>
            </a:r>
            <a:r>
              <a:rPr lang="fr-BE" sz="900" i="1" dirty="0" err="1"/>
              <a:t>rename</a:t>
            </a:r>
            <a:r>
              <a:rPr lang="fr-BE" sz="900" i="1" dirty="0"/>
              <a:t> or </a:t>
            </a:r>
            <a:r>
              <a:rPr lang="fr-BE" sz="900" i="1" dirty="0" err="1"/>
              <a:t>remove</a:t>
            </a:r>
            <a:r>
              <a:rPr lang="fr-BE" sz="900" i="1" dirty="0"/>
              <a:t> , </a:t>
            </a:r>
            <a:r>
              <a:rPr lang="fr-BE" sz="900" i="1" dirty="0" err="1"/>
              <a:t>Datatype</a:t>
            </a:r>
            <a:r>
              <a:rPr lang="fr-BE" sz="900" i="1" dirty="0"/>
              <a:t> change  , new </a:t>
            </a:r>
            <a:r>
              <a:rPr lang="fr-BE" sz="900" i="1" dirty="0" err="1"/>
              <a:t>column</a:t>
            </a:r>
            <a:r>
              <a:rPr lang="fr-BE" sz="900" i="1" dirty="0"/>
              <a:t> </a:t>
            </a:r>
            <a:r>
              <a:rPr lang="fr-BE" sz="900" i="1" dirty="0" err="1"/>
              <a:t>added</a:t>
            </a:r>
            <a:endParaRPr lang="fr-BE" sz="900" i="1" dirty="0"/>
          </a:p>
          <a:p>
            <a:endParaRPr lang="fr-BE" sz="900" i="1" dirty="0"/>
          </a:p>
          <a:p>
            <a:r>
              <a:rPr lang="fr-BE" sz="900" i="1" dirty="0"/>
              <a:t>Solution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/>
              <a:t>Update the package by </a:t>
            </a:r>
            <a:r>
              <a:rPr lang="fr-BE" sz="900" i="1" dirty="0" err="1"/>
              <a:t>adding</a:t>
            </a:r>
            <a:r>
              <a:rPr lang="fr-BE" sz="900" i="1" dirty="0"/>
              <a:t> a </a:t>
            </a:r>
            <a:r>
              <a:rPr lang="fr-BE" sz="900" i="1" dirty="0" err="1"/>
              <a:t>metada</a:t>
            </a:r>
            <a:r>
              <a:rPr lang="fr-BE" sz="900" i="1" dirty="0"/>
              <a:t> check of all </a:t>
            </a:r>
            <a:r>
              <a:rPr lang="fr-BE" sz="900" i="1" dirty="0" err="1"/>
              <a:t>columns</a:t>
            </a:r>
            <a:r>
              <a:rPr lang="fr-BE" sz="900" i="1" dirty="0"/>
              <a:t> </a:t>
            </a:r>
            <a:r>
              <a:rPr lang="fr-BE" sz="900" i="1" dirty="0" err="1"/>
              <a:t>before</a:t>
            </a:r>
            <a:r>
              <a:rPr lang="fr-BE" sz="900" i="1" dirty="0"/>
              <a:t> </a:t>
            </a:r>
            <a:r>
              <a:rPr lang="fr-BE" sz="900" i="1" dirty="0" err="1"/>
              <a:t>loading</a:t>
            </a:r>
            <a:r>
              <a:rPr lang="fr-BE" sz="900" i="1" dirty="0"/>
              <a:t> (compare to the </a:t>
            </a:r>
            <a:r>
              <a:rPr lang="fr-BE" sz="900" i="1" dirty="0" err="1"/>
              <a:t>expected</a:t>
            </a:r>
            <a:r>
              <a:rPr lang="fr-BE" sz="900" i="1" dirty="0"/>
              <a:t> </a:t>
            </a:r>
            <a:r>
              <a:rPr lang="fr-BE" sz="900" i="1" dirty="0" err="1"/>
              <a:t>fileds</a:t>
            </a:r>
            <a:r>
              <a:rPr lang="fr-BE" sz="900" i="1" dirty="0"/>
              <a:t> </a:t>
            </a:r>
            <a:r>
              <a:rPr lang="fr-BE" sz="900" i="1" dirty="0" err="1"/>
              <a:t>metada</a:t>
            </a:r>
            <a:r>
              <a:rPr lang="fr-BE" sz="900" i="1" dirty="0"/>
              <a:t> </a:t>
            </a:r>
            <a:r>
              <a:rPr lang="fr-BE" sz="900" i="1" dirty="0" err="1"/>
              <a:t>using</a:t>
            </a:r>
            <a:r>
              <a:rPr lang="fr-BE" sz="900" i="1" dirty="0"/>
              <a:t> </a:t>
            </a:r>
            <a:r>
              <a:rPr lang="fr-BE" sz="900" i="1" dirty="0" err="1"/>
              <a:t>systems</a:t>
            </a:r>
            <a:r>
              <a:rPr lang="fr-BE" sz="900" i="1" dirty="0"/>
              <a:t> </a:t>
            </a:r>
            <a:r>
              <a:rPr lang="fr-BE" sz="900" i="1" dirty="0" err="1"/>
              <a:t>INFORMATION_Schema</a:t>
            </a:r>
            <a:r>
              <a:rPr lang="fr-BE" sz="900" i="1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/>
              <a:t>Set </a:t>
            </a:r>
            <a:r>
              <a:rPr lang="fr-BE" sz="900" i="1" dirty="0" err="1"/>
              <a:t>DelayValisation</a:t>
            </a:r>
            <a:r>
              <a:rPr lang="fr-BE" sz="900" i="1" dirty="0"/>
              <a:t> to </a:t>
            </a:r>
            <a:r>
              <a:rPr lang="fr-BE" sz="900" i="1" dirty="0" err="1"/>
              <a:t>True</a:t>
            </a:r>
            <a:r>
              <a:rPr lang="fr-BE" sz="900" i="1" dirty="0"/>
              <a:t> , to </a:t>
            </a:r>
            <a:r>
              <a:rPr lang="fr-BE" sz="900" i="1" dirty="0" err="1"/>
              <a:t>avoid</a:t>
            </a:r>
            <a:r>
              <a:rPr lang="fr-BE" sz="900" i="1" dirty="0"/>
              <a:t> </a:t>
            </a:r>
            <a:r>
              <a:rPr lang="fr-BE" sz="900" i="1" dirty="0" err="1"/>
              <a:t>failure</a:t>
            </a:r>
            <a:r>
              <a:rPr lang="fr-BE" sz="900" i="1" dirty="0"/>
              <a:t> at the start of package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/>
              <a:t>Use </a:t>
            </a:r>
            <a:r>
              <a:rPr lang="fr-BE" sz="900" i="1" dirty="0" err="1"/>
              <a:t>staging</a:t>
            </a:r>
            <a:r>
              <a:rPr lang="fr-BE" sz="900" i="1" dirty="0"/>
              <a:t> </a:t>
            </a:r>
            <a:r>
              <a:rPr lang="fr-BE" sz="900" i="1" dirty="0" err="1"/>
              <a:t>instead</a:t>
            </a:r>
            <a:r>
              <a:rPr lang="fr-BE" sz="900" i="1" dirty="0"/>
              <a:t> of </a:t>
            </a:r>
            <a:r>
              <a:rPr lang="fr-BE" sz="900" i="1" dirty="0" err="1"/>
              <a:t>load</a:t>
            </a:r>
            <a:r>
              <a:rPr lang="fr-BE" sz="900" i="1" dirty="0"/>
              <a:t> </a:t>
            </a:r>
            <a:r>
              <a:rPr lang="fr-BE" sz="900" i="1" dirty="0" err="1"/>
              <a:t>directly</a:t>
            </a:r>
            <a:r>
              <a:rPr lang="fr-BE" sz="900" i="1" dirty="0"/>
              <a:t> in the  </a:t>
            </a:r>
            <a:r>
              <a:rPr lang="fr-BE" sz="900" i="1" dirty="0" err="1"/>
              <a:t>target</a:t>
            </a:r>
            <a:r>
              <a:rPr lang="fr-BE" sz="900" i="1" dirty="0"/>
              <a:t> table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BE" sz="900" i="1" dirty="0"/>
          </a:p>
          <a:p>
            <a:r>
              <a:rPr lang="fr-BE" sz="900" i="1" dirty="0" err="1"/>
              <a:t>Result</a:t>
            </a:r>
            <a:r>
              <a:rPr lang="fr-BE" sz="900" i="1" dirty="0"/>
              <a:t> :</a:t>
            </a:r>
          </a:p>
          <a:p>
            <a:r>
              <a:rPr lang="fr-BE" sz="900" i="1" dirty="0"/>
              <a:t>Issue </a:t>
            </a:r>
            <a:r>
              <a:rPr lang="fr-BE" sz="900" i="1" dirty="0" err="1"/>
              <a:t>sloved</a:t>
            </a:r>
            <a:r>
              <a:rPr lang="fr-BE" sz="900" i="1" dirty="0"/>
              <a:t> </a:t>
            </a:r>
          </a:p>
          <a:p>
            <a:r>
              <a:rPr lang="fr-BE" sz="900" i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3076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C6A5-9A3E-4F8B-53AD-79BC0A80B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23EF-3873-1860-00A3-FE7798696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384" y="64009"/>
            <a:ext cx="9144000" cy="521207"/>
          </a:xfrm>
        </p:spPr>
        <p:txBody>
          <a:bodyPr>
            <a:noAutofit/>
          </a:bodyPr>
          <a:lstStyle/>
          <a:p>
            <a:r>
              <a:rPr lang="fr-BE" sz="2800" dirty="0"/>
              <a:t>SSIS issues </a:t>
            </a:r>
            <a:r>
              <a:rPr lang="fr-BE" sz="2800" dirty="0" err="1"/>
              <a:t>solved</a:t>
            </a:r>
            <a:endParaRPr lang="en-BE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752C1-DD2C-8CB5-437E-9BF3B73DFD85}"/>
              </a:ext>
            </a:extLst>
          </p:cNvPr>
          <p:cNvSpPr txBox="1"/>
          <p:nvPr/>
        </p:nvSpPr>
        <p:spPr>
          <a:xfrm>
            <a:off x="222504" y="585217"/>
            <a:ext cx="11746992" cy="284693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fr-BE" sz="900" b="1" i="1" dirty="0">
                <a:solidFill>
                  <a:srgbClr val="FF0000"/>
                </a:solidFill>
              </a:rPr>
              <a:t>Topic 3</a:t>
            </a:r>
          </a:p>
          <a:p>
            <a:r>
              <a:rPr lang="fr-BE" sz="900" b="1" i="1" dirty="0" err="1"/>
              <a:t>Problem</a:t>
            </a:r>
            <a:r>
              <a:rPr lang="fr-BE" sz="900" b="1" i="1" dirty="0"/>
              <a:t> : </a:t>
            </a:r>
            <a:r>
              <a:rPr lang="fr-BE" sz="900" i="1" dirty="0"/>
              <a:t>Replace 50 </a:t>
            </a:r>
            <a:r>
              <a:rPr lang="fr-BE" sz="900" i="1" dirty="0" err="1"/>
              <a:t>individuals</a:t>
            </a:r>
            <a:r>
              <a:rPr lang="fr-BE" sz="900" i="1" dirty="0"/>
              <a:t> packages </a:t>
            </a:r>
            <a:r>
              <a:rPr lang="fr-BE" sz="900" i="1" dirty="0" err="1"/>
              <a:t>sourcing</a:t>
            </a:r>
            <a:r>
              <a:rPr lang="fr-BE" sz="900" i="1" dirty="0"/>
              <a:t> (50 table) and </a:t>
            </a:r>
            <a:r>
              <a:rPr lang="fr-BE" sz="900" i="1" dirty="0" err="1"/>
              <a:t>loading</a:t>
            </a:r>
            <a:r>
              <a:rPr lang="fr-BE" sz="900" i="1" dirty="0"/>
              <a:t> (50 </a:t>
            </a:r>
            <a:r>
              <a:rPr lang="fr-BE" sz="900" i="1" dirty="0" err="1"/>
              <a:t>destinatuon</a:t>
            </a:r>
            <a:r>
              <a:rPr lang="fr-BE" sz="900" i="1" dirty="0"/>
              <a:t> table) by 1 </a:t>
            </a:r>
            <a:r>
              <a:rPr lang="fr-BE" sz="900" i="1" dirty="0" err="1"/>
              <a:t>meta</a:t>
            </a:r>
            <a:r>
              <a:rPr lang="fr-BE" sz="900" i="1" dirty="0"/>
              <a:t> data </a:t>
            </a:r>
            <a:r>
              <a:rPr lang="fr-BE" sz="900" i="1" dirty="0" err="1"/>
              <a:t>driven</a:t>
            </a:r>
            <a:r>
              <a:rPr lang="fr-BE" sz="900" i="1" dirty="0"/>
              <a:t> package </a:t>
            </a:r>
            <a:r>
              <a:rPr lang="fr-BE" sz="900" i="1" dirty="0" err="1"/>
              <a:t>using</a:t>
            </a:r>
            <a:r>
              <a:rPr lang="fr-BE" sz="900" i="1" dirty="0"/>
              <a:t> </a:t>
            </a:r>
            <a:r>
              <a:rPr lang="fr-BE" sz="900" i="1" dirty="0" err="1"/>
              <a:t>loop</a:t>
            </a:r>
            <a:r>
              <a:rPr lang="fr-BE" sz="900" i="1" dirty="0"/>
              <a:t> and </a:t>
            </a:r>
            <a:r>
              <a:rPr lang="fr-BE" sz="900" i="1" dirty="0" err="1"/>
              <a:t>technical</a:t>
            </a:r>
            <a:r>
              <a:rPr lang="fr-BE" sz="900" i="1" dirty="0"/>
              <a:t> table supports </a:t>
            </a:r>
          </a:p>
          <a:p>
            <a:endParaRPr lang="fr-BE" sz="900" i="1" dirty="0"/>
          </a:p>
          <a:p>
            <a:r>
              <a:rPr lang="fr-BE" sz="900" b="1" dirty="0"/>
              <a:t>Goal</a:t>
            </a:r>
            <a:r>
              <a:rPr lang="fr-BE" sz="900" i="1" dirty="0"/>
              <a:t> : </a:t>
            </a:r>
          </a:p>
          <a:p>
            <a:r>
              <a:rPr lang="fr-BE" sz="900" i="1" dirty="0" err="1"/>
              <a:t>Create</a:t>
            </a:r>
            <a:r>
              <a:rPr lang="fr-BE" sz="900" i="1" dirty="0"/>
              <a:t> 1 </a:t>
            </a:r>
            <a:r>
              <a:rPr lang="fr-BE" sz="900" i="1" dirty="0" err="1"/>
              <a:t>meta</a:t>
            </a:r>
            <a:r>
              <a:rPr lang="fr-BE" sz="900" i="1" dirty="0"/>
              <a:t> data </a:t>
            </a:r>
            <a:r>
              <a:rPr lang="fr-BE" sz="900" i="1" dirty="0" err="1"/>
              <a:t>driven</a:t>
            </a:r>
            <a:r>
              <a:rPr lang="fr-BE" sz="900" i="1" dirty="0"/>
              <a:t> package : </a:t>
            </a:r>
          </a:p>
          <a:p>
            <a:endParaRPr lang="fr-BE" sz="900" i="1" dirty="0"/>
          </a:p>
          <a:p>
            <a:r>
              <a:rPr lang="fr-BE" sz="900" b="1" dirty="0"/>
              <a:t>Root causes:</a:t>
            </a:r>
          </a:p>
          <a:p>
            <a:r>
              <a:rPr lang="fr-BE" sz="900" i="1" dirty="0" err="1"/>
              <a:t>Too</a:t>
            </a:r>
            <a:r>
              <a:rPr lang="fr-BE" sz="900" i="1" dirty="0"/>
              <a:t> </a:t>
            </a:r>
            <a:r>
              <a:rPr lang="fr-BE" sz="900" i="1" dirty="0" err="1"/>
              <a:t>mush</a:t>
            </a:r>
            <a:r>
              <a:rPr lang="fr-BE" sz="900" i="1" dirty="0"/>
              <a:t> </a:t>
            </a:r>
            <a:r>
              <a:rPr lang="fr-BE" sz="900" i="1" dirty="0" err="1"/>
              <a:t>packageto</a:t>
            </a:r>
            <a:r>
              <a:rPr lang="fr-BE" sz="900" i="1" dirty="0"/>
              <a:t> </a:t>
            </a:r>
            <a:r>
              <a:rPr lang="fr-BE" sz="900" i="1" dirty="0" err="1"/>
              <a:t>handle</a:t>
            </a:r>
            <a:r>
              <a:rPr lang="fr-BE" sz="900" i="1" dirty="0"/>
              <a:t>  , no </a:t>
            </a:r>
            <a:r>
              <a:rPr lang="fr-BE" sz="900" i="1" dirty="0" err="1"/>
              <a:t>flexibility</a:t>
            </a:r>
            <a:r>
              <a:rPr lang="fr-BE" sz="900" i="1" dirty="0"/>
              <a:t> for change , </a:t>
            </a:r>
          </a:p>
          <a:p>
            <a:endParaRPr lang="fr-BE" sz="900" i="1" dirty="0"/>
          </a:p>
          <a:p>
            <a:r>
              <a:rPr lang="fr-BE" sz="900" b="1" i="1" dirty="0"/>
              <a:t>Solution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 err="1"/>
              <a:t>Create</a:t>
            </a:r>
            <a:r>
              <a:rPr lang="fr-BE" sz="900" i="1" dirty="0"/>
              <a:t> a </a:t>
            </a:r>
            <a:r>
              <a:rPr lang="fr-BE" sz="900" i="1" dirty="0" err="1"/>
              <a:t>Etl</a:t>
            </a:r>
            <a:r>
              <a:rPr lang="fr-BE" sz="900" i="1" dirty="0"/>
              <a:t> </a:t>
            </a:r>
            <a:r>
              <a:rPr lang="fr-BE" sz="900" i="1" dirty="0" err="1"/>
              <a:t>load</a:t>
            </a:r>
            <a:r>
              <a:rPr lang="fr-BE" sz="900" i="1" dirty="0"/>
              <a:t> table </a:t>
            </a:r>
            <a:r>
              <a:rPr lang="fr-BE" sz="900" i="1" dirty="0" err="1"/>
              <a:t>containing</a:t>
            </a:r>
            <a:r>
              <a:rPr lang="fr-BE" sz="900" i="1" dirty="0"/>
              <a:t> source and destination tables , </a:t>
            </a:r>
            <a:r>
              <a:rPr lang="fr-BE" sz="900" i="1" dirty="0" err="1"/>
              <a:t>loadtype</a:t>
            </a:r>
            <a:r>
              <a:rPr lang="fr-BE" sz="900" i="1" dirty="0"/>
              <a:t> (full or </a:t>
            </a:r>
            <a:r>
              <a:rPr lang="fr-BE" sz="900" i="1" dirty="0" err="1"/>
              <a:t>incr</a:t>
            </a:r>
            <a:r>
              <a:rPr lang="fr-BE" sz="900" i="1" dirty="0"/>
              <a:t>), </a:t>
            </a:r>
            <a:r>
              <a:rPr lang="fr-BE" sz="900" i="1" dirty="0" err="1"/>
              <a:t>loadOrder</a:t>
            </a:r>
            <a:r>
              <a:rPr lang="fr-BE" sz="900" i="1" dirty="0"/>
              <a:t>…)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 err="1"/>
              <a:t>Create</a:t>
            </a:r>
            <a:r>
              <a:rPr lang="fr-BE" sz="900" i="1" dirty="0"/>
              <a:t> a </a:t>
            </a:r>
            <a:r>
              <a:rPr lang="fr-BE" sz="900" i="1" dirty="0" err="1"/>
              <a:t>lod</a:t>
            </a:r>
            <a:r>
              <a:rPr lang="fr-BE" sz="900" i="1" dirty="0"/>
              <a:t> table </a:t>
            </a:r>
            <a:r>
              <a:rPr lang="fr-BE" sz="900" i="1" dirty="0" err="1"/>
              <a:t>contains</a:t>
            </a:r>
            <a:r>
              <a:rPr lang="fr-BE" sz="900" i="1" dirty="0"/>
              <a:t> the </a:t>
            </a:r>
            <a:r>
              <a:rPr lang="fr-BE" sz="900" b="1" i="1" dirty="0"/>
              <a:t>runs</a:t>
            </a:r>
            <a:r>
              <a:rPr lang="fr-BE" sz="900" i="1" dirty="0"/>
              <a:t>(table </a:t>
            </a:r>
            <a:r>
              <a:rPr lang="fr-BE" sz="900" i="1" dirty="0" err="1"/>
              <a:t>name</a:t>
            </a:r>
            <a:r>
              <a:rPr lang="fr-BE" sz="900" i="1" dirty="0"/>
              <a:t>) ,start end </a:t>
            </a:r>
            <a:r>
              <a:rPr lang="fr-BE" sz="900" i="1" dirty="0" err="1"/>
              <a:t>end</a:t>
            </a:r>
            <a:r>
              <a:rPr lang="fr-BE" sz="900" i="1" dirty="0"/>
              <a:t> time, </a:t>
            </a:r>
            <a:r>
              <a:rPr lang="fr-BE" sz="900" i="1" dirty="0" err="1"/>
              <a:t>status</a:t>
            </a:r>
            <a:r>
              <a:rPr lang="fr-BE" sz="900" i="1" dirty="0"/>
              <a:t> , </a:t>
            </a:r>
            <a:r>
              <a:rPr lang="fr-BE" sz="900" i="1" dirty="0" err="1"/>
              <a:t>rowsLoad</a:t>
            </a:r>
            <a:r>
              <a:rPr lang="fr-BE" sz="900" i="1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/>
              <a:t>Use </a:t>
            </a:r>
            <a:r>
              <a:rPr lang="fr-BE" sz="900" i="1" dirty="0" err="1"/>
              <a:t>ForEach</a:t>
            </a:r>
            <a:r>
              <a:rPr lang="fr-BE" sz="900" i="1" dirty="0"/>
              <a:t> </a:t>
            </a:r>
            <a:r>
              <a:rPr lang="fr-BE" sz="900" i="1" dirty="0" err="1"/>
              <a:t>loop</a:t>
            </a:r>
            <a:r>
              <a:rPr lang="fr-BE" sz="900" i="1" dirty="0"/>
              <a:t> </a:t>
            </a:r>
            <a:r>
              <a:rPr lang="fr-BE" sz="900" i="1" dirty="0" err="1"/>
              <a:t>avtivity</a:t>
            </a:r>
            <a:r>
              <a:rPr lang="fr-BE" sz="900" i="1" dirty="0"/>
              <a:t>  , </a:t>
            </a:r>
            <a:r>
              <a:rPr lang="fr-BE" sz="900" i="1" dirty="0" err="1"/>
              <a:t>that</a:t>
            </a:r>
            <a:r>
              <a:rPr lang="fr-BE" sz="900" i="1" dirty="0"/>
              <a:t> </a:t>
            </a:r>
            <a:r>
              <a:rPr lang="fr-BE" sz="900" i="1" dirty="0" err="1"/>
              <a:t>will</a:t>
            </a:r>
            <a:r>
              <a:rPr lang="fr-BE" sz="900" i="1" dirty="0"/>
              <a:t> check the table , and </a:t>
            </a:r>
            <a:r>
              <a:rPr lang="fr-BE" sz="900" i="1" dirty="0" err="1"/>
              <a:t>load</a:t>
            </a:r>
            <a:r>
              <a:rPr lang="fr-BE" sz="900" i="1" dirty="0"/>
              <a:t> </a:t>
            </a:r>
            <a:r>
              <a:rPr lang="fr-BE" sz="900" i="1" dirty="0" err="1"/>
              <a:t>them</a:t>
            </a:r>
            <a:r>
              <a:rPr lang="fr-BE" sz="900" i="1" dirty="0"/>
              <a:t> 1 by 1 </a:t>
            </a:r>
            <a:r>
              <a:rPr lang="fr-BE" sz="900" i="1" dirty="0" err="1"/>
              <a:t>using</a:t>
            </a:r>
            <a:r>
              <a:rPr lang="fr-BE" sz="900" i="1" dirty="0"/>
              <a:t> </a:t>
            </a:r>
            <a:r>
              <a:rPr lang="fr-BE" sz="900" i="1" dirty="0" err="1"/>
              <a:t>dynamic</a:t>
            </a:r>
            <a:r>
              <a:rPr lang="fr-BE" sz="900" i="1" dirty="0"/>
              <a:t> package active or inactive)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/>
              <a:t>A </a:t>
            </a:r>
            <a:r>
              <a:rPr lang="fr-BE" sz="900" i="1" dirty="0" err="1"/>
              <a:t>rowcount</a:t>
            </a:r>
            <a:r>
              <a:rPr lang="fr-BE" sz="900" i="1" dirty="0"/>
              <a:t> </a:t>
            </a:r>
            <a:r>
              <a:rPr lang="fr-BE" sz="900" i="1" dirty="0" err="1"/>
              <a:t>will</a:t>
            </a:r>
            <a:r>
              <a:rPr lang="fr-BE" sz="900" i="1" dirty="0"/>
              <a:t> capture the </a:t>
            </a:r>
            <a:r>
              <a:rPr lang="fr-BE" sz="900" i="1" dirty="0" err="1"/>
              <a:t>row</a:t>
            </a:r>
            <a:r>
              <a:rPr lang="fr-BE" sz="900" i="1" dirty="0"/>
              <a:t> </a:t>
            </a:r>
            <a:r>
              <a:rPr lang="fr-BE" sz="900" i="1" dirty="0" err="1"/>
              <a:t>loaded</a:t>
            </a:r>
            <a:r>
              <a:rPr lang="fr-BE" sz="900" i="1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 err="1"/>
              <a:t>Starttime</a:t>
            </a:r>
            <a:r>
              <a:rPr lang="fr-BE" sz="900" i="1" dirty="0"/>
              <a:t> en </a:t>
            </a:r>
            <a:r>
              <a:rPr lang="fr-BE" sz="900" i="1" dirty="0" err="1"/>
              <a:t>endtime</a:t>
            </a:r>
            <a:r>
              <a:rPr lang="fr-BE" sz="900" i="1" dirty="0"/>
              <a:t> </a:t>
            </a:r>
            <a:r>
              <a:rPr lang="fr-BE" sz="900" i="1" dirty="0" err="1"/>
              <a:t>will</a:t>
            </a:r>
            <a:r>
              <a:rPr lang="fr-BE" sz="900" i="1" dirty="0"/>
              <a:t> </a:t>
            </a:r>
            <a:r>
              <a:rPr lang="fr-BE" sz="900" i="1" dirty="0" err="1"/>
              <a:t>be</a:t>
            </a:r>
            <a:r>
              <a:rPr lang="fr-BE" sz="900" i="1" dirty="0"/>
              <a:t> </a:t>
            </a:r>
            <a:r>
              <a:rPr lang="fr-BE" sz="900" i="1" dirty="0" err="1"/>
              <a:t>write</a:t>
            </a:r>
            <a:r>
              <a:rPr lang="fr-BE" sz="900" i="1" dirty="0"/>
              <a:t> </a:t>
            </a:r>
            <a:r>
              <a:rPr lang="fr-BE" sz="900" i="1" dirty="0" err="1"/>
              <a:t>using</a:t>
            </a:r>
            <a:r>
              <a:rPr lang="fr-BE" sz="900" i="1" dirty="0"/>
              <a:t> </a:t>
            </a:r>
            <a:r>
              <a:rPr lang="fr-BE" sz="900" i="1" dirty="0" err="1"/>
              <a:t>some</a:t>
            </a:r>
            <a:r>
              <a:rPr lang="fr-BE" sz="900" i="1" dirty="0"/>
              <a:t> </a:t>
            </a:r>
            <a:r>
              <a:rPr lang="fr-BE" sz="900" i="1" dirty="0" err="1"/>
              <a:t>sql</a:t>
            </a:r>
            <a:r>
              <a:rPr lang="fr-BE" sz="900" i="1" dirty="0"/>
              <a:t> </a:t>
            </a:r>
            <a:r>
              <a:rPr lang="fr-BE" sz="900" i="1" dirty="0" err="1"/>
              <a:t>statement</a:t>
            </a:r>
            <a:r>
              <a:rPr lang="fr-BE" sz="900" i="1" dirty="0"/>
              <a:t> (</a:t>
            </a:r>
            <a:r>
              <a:rPr lang="fr-BE" sz="900" i="1" dirty="0" err="1"/>
              <a:t>when</a:t>
            </a:r>
            <a:r>
              <a:rPr lang="fr-BE" sz="900" i="1" dirty="0"/>
              <a:t> </a:t>
            </a:r>
            <a:r>
              <a:rPr lang="fr-BE" sz="900" i="1" dirty="0" err="1"/>
              <a:t>begin</a:t>
            </a:r>
            <a:r>
              <a:rPr lang="fr-BE" sz="900" i="1" dirty="0"/>
              <a:t> and end)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BE" sz="900" i="1" dirty="0"/>
          </a:p>
          <a:p>
            <a:r>
              <a:rPr lang="fr-BE" sz="900" i="1" dirty="0"/>
              <a:t> </a:t>
            </a:r>
            <a:r>
              <a:rPr lang="fr-BE" sz="900" i="1" dirty="0" err="1"/>
              <a:t>Result</a:t>
            </a:r>
            <a:r>
              <a:rPr lang="fr-BE" sz="900" i="1" dirty="0"/>
              <a:t> : </a:t>
            </a:r>
          </a:p>
          <a:p>
            <a:r>
              <a:rPr lang="fr-BE" sz="900" i="1" dirty="0" err="1"/>
              <a:t>Robust</a:t>
            </a:r>
            <a:r>
              <a:rPr lang="fr-BE" sz="900" i="1" dirty="0"/>
              <a:t> and </a:t>
            </a:r>
            <a:r>
              <a:rPr lang="fr-BE" sz="900" i="1" dirty="0" err="1"/>
              <a:t>flexibel</a:t>
            </a:r>
            <a:r>
              <a:rPr lang="fr-BE" sz="900" i="1" dirty="0"/>
              <a:t> </a:t>
            </a:r>
            <a:r>
              <a:rPr lang="fr-BE" sz="900" i="1" dirty="0" err="1"/>
              <a:t>packege</a:t>
            </a:r>
            <a:r>
              <a:rPr lang="fr-BE" sz="900" i="1" dirty="0"/>
              <a:t> </a:t>
            </a:r>
          </a:p>
          <a:p>
            <a:endParaRPr lang="fr-BE" sz="900" i="1" dirty="0"/>
          </a:p>
          <a:p>
            <a:endParaRPr lang="en-BE" sz="800" dirty="0"/>
          </a:p>
        </p:txBody>
      </p:sp>
    </p:spTree>
    <p:extLst>
      <p:ext uri="{BB962C8B-B14F-4D97-AF65-F5344CB8AC3E}">
        <p14:creationId xmlns:p14="http://schemas.microsoft.com/office/powerpoint/2010/main" val="381308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94D51-0765-124A-2DC8-4FFDBC7A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E28B3-F201-DF26-3D21-9EE4FA84B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384" y="64009"/>
            <a:ext cx="9144000" cy="521207"/>
          </a:xfrm>
        </p:spPr>
        <p:txBody>
          <a:bodyPr>
            <a:noAutofit/>
          </a:bodyPr>
          <a:lstStyle/>
          <a:p>
            <a:r>
              <a:rPr lang="fr-BE" sz="2800" dirty="0"/>
              <a:t>SSAS issues </a:t>
            </a:r>
            <a:r>
              <a:rPr lang="fr-BE" sz="2800" dirty="0" err="1"/>
              <a:t>solved</a:t>
            </a:r>
            <a:endParaRPr lang="en-BE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74A6EB-3A26-6BBE-70D7-199FC87C6D56}"/>
              </a:ext>
            </a:extLst>
          </p:cNvPr>
          <p:cNvSpPr txBox="1"/>
          <p:nvPr/>
        </p:nvSpPr>
        <p:spPr>
          <a:xfrm>
            <a:off x="222504" y="493777"/>
            <a:ext cx="11746992" cy="32624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fr-BE" sz="900" b="1" i="1" dirty="0">
                <a:solidFill>
                  <a:srgbClr val="FF0000"/>
                </a:solidFill>
              </a:rPr>
              <a:t>Topic 1</a:t>
            </a:r>
          </a:p>
          <a:p>
            <a:r>
              <a:rPr lang="fr-BE" sz="900" b="1" i="1" dirty="0" err="1"/>
              <a:t>Problem</a:t>
            </a:r>
            <a:r>
              <a:rPr lang="fr-BE" sz="900" b="1" i="1" dirty="0"/>
              <a:t> : </a:t>
            </a:r>
            <a:r>
              <a:rPr lang="fr-BE" sz="900" i="1" dirty="0" err="1"/>
              <a:t>Pbi</a:t>
            </a:r>
            <a:r>
              <a:rPr lang="fr-BE" sz="900" i="1" dirty="0"/>
              <a:t> report </a:t>
            </a:r>
            <a:r>
              <a:rPr lang="fr-BE" sz="900" i="1" dirty="0" err="1"/>
              <a:t>connceted</a:t>
            </a:r>
            <a:r>
              <a:rPr lang="fr-BE" sz="900" i="1" dirty="0"/>
              <a:t> to the </a:t>
            </a:r>
            <a:r>
              <a:rPr lang="fr-BE" sz="900" b="1" i="1" dirty="0"/>
              <a:t>SSAS </a:t>
            </a:r>
            <a:r>
              <a:rPr lang="fr-BE" sz="900" b="1" i="1" dirty="0" err="1"/>
              <a:t>bim</a:t>
            </a:r>
            <a:r>
              <a:rPr lang="fr-BE" sz="900" b="1" i="1" dirty="0"/>
              <a:t> data model </a:t>
            </a:r>
            <a:r>
              <a:rPr lang="fr-BE" sz="900" i="1" dirty="0"/>
              <a:t>, </a:t>
            </a:r>
            <a:r>
              <a:rPr lang="fr-BE" sz="900" i="1" dirty="0" err="1"/>
              <a:t>experianced</a:t>
            </a:r>
            <a:r>
              <a:rPr lang="fr-BE" sz="900" i="1" dirty="0"/>
              <a:t> slow </a:t>
            </a:r>
            <a:r>
              <a:rPr lang="fr-BE" sz="900" i="1" dirty="0" err="1"/>
              <a:t>loading</a:t>
            </a:r>
            <a:r>
              <a:rPr lang="fr-BE" sz="900" i="1" dirty="0"/>
              <a:t> (30 to 60 second to open)</a:t>
            </a:r>
          </a:p>
          <a:p>
            <a:endParaRPr lang="fr-BE" sz="900" i="1" dirty="0"/>
          </a:p>
          <a:p>
            <a:r>
              <a:rPr lang="fr-BE" sz="900" b="1" dirty="0"/>
              <a:t>Goal</a:t>
            </a:r>
            <a:r>
              <a:rPr lang="fr-BE" sz="900" i="1" dirty="0"/>
              <a:t> : </a:t>
            </a:r>
          </a:p>
          <a:p>
            <a:r>
              <a:rPr lang="fr-BE" sz="900" i="1" dirty="0"/>
              <a:t>The goal </a:t>
            </a:r>
            <a:r>
              <a:rPr lang="fr-BE" sz="900" i="1" dirty="0" err="1"/>
              <a:t>was</a:t>
            </a:r>
            <a:r>
              <a:rPr lang="fr-BE" sz="900" i="1" dirty="0"/>
              <a:t> to </a:t>
            </a:r>
            <a:r>
              <a:rPr lang="fr-BE" sz="900" i="1" dirty="0" err="1"/>
              <a:t>reduce</a:t>
            </a:r>
            <a:r>
              <a:rPr lang="fr-BE" sz="900" i="1" dirty="0"/>
              <a:t> </a:t>
            </a:r>
            <a:r>
              <a:rPr lang="fr-BE" sz="900" i="1" dirty="0" err="1"/>
              <a:t>drastically</a:t>
            </a:r>
            <a:r>
              <a:rPr lang="fr-BE" sz="900" i="1" dirty="0"/>
              <a:t> </a:t>
            </a:r>
            <a:r>
              <a:rPr lang="fr-BE" sz="900" i="1" dirty="0" err="1"/>
              <a:t>this</a:t>
            </a:r>
            <a:r>
              <a:rPr lang="fr-BE" sz="900" i="1" dirty="0"/>
              <a:t> </a:t>
            </a:r>
            <a:r>
              <a:rPr lang="fr-BE" sz="900" i="1" dirty="0" err="1"/>
              <a:t>load</a:t>
            </a:r>
            <a:r>
              <a:rPr lang="fr-BE" sz="900" i="1" dirty="0"/>
              <a:t> time </a:t>
            </a:r>
          </a:p>
          <a:p>
            <a:endParaRPr lang="fr-BE" sz="900" i="1" dirty="0"/>
          </a:p>
          <a:p>
            <a:r>
              <a:rPr lang="fr-BE" sz="900" b="1" dirty="0"/>
              <a:t>Root causes:</a:t>
            </a:r>
          </a:p>
          <a:p>
            <a:r>
              <a:rPr lang="fr-BE" sz="900" i="1" dirty="0" err="1"/>
              <a:t>After</a:t>
            </a:r>
            <a:r>
              <a:rPr lang="fr-BE" sz="900" i="1" dirty="0"/>
              <a:t> </a:t>
            </a:r>
            <a:r>
              <a:rPr lang="fr-BE" sz="900" i="1" dirty="0" err="1"/>
              <a:t>analysis</a:t>
            </a:r>
            <a:r>
              <a:rPr lang="fr-BE" sz="900" i="1" dirty="0"/>
              <a:t> , </a:t>
            </a:r>
            <a:r>
              <a:rPr lang="fr-BE" sz="900" i="1" dirty="0" err="1"/>
              <a:t>here</a:t>
            </a:r>
            <a:r>
              <a:rPr lang="fr-BE" sz="900" i="1" dirty="0"/>
              <a:t> are the cause of </a:t>
            </a:r>
            <a:r>
              <a:rPr lang="fr-BE" sz="900" i="1" dirty="0" err="1"/>
              <a:t>this</a:t>
            </a:r>
            <a:r>
              <a:rPr lang="fr-BE" sz="900" i="1" dirty="0"/>
              <a:t> issue: </a:t>
            </a:r>
          </a:p>
          <a:p>
            <a:r>
              <a:rPr lang="fr-BE" sz="900" i="1" dirty="0"/>
              <a:t>A big </a:t>
            </a:r>
            <a:r>
              <a:rPr lang="fr-BE" sz="900" i="1" dirty="0" err="1"/>
              <a:t>fact</a:t>
            </a:r>
            <a:r>
              <a:rPr lang="fr-BE" sz="900" i="1" dirty="0"/>
              <a:t> table of 800 millions </a:t>
            </a:r>
            <a:r>
              <a:rPr lang="fr-BE" sz="900" i="1" dirty="0" err="1"/>
              <a:t>rows</a:t>
            </a:r>
            <a:r>
              <a:rPr lang="fr-BE" sz="900" i="1" dirty="0"/>
              <a:t> and 12 dimensions :</a:t>
            </a:r>
          </a:p>
          <a:p>
            <a:r>
              <a:rPr lang="fr-BE" sz="900" i="1" dirty="0"/>
              <a:t>No </a:t>
            </a:r>
            <a:r>
              <a:rPr lang="fr-BE" sz="900" i="1" dirty="0" err="1"/>
              <a:t>aggregatons</a:t>
            </a:r>
            <a:r>
              <a:rPr lang="fr-BE" sz="900" i="1" dirty="0"/>
              <a:t> made on </a:t>
            </a:r>
            <a:r>
              <a:rPr lang="fr-BE" sz="900" i="1" dirty="0" err="1"/>
              <a:t>fact</a:t>
            </a:r>
            <a:r>
              <a:rPr lang="fr-BE" sz="900" i="1" dirty="0"/>
              <a:t> table (</a:t>
            </a:r>
            <a:r>
              <a:rPr lang="fr-BE" sz="900" i="1" dirty="0" err="1"/>
              <a:t>too</a:t>
            </a:r>
            <a:r>
              <a:rPr lang="fr-BE" sz="900" i="1" dirty="0"/>
              <a:t> </a:t>
            </a:r>
            <a:r>
              <a:rPr lang="fr-BE" sz="900" i="1" dirty="0" err="1"/>
              <a:t>low</a:t>
            </a:r>
            <a:r>
              <a:rPr lang="fr-BE" sz="900" i="1" dirty="0"/>
              <a:t> data </a:t>
            </a:r>
            <a:r>
              <a:rPr lang="fr-BE" sz="900" i="1" dirty="0" err="1"/>
              <a:t>granularity</a:t>
            </a:r>
            <a:r>
              <a:rPr lang="fr-BE" sz="900" i="1" dirty="0"/>
              <a:t>) – High </a:t>
            </a:r>
            <a:r>
              <a:rPr lang="fr-BE" sz="900" i="1" dirty="0" err="1"/>
              <a:t>cardinality</a:t>
            </a:r>
            <a:r>
              <a:rPr lang="fr-BE" sz="900" i="1" dirty="0"/>
              <a:t> dimensions(</a:t>
            </a:r>
            <a:r>
              <a:rPr lang="fr-BE" sz="900" i="1" dirty="0" err="1"/>
              <a:t>too</a:t>
            </a:r>
            <a:r>
              <a:rPr lang="fr-BE" sz="900" i="1" dirty="0"/>
              <a:t> large dimension table)- Bad </a:t>
            </a:r>
            <a:r>
              <a:rPr lang="fr-BE" sz="900" i="1" dirty="0" err="1"/>
              <a:t>attribute</a:t>
            </a:r>
            <a:r>
              <a:rPr lang="fr-BE" sz="900" i="1" dirty="0"/>
              <a:t> </a:t>
            </a:r>
            <a:r>
              <a:rPr lang="fr-BE" sz="900" i="1" dirty="0" err="1"/>
              <a:t>relationship</a:t>
            </a:r>
            <a:r>
              <a:rPr lang="fr-BE" sz="900" i="1" dirty="0"/>
              <a:t> – </a:t>
            </a:r>
            <a:r>
              <a:rPr lang="fr-BE" sz="900" i="1" dirty="0" err="1"/>
              <a:t>Missing</a:t>
            </a:r>
            <a:r>
              <a:rPr lang="fr-BE" sz="900" i="1" dirty="0"/>
              <a:t> partitions </a:t>
            </a:r>
          </a:p>
          <a:p>
            <a:endParaRPr lang="fr-BE" sz="900" i="1" dirty="0"/>
          </a:p>
          <a:p>
            <a:r>
              <a:rPr lang="fr-BE" sz="900" b="1" i="1" dirty="0"/>
              <a:t>Solution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 err="1"/>
              <a:t>Create</a:t>
            </a:r>
            <a:r>
              <a:rPr lang="fr-BE" sz="900" i="1" dirty="0"/>
              <a:t> </a:t>
            </a:r>
            <a:r>
              <a:rPr lang="fr-BE" sz="900" i="1" dirty="0" err="1"/>
              <a:t>aggregattion</a:t>
            </a:r>
            <a:r>
              <a:rPr lang="fr-BE" sz="900" i="1" dirty="0"/>
              <a:t> (sales by </a:t>
            </a:r>
            <a:r>
              <a:rPr lang="fr-BE" sz="900" i="1" dirty="0" err="1"/>
              <a:t>year</a:t>
            </a:r>
            <a:r>
              <a:rPr lang="fr-BE" sz="900" i="1" dirty="0"/>
              <a:t> , </a:t>
            </a:r>
            <a:r>
              <a:rPr lang="fr-BE" sz="900" i="1" dirty="0" err="1"/>
              <a:t>product</a:t>
            </a:r>
            <a:r>
              <a:rPr lang="fr-BE" sz="900" i="1" dirty="0"/>
              <a:t> </a:t>
            </a:r>
            <a:r>
              <a:rPr lang="fr-BE" sz="900" i="1" dirty="0" err="1"/>
              <a:t>catagory</a:t>
            </a:r>
            <a:r>
              <a:rPr lang="fr-BE" sz="900" i="1" dirty="0"/>
              <a:t> ,</a:t>
            </a:r>
            <a:r>
              <a:rPr lang="fr-BE" sz="900" i="1" dirty="0" err="1"/>
              <a:t>Region</a:t>
            </a:r>
            <a:r>
              <a:rPr lang="fr-BE" sz="900" i="1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 err="1"/>
              <a:t>Define</a:t>
            </a:r>
            <a:r>
              <a:rPr lang="fr-BE" sz="900" i="1" dirty="0"/>
              <a:t> a correct </a:t>
            </a:r>
            <a:r>
              <a:rPr lang="fr-BE" sz="900" b="1" i="1" dirty="0"/>
              <a:t>date </a:t>
            </a:r>
            <a:r>
              <a:rPr lang="fr-BE" sz="900" b="1" i="1" dirty="0" err="1"/>
              <a:t>hierarchy</a:t>
            </a:r>
            <a:r>
              <a:rPr lang="fr-BE" sz="900" b="1" i="1" dirty="0"/>
              <a:t> </a:t>
            </a:r>
            <a:r>
              <a:rPr lang="fr-BE" sz="900" i="1" dirty="0"/>
              <a:t>(for </a:t>
            </a:r>
            <a:r>
              <a:rPr lang="fr-BE" sz="900" i="1" dirty="0" err="1"/>
              <a:t>faster</a:t>
            </a:r>
            <a:r>
              <a:rPr lang="fr-BE" sz="900" i="1" dirty="0"/>
              <a:t> </a:t>
            </a:r>
            <a:r>
              <a:rPr lang="fr-BE" sz="900" i="1" dirty="0" err="1"/>
              <a:t>aggregation</a:t>
            </a:r>
            <a:r>
              <a:rPr lang="fr-BE" sz="900" i="1" dirty="0"/>
              <a:t> and </a:t>
            </a:r>
            <a:r>
              <a:rPr lang="fr-BE" sz="900" i="1" dirty="0" err="1"/>
              <a:t>better</a:t>
            </a:r>
            <a:r>
              <a:rPr lang="fr-BE" sz="900" i="1" dirty="0"/>
              <a:t> </a:t>
            </a:r>
            <a:r>
              <a:rPr lang="fr-BE" sz="900" i="1" dirty="0" err="1"/>
              <a:t>storage</a:t>
            </a:r>
            <a:r>
              <a:rPr lang="fr-BE" sz="900" i="1" dirty="0"/>
              <a:t> structure)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 err="1"/>
              <a:t>Create</a:t>
            </a:r>
            <a:r>
              <a:rPr lang="fr-BE" sz="900" i="1" dirty="0"/>
              <a:t> partition on the </a:t>
            </a:r>
            <a:r>
              <a:rPr lang="fr-BE" sz="900" i="1" dirty="0" err="1"/>
              <a:t>fact</a:t>
            </a:r>
            <a:r>
              <a:rPr lang="fr-BE" sz="900" i="1" dirty="0"/>
              <a:t> table (and </a:t>
            </a:r>
            <a:r>
              <a:rPr lang="fr-BE" sz="900" i="1" dirty="0" err="1"/>
              <a:t>only</a:t>
            </a:r>
            <a:r>
              <a:rPr lang="fr-BE" sz="900" i="1" dirty="0"/>
              <a:t> process the new partition data , short </a:t>
            </a:r>
            <a:r>
              <a:rPr lang="fr-BE" sz="900" i="1" dirty="0" err="1"/>
              <a:t>processing</a:t>
            </a:r>
            <a:r>
              <a:rPr lang="fr-BE" sz="900" i="1" dirty="0"/>
              <a:t> time)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900" i="1" dirty="0" err="1"/>
              <a:t>Avoid</a:t>
            </a:r>
            <a:r>
              <a:rPr lang="fr-BE" sz="900" i="1" dirty="0"/>
              <a:t> </a:t>
            </a:r>
            <a:r>
              <a:rPr lang="fr-BE" sz="900" i="1" dirty="0" err="1"/>
              <a:t>many</a:t>
            </a:r>
            <a:r>
              <a:rPr lang="fr-BE" sz="900" i="1" dirty="0"/>
              <a:t> to </a:t>
            </a:r>
            <a:r>
              <a:rPr lang="fr-BE" sz="900" i="1" dirty="0" err="1"/>
              <a:t>many</a:t>
            </a:r>
            <a:r>
              <a:rPr lang="fr-BE" sz="900" i="1" dirty="0"/>
              <a:t> </a:t>
            </a:r>
            <a:r>
              <a:rPr lang="fr-BE" sz="900" i="1" dirty="0" err="1"/>
              <a:t>relationship</a:t>
            </a:r>
            <a:r>
              <a:rPr lang="fr-BE" sz="900" i="1" dirty="0"/>
              <a:t> (</a:t>
            </a:r>
            <a:r>
              <a:rPr lang="fr-BE" sz="900" i="1" dirty="0" err="1"/>
              <a:t>instead</a:t>
            </a:r>
            <a:r>
              <a:rPr lang="fr-BE" sz="900" i="1" dirty="0"/>
              <a:t> use bridge table)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BE" sz="900" b="1" i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BE" sz="900" i="1" dirty="0"/>
          </a:p>
          <a:p>
            <a:r>
              <a:rPr lang="fr-BE" sz="900" i="1" dirty="0"/>
              <a:t> </a:t>
            </a:r>
            <a:r>
              <a:rPr lang="fr-BE" sz="900" i="1" dirty="0" err="1"/>
              <a:t>Result</a:t>
            </a:r>
            <a:r>
              <a:rPr lang="fr-BE" sz="900" i="1" dirty="0"/>
              <a:t> : </a:t>
            </a:r>
          </a:p>
          <a:p>
            <a:r>
              <a:rPr lang="fr-BE" sz="900" i="1" dirty="0" err="1"/>
              <a:t>Query</a:t>
            </a:r>
            <a:r>
              <a:rPr lang="fr-BE" sz="900" i="1" dirty="0"/>
              <a:t> time  </a:t>
            </a:r>
            <a:r>
              <a:rPr lang="fr-BE" sz="900" i="1" dirty="0" err="1"/>
              <a:t>from</a:t>
            </a:r>
            <a:r>
              <a:rPr lang="fr-BE" sz="900" i="1" dirty="0"/>
              <a:t> 60 sec to 2 sec </a:t>
            </a:r>
          </a:p>
          <a:p>
            <a:r>
              <a:rPr lang="fr-BE" sz="900" i="1" dirty="0" err="1"/>
              <a:t>Processing</a:t>
            </a:r>
            <a:r>
              <a:rPr lang="fr-BE" sz="900" i="1" dirty="0"/>
              <a:t> time </a:t>
            </a:r>
            <a:r>
              <a:rPr lang="fr-BE" sz="900" i="1" dirty="0" err="1"/>
              <a:t>from</a:t>
            </a:r>
            <a:r>
              <a:rPr lang="fr-BE" sz="900" i="1" dirty="0"/>
              <a:t> 6 </a:t>
            </a:r>
            <a:r>
              <a:rPr lang="fr-BE" sz="900" i="1" dirty="0" err="1"/>
              <a:t>hours</a:t>
            </a:r>
            <a:r>
              <a:rPr lang="fr-BE" sz="900" i="1" dirty="0"/>
              <a:t> to 10 MIN</a:t>
            </a:r>
          </a:p>
          <a:p>
            <a:endParaRPr lang="fr-BE" sz="900" i="1" dirty="0"/>
          </a:p>
          <a:p>
            <a:endParaRPr lang="en-BE" sz="800" dirty="0"/>
          </a:p>
        </p:txBody>
      </p:sp>
    </p:spTree>
    <p:extLst>
      <p:ext uri="{BB962C8B-B14F-4D97-AF65-F5344CB8AC3E}">
        <p14:creationId xmlns:p14="http://schemas.microsoft.com/office/powerpoint/2010/main" val="3440377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3149</TotalTime>
  <Words>572</Words>
  <Application>Microsoft Office PowerPoint</Application>
  <PresentationFormat>Widescreen</PresentationFormat>
  <Paragraphs>77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SSIS issues solved</vt:lpstr>
      <vt:lpstr>SSIS issues solved</vt:lpstr>
      <vt:lpstr>SSAS issues solved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Coulibaly Oumar</dc:creator>
  <cp:lastModifiedBy>Coulibaly Oumar</cp:lastModifiedBy>
  <cp:revision>9</cp:revision>
  <dcterms:created xsi:type="dcterms:W3CDTF">2026-03-12T08:36:16Z</dcterms:created>
  <dcterms:modified xsi:type="dcterms:W3CDTF">2026-03-29T10:44:18Z</dcterms:modified>
</cp:coreProperties>
</file>