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D3AF0-07E4-6B65-E9EB-E501569D99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531AFA-624E-D713-ADE7-80FDD48F2C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A054F0-81E0-8D88-9924-82AF0D20F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BD4F2-A2DC-743A-0506-3A8009CC7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CB103-3AA2-2723-012C-F4226288F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51327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878D88-600C-6639-5B79-7E87A7DF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9DE3B-12EE-7CE1-36DB-83DA28BC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BEF0C-8886-79E6-1C7F-A3058219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273F07-77E7-C045-C9F1-B09DF108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FEB52-C615-C2E4-EA83-1EEAF0B8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746670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CDA30-F8AE-2708-2806-13F3502AE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A82D6-08D7-2155-5ECA-4D376ACCB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55F6B-84CE-4369-CFC8-2707A168D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0BFAE-D19E-6F8C-0C47-9E513BE6F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B46CFD-A5EB-5D59-0E66-09EA83601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265136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0E9CC-4C4E-3BB0-1E19-4561AC886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1AC67-7A7F-2D0D-D1B5-C25AF70EB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CBBFF9-B988-6D04-B532-D7DF65F73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D168A-61E1-A4A9-6009-A345E9972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2CB2C4-8D0F-B160-80D2-43C04B139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596BB-B384-5D77-F769-28D1410CE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41691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4A43-8996-A816-7E1B-EBF15EB9C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BD068A-7177-ED29-4ABE-6EB8F98F5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0C86E-1B00-FA12-AECB-83E2B94FB4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8920F1-DB3E-C0D0-5078-99B705F143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8EC559-F102-B779-BF56-3933D9FACD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56C79-9CFF-016D-175F-D7874D47B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F5029C-58F5-21B2-5DB8-D1B19471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23532A-F8CC-5540-EE3D-ADC0D26BA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218451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DA1F1-2DDE-DC09-F424-0F7C395B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302A6-4086-F198-0BB8-2D2A6CEE2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38C449-1F92-8AC2-EF0E-563577E4A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880EE9-FED6-DD91-6071-142A6DA5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425829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72A9C8-7406-CB7D-E9EB-5143F0C6F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73EE11-139D-DA7E-E526-9454B7D67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958872-55D2-BAF4-96C4-7888FAF18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1531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E51EA-C9EB-7E82-93F5-56ECF65A0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0E1AE-92BA-BB5A-0533-99141A5C6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8C0DB8-F656-FB61-E083-1DBD9E379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5F0B34-C664-9A82-468E-20F6A836C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7D539-2C63-38F5-960B-9535C668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658F7D-E9B6-49AF-FEB0-AACC660C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03134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414E-FDD6-7061-8E56-22028876C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425CEB-0C11-39F7-6DA8-7EDAF9FCA3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81C32-83F7-BA37-33AD-CC2296C74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7929C-EAA6-16B5-6FF8-08429168E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D60A6-E138-25A5-4A3E-01F7BBB47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0DF6D-C7A1-2398-1CB4-C5361E2D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8374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A9A4F-0FFD-6007-64A6-05BFC8B8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7732A4-C330-E196-1603-344FC16C4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79090-92B8-ECB9-B363-7F36DDC9D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C0101E-F654-9DDE-7D8D-3837D3DE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D02A4-30F2-88FB-D0CE-3587F0675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55078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42980A-4948-51CE-264E-D0F9DEC545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4A176-B49A-A54E-8D17-F685791CD7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CD35F6-60C2-9FF6-143A-4CB5050DE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0DC5-06F0-8C5D-7B5C-C1F674930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C865C-DB63-F9C0-2666-570BF0944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055096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DDF214-4666-2EE2-65FC-9A9AF0E5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1F401B-B53A-F765-FD24-049C3D7B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EDCBA-CAB9-902D-DB3E-C27868914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E4DB8A-29A5-4FBF-97C8-B8C47B89C476}" type="datetimeFigureOut">
              <a:rPr lang="en-BE" smtClean="0"/>
              <a:t>30/03/2026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BF058-61D4-71A4-68B1-855BD193BD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30442-780B-D863-F323-A468F39F4B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0680E8-C4E3-45BD-84F5-88A1AD7585A6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2129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al.azure.com/?l=en.en-us&amp;feature.msaljs=true#@laco.be/resource/subscriptions/fcdd535e-4076-4980-94f1-a87c80da22a3/resourceGroups/laco-oco-data-managmen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vww.youtube.com/watch?v=4uKRzDf0zIc&amp;t=274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hyperlink" Target="https://wvww.youtube.com/watch?v=4uKRzDf0zIc&amp;t=274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vww.youtube.com/watch?v=4uKRzDf0zIc&amp;t=274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hyperlink" Target="https://wvww.youtube.com/watch?v=4uKRzDf0zIc&amp;t=274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vww.youtube.com/watch?v=4uKRzDf0zIc&amp;t=274s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wvww.youtube.com/watch?v=4uKRzDf0zIc&amp;t=274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wvww.youtube.com/watch?v=4uKRzDf0zIc&amp;t=274s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hyperlink" Target="https://www.youtube.com/watch?v=IkBtdBjKFDQ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hyperlink" Target="https://www.youtube.com/watch?v=IkBtdBjKFDQ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www.udemy.com/course/azure-data-engineer-masterclass-the-complete-guide/learn/lecture/52021001#overview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hyperlink" Target="https://www.udemy.com/course/azure-data-engineer-masterclass-the-complete-guide/learn/lecture/52139183#overview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245A9-3BB7-BB0B-F216-074D6E4D2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4000" dirty="0" err="1"/>
              <a:t>Databriks</a:t>
            </a:r>
            <a:r>
              <a:rPr lang="en-GB" sz="4000" dirty="0"/>
              <a:t> set ups</a:t>
            </a:r>
            <a:endParaRPr lang="en-BE" sz="4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72C3ED-43EA-6CCC-9356-D9DF0D615F0A}"/>
              </a:ext>
            </a:extLst>
          </p:cNvPr>
          <p:cNvSpPr txBox="1"/>
          <p:nvPr/>
        </p:nvSpPr>
        <p:spPr>
          <a:xfrm>
            <a:off x="381001" y="863601"/>
            <a:ext cx="11565466" cy="3139321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900" dirty="0"/>
              <a:t>Resources p2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/>
              <a:t>Role management p27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/>
              <a:t>Resources  communication(connection)</a:t>
            </a:r>
          </a:p>
          <a:p>
            <a:pPr marL="228600" indent="-228600">
              <a:buFont typeface="+mj-lt"/>
              <a:buAutoNum type="arabicPeriod"/>
            </a:pPr>
            <a:r>
              <a:rPr lang="fr-BE" sz="900" dirty="0"/>
              <a:t>Project Resource group :l</a:t>
            </a:r>
            <a:r>
              <a:rPr lang="en-GB" sz="900" dirty="0" err="1">
                <a:hlinkClick r:id="rId2" tooltip="laco-oco-data-manag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aco</a:t>
            </a:r>
            <a:r>
              <a:rPr lang="en-GB" sz="900" dirty="0">
                <a:hlinkClick r:id="rId2" tooltip="laco-oco-data-manag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</a:t>
            </a:r>
            <a:r>
              <a:rPr lang="en-GB" sz="900" dirty="0" err="1">
                <a:hlinkClick r:id="rId2" tooltip="laco-oco-data-manag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oco</a:t>
            </a:r>
            <a:r>
              <a:rPr lang="en-GB" sz="900" dirty="0">
                <a:hlinkClick r:id="rId2" tooltip="laco-oco-data-manag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-data-management</a:t>
            </a:r>
            <a:endParaRPr lang="en-GB" sz="900" dirty="0"/>
          </a:p>
          <a:p>
            <a:pPr marL="228600" indent="-228600">
              <a:buFont typeface="+mj-lt"/>
              <a:buAutoNum type="arabicPeriod"/>
            </a:pPr>
            <a:r>
              <a:rPr lang="en-GB" sz="900" dirty="0" err="1"/>
              <a:t>Databriks</a:t>
            </a:r>
            <a:r>
              <a:rPr lang="en-GB" sz="900" dirty="0"/>
              <a:t> set ups 1 p2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GB" sz="900" dirty="0"/>
              <a:t>Resources (</a:t>
            </a:r>
            <a:r>
              <a:rPr lang="en-GB" sz="900" dirty="0" err="1"/>
              <a:t>ws</a:t>
            </a:r>
            <a:r>
              <a:rPr lang="en-GB" sz="900" dirty="0"/>
              <a:t> , connector ,</a:t>
            </a:r>
            <a:r>
              <a:rPr lang="en-GB" sz="900" dirty="0" err="1"/>
              <a:t>adls,kv</a:t>
            </a:r>
            <a:r>
              <a:rPr lang="en-GB" sz="900" dirty="0"/>
              <a:t>..)</a:t>
            </a:r>
          </a:p>
          <a:p>
            <a:pPr marL="685800" lvl="1" indent="-228600">
              <a:buFont typeface="+mj-lt"/>
              <a:buAutoNum type="arabicPeriod"/>
            </a:pPr>
            <a:r>
              <a:rPr lang="en-GB" sz="900" dirty="0"/>
              <a:t>Admin </a:t>
            </a:r>
            <a:r>
              <a:rPr lang="en-GB" sz="900" dirty="0" err="1"/>
              <a:t>porlal</a:t>
            </a:r>
            <a:r>
              <a:rPr lang="en-GB" sz="900" dirty="0"/>
              <a:t>( Access management)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 err="1"/>
              <a:t>Databriks</a:t>
            </a:r>
            <a:r>
              <a:rPr lang="en-GB" sz="900" dirty="0"/>
              <a:t> set ups 2  /</a:t>
            </a:r>
            <a:r>
              <a:rPr lang="en-GB" sz="900" dirty="0" err="1"/>
              <a:t>Metastore</a:t>
            </a:r>
            <a:r>
              <a:rPr lang="en-GB" sz="900" dirty="0"/>
              <a:t> p3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 err="1"/>
              <a:t>Databriks</a:t>
            </a:r>
            <a:r>
              <a:rPr lang="en-GB" sz="900" dirty="0"/>
              <a:t> set ups /</a:t>
            </a:r>
            <a:r>
              <a:rPr lang="en-GB" sz="900" dirty="0" err="1"/>
              <a:t>Catalog</a:t>
            </a:r>
            <a:r>
              <a:rPr lang="en-GB" sz="900" dirty="0"/>
              <a:t> p4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/>
              <a:t>Schema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/>
              <a:t>Ingestion capabilities p5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/>
              <a:t>Medallion architecture p6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/>
              <a:t>Ingest data from Azure </a:t>
            </a:r>
            <a:r>
              <a:rPr lang="en-GB" sz="900" dirty="0" err="1"/>
              <a:t>sql</a:t>
            </a:r>
            <a:r>
              <a:rPr lang="en-GB" sz="900" dirty="0"/>
              <a:t>  setup p7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/>
              <a:t>Ingest data from Azure </a:t>
            </a:r>
            <a:r>
              <a:rPr lang="en-GB" sz="900" dirty="0" err="1"/>
              <a:t>sql</a:t>
            </a:r>
            <a:r>
              <a:rPr lang="en-GB" sz="900" dirty="0"/>
              <a:t>  implementation using </a:t>
            </a:r>
            <a:r>
              <a:rPr lang="en-GB" sz="900" b="1" i="1" dirty="0" err="1"/>
              <a:t>lakeflow</a:t>
            </a:r>
            <a:r>
              <a:rPr lang="en-GB" sz="900" b="1" i="1" dirty="0"/>
              <a:t> connect </a:t>
            </a:r>
            <a:r>
              <a:rPr lang="en-GB" sz="900" dirty="0"/>
              <a:t>p7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/>
              <a:t>Prod , dev , test in </a:t>
            </a:r>
            <a:r>
              <a:rPr lang="en-GB" sz="900" dirty="0" err="1"/>
              <a:t>Databriks</a:t>
            </a:r>
            <a:r>
              <a:rPr lang="en-GB" sz="900" dirty="0"/>
              <a:t> hierarchy p8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900" dirty="0"/>
              <a:t>Federation in </a:t>
            </a:r>
            <a:r>
              <a:rPr lang="en-GB" sz="900" dirty="0" err="1"/>
              <a:t>Databriks</a:t>
            </a: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685800" lvl="1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pPr marL="228600" indent="-228600">
              <a:buFont typeface="+mj-lt"/>
              <a:buAutoNum type="arabicPeriod"/>
            </a:pPr>
            <a:endParaRPr lang="en-GB" sz="900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7206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19596-D930-6DE2-1182-27331CDA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F23B9-0DA4-01EA-2D01-B82A04543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4000" dirty="0" err="1"/>
              <a:t>Databriks</a:t>
            </a:r>
            <a:r>
              <a:rPr lang="en-GB" sz="4000" dirty="0"/>
              <a:t> set ups</a:t>
            </a:r>
            <a:endParaRPr lang="en-BE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1BF0A-C107-1E5B-8870-79A72027B5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67" y="956733"/>
            <a:ext cx="11929533" cy="5634037"/>
          </a:xfrm>
        </p:spPr>
        <p:txBody>
          <a:bodyPr>
            <a:normAutofit/>
          </a:bodyPr>
          <a:lstStyle/>
          <a:p>
            <a:pPr algn="l"/>
            <a:r>
              <a:rPr lang="en-GB" sz="1400" dirty="0"/>
              <a:t>To start you need </a:t>
            </a:r>
            <a:r>
              <a:rPr lang="en-GB" sz="1400" b="1" i="1" dirty="0"/>
              <a:t>a ADLS </a:t>
            </a:r>
            <a:r>
              <a:rPr lang="en-GB" sz="1400" dirty="0"/>
              <a:t>, a </a:t>
            </a:r>
            <a:r>
              <a:rPr lang="en-GB" sz="1400" b="1" i="1" dirty="0" err="1"/>
              <a:t>databriks</a:t>
            </a:r>
            <a:r>
              <a:rPr lang="en-GB" sz="1400" b="1" i="1" dirty="0"/>
              <a:t> WS </a:t>
            </a:r>
            <a:r>
              <a:rPr lang="en-GB" sz="1400" dirty="0"/>
              <a:t>, ADLS and </a:t>
            </a:r>
            <a:r>
              <a:rPr lang="en-GB" sz="1400" b="1" i="1" dirty="0" err="1"/>
              <a:t>Dbriks</a:t>
            </a:r>
            <a:r>
              <a:rPr lang="en-GB" sz="1400" b="1" i="1" dirty="0"/>
              <a:t> Connector</a:t>
            </a:r>
          </a:p>
          <a:p>
            <a:pPr algn="l"/>
            <a:r>
              <a:rPr lang="en-GB" sz="1400" i="1" dirty="0">
                <a:hlinkClick r:id="rId2"/>
              </a:rPr>
              <a:t>https://wvww.youtube.com/watch?v=4uKRzDf0zIc&amp;t=274s</a:t>
            </a:r>
            <a:r>
              <a:rPr lang="en-GB" sz="1400" i="1" dirty="0"/>
              <a:t> </a:t>
            </a:r>
            <a:r>
              <a:rPr lang="en-GB" sz="1200" dirty="0"/>
              <a:t>(45</a:t>
            </a:r>
            <a:r>
              <a:rPr lang="en-GB" sz="1200" baseline="30000" dirty="0"/>
              <a:t>th</a:t>
            </a:r>
            <a:r>
              <a:rPr lang="en-GB" sz="1200" dirty="0"/>
              <a:t> min)</a:t>
            </a:r>
            <a:endParaRPr lang="en-BE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24BAD8-9729-AB16-298F-DD1EEA770653}"/>
              </a:ext>
            </a:extLst>
          </p:cNvPr>
          <p:cNvSpPr txBox="1"/>
          <p:nvPr/>
        </p:nvSpPr>
        <p:spPr>
          <a:xfrm>
            <a:off x="186267" y="3136212"/>
            <a:ext cx="10899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 dirty="0"/>
              <a:t>When you go to the accounts.azuredatabriks.net you land to the following page </a:t>
            </a:r>
            <a:r>
              <a:rPr lang="en-GB" sz="1000" b="1" i="1" dirty="0">
                <a:solidFill>
                  <a:srgbClr val="FF0000"/>
                </a:solidFill>
              </a:rPr>
              <a:t>(Account console </a:t>
            </a:r>
            <a:r>
              <a:rPr lang="en-GB" sz="1000" b="1" i="1" dirty="0" err="1">
                <a:solidFill>
                  <a:srgbClr val="FF0000"/>
                </a:solidFill>
              </a:rPr>
              <a:t>databriks</a:t>
            </a:r>
            <a:r>
              <a:rPr lang="en-GB" sz="1000" b="1" i="1" dirty="0">
                <a:solidFill>
                  <a:srgbClr val="FF0000"/>
                </a:solidFill>
              </a:rPr>
              <a:t>) </a:t>
            </a:r>
            <a:r>
              <a:rPr lang="en-GB" sz="1000" dirty="0"/>
              <a:t>, if you are an admin you will be able to see all the content , if not you will send back to the workspace (see video 53th min) </a:t>
            </a:r>
            <a:endParaRPr lang="en-BE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5F25A7-C99C-4062-3972-B7C726508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3536322"/>
            <a:ext cx="3630999" cy="263154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BCB866-2DBD-64CE-048B-7E567B62F9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3346" y="3550252"/>
            <a:ext cx="4153338" cy="16224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87F1935-ABC2-21F7-D26F-4E9DD27A9B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235" y="4731932"/>
            <a:ext cx="2516386" cy="18588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FC04E0D-39FE-59A3-7608-68335E391FB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548607"/>
            <a:ext cx="6957663" cy="138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36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4939A-B2CB-7B0F-2A38-600498F09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3553-3C01-761A-732B-212FF3C924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4000" dirty="0" err="1"/>
              <a:t>Databriks</a:t>
            </a:r>
            <a:r>
              <a:rPr lang="en-GB" sz="4000" dirty="0"/>
              <a:t> set ups / </a:t>
            </a:r>
            <a:r>
              <a:rPr lang="en-GB" sz="4000" dirty="0" err="1"/>
              <a:t>Metastore</a:t>
            </a:r>
            <a:endParaRPr lang="en-BE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2F94E-F155-0E99-3B8B-222F5654C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67" y="956733"/>
            <a:ext cx="11929533" cy="5634037"/>
          </a:xfrm>
        </p:spPr>
        <p:txBody>
          <a:bodyPr>
            <a:normAutofit/>
          </a:bodyPr>
          <a:lstStyle/>
          <a:p>
            <a:pPr algn="l"/>
            <a:r>
              <a:rPr lang="en-GB" sz="1400" dirty="0"/>
              <a:t>Don’t forget to  create the </a:t>
            </a:r>
            <a:r>
              <a:rPr lang="en-GB" sz="1400" b="1" i="1" dirty="0" err="1"/>
              <a:t>metastore</a:t>
            </a:r>
            <a:r>
              <a:rPr lang="en-GB" sz="1400" dirty="0"/>
              <a:t> and assign you </a:t>
            </a:r>
            <a:r>
              <a:rPr lang="en-GB" sz="1400" dirty="0" err="1"/>
              <a:t>Worpce</a:t>
            </a:r>
            <a:r>
              <a:rPr lang="en-GB" sz="1400" dirty="0"/>
              <a:t> into that MS. That will make you </a:t>
            </a:r>
            <a:r>
              <a:rPr lang="en-GB" sz="1400" dirty="0" err="1"/>
              <a:t>ws</a:t>
            </a:r>
            <a:r>
              <a:rPr lang="en-GB" sz="1400" dirty="0"/>
              <a:t> available for other </a:t>
            </a:r>
            <a:r>
              <a:rPr lang="en-GB" sz="1400" dirty="0" err="1"/>
              <a:t>Metastore</a:t>
            </a:r>
            <a:r>
              <a:rPr lang="en-GB" sz="1400" dirty="0"/>
              <a:t> if you want. This can be done only op the admin portal of </a:t>
            </a:r>
            <a:r>
              <a:rPr lang="en-GB" sz="1400" dirty="0" err="1"/>
              <a:t>Databriks</a:t>
            </a:r>
            <a:r>
              <a:rPr lang="en-GB" sz="1400" dirty="0"/>
              <a:t> (consol portal). </a:t>
            </a:r>
            <a:endParaRPr lang="en-GB" sz="1400" b="1" i="1" dirty="0"/>
          </a:p>
          <a:p>
            <a:pPr algn="l"/>
            <a:r>
              <a:rPr lang="en-GB" sz="1400" i="1" dirty="0">
                <a:hlinkClick r:id="rId2"/>
              </a:rPr>
              <a:t>https://wvww.youtube.com/watch?v=4uKRzDf0zIc&amp;t=274s</a:t>
            </a:r>
            <a:r>
              <a:rPr lang="en-GB" sz="1400" i="1" dirty="0"/>
              <a:t> </a:t>
            </a:r>
            <a:r>
              <a:rPr lang="en-GB" sz="1200" dirty="0"/>
              <a:t>( from 1:00 MIN)</a:t>
            </a:r>
            <a:endParaRPr lang="en-BE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2537B2-15C6-F903-4C4B-11AA76DF90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9613" y="1427754"/>
            <a:ext cx="3251120" cy="153603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E27A24-9580-5E2D-3980-30828483C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67" y="1765014"/>
            <a:ext cx="6392333" cy="144837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FEBD27D-D84D-03F9-403A-7CD091310B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267" y="3306519"/>
            <a:ext cx="3937404" cy="32842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798E9B-2ACB-4249-37CE-E5F704F25471}"/>
              </a:ext>
            </a:extLst>
          </p:cNvPr>
          <p:cNvSpPr txBox="1"/>
          <p:nvPr/>
        </p:nvSpPr>
        <p:spPr>
          <a:xfrm>
            <a:off x="3458755" y="3367616"/>
            <a:ext cx="37333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i="1" dirty="0">
                <a:solidFill>
                  <a:srgbClr val="FF0000"/>
                </a:solidFill>
              </a:rPr>
              <a:t>You </a:t>
            </a:r>
            <a:r>
              <a:rPr lang="fr-BE" sz="1100" i="1" dirty="0" err="1">
                <a:solidFill>
                  <a:srgbClr val="FF0000"/>
                </a:solidFill>
              </a:rPr>
              <a:t>will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need</a:t>
            </a:r>
            <a:r>
              <a:rPr lang="fr-BE" sz="1100" i="1" dirty="0">
                <a:solidFill>
                  <a:srgbClr val="FF0000"/>
                </a:solidFill>
              </a:rPr>
              <a:t> to </a:t>
            </a:r>
            <a:r>
              <a:rPr lang="fr-BE" sz="1100" i="1" dirty="0" err="1">
                <a:solidFill>
                  <a:srgbClr val="FF0000"/>
                </a:solidFill>
              </a:rPr>
              <a:t>specify</a:t>
            </a:r>
            <a:r>
              <a:rPr lang="fr-BE" sz="1100" i="1" dirty="0">
                <a:solidFill>
                  <a:srgbClr val="FF0000"/>
                </a:solidFill>
              </a:rPr>
              <a:t> a </a:t>
            </a:r>
            <a:r>
              <a:rPr lang="fr-BE" sz="1100" b="1" i="1" dirty="0" err="1">
                <a:solidFill>
                  <a:srgbClr val="FF0000"/>
                </a:solidFill>
              </a:rPr>
              <a:t>adls</a:t>
            </a:r>
            <a:r>
              <a:rPr lang="fr-BE" sz="1100" b="1" i="1" dirty="0">
                <a:solidFill>
                  <a:srgbClr val="FF0000"/>
                </a:solidFill>
              </a:rPr>
              <a:t> gen2 </a:t>
            </a:r>
            <a:r>
              <a:rPr lang="fr-BE" sz="1100" i="1" dirty="0">
                <a:solidFill>
                  <a:srgbClr val="FF0000"/>
                </a:solidFill>
              </a:rPr>
              <a:t>location </a:t>
            </a:r>
            <a:r>
              <a:rPr lang="fr-BE" sz="1100" i="1" dirty="0" err="1">
                <a:solidFill>
                  <a:srgbClr val="FF0000"/>
                </a:solidFill>
              </a:rPr>
              <a:t>where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databriks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will</a:t>
            </a:r>
            <a:r>
              <a:rPr lang="fr-BE" sz="1100" i="1" dirty="0">
                <a:solidFill>
                  <a:srgbClr val="FF0000"/>
                </a:solidFill>
              </a:rPr>
              <a:t> store </a:t>
            </a:r>
            <a:r>
              <a:rPr lang="fr-BE" sz="1100" i="1" dirty="0" err="1">
                <a:solidFill>
                  <a:srgbClr val="FF0000"/>
                </a:solidFill>
              </a:rPr>
              <a:t>your</a:t>
            </a:r>
            <a:r>
              <a:rPr lang="fr-BE" sz="1100" i="1" dirty="0">
                <a:solidFill>
                  <a:srgbClr val="FF0000"/>
                </a:solidFill>
              </a:rPr>
              <a:t> data. </a:t>
            </a:r>
          </a:p>
          <a:p>
            <a:endParaRPr lang="fr-BE" sz="1100" i="1" dirty="0">
              <a:solidFill>
                <a:srgbClr val="FF0000"/>
              </a:solidFill>
            </a:endParaRPr>
          </a:p>
          <a:p>
            <a:r>
              <a:rPr lang="fr-BE" sz="1100" i="1" dirty="0" err="1">
                <a:solidFill>
                  <a:srgbClr val="FF0000"/>
                </a:solidFill>
              </a:rPr>
              <a:t>When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this</a:t>
            </a:r>
            <a:r>
              <a:rPr lang="fr-BE" sz="1100" i="1" dirty="0">
                <a:solidFill>
                  <a:srgbClr val="FF0000"/>
                </a:solidFill>
              </a:rPr>
              <a:t> location </a:t>
            </a:r>
            <a:r>
              <a:rPr lang="fr-BE" sz="1100" i="1" dirty="0" err="1">
                <a:solidFill>
                  <a:srgbClr val="FF0000"/>
                </a:solidFill>
              </a:rPr>
              <a:t>will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be</a:t>
            </a:r>
            <a:r>
              <a:rPr lang="fr-BE" sz="1100" i="1" dirty="0">
                <a:solidFill>
                  <a:srgbClr val="FF0000"/>
                </a:solidFill>
              </a:rPr>
              <a:t>  </a:t>
            </a:r>
            <a:r>
              <a:rPr lang="fr-BE" sz="1100" i="1" dirty="0" err="1">
                <a:solidFill>
                  <a:srgbClr val="FF0000"/>
                </a:solidFill>
              </a:rPr>
              <a:t>create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please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b="1" i="1" dirty="0" err="1">
                <a:solidFill>
                  <a:srgbClr val="FF0000"/>
                </a:solidFill>
              </a:rPr>
              <a:t>grant</a:t>
            </a:r>
            <a:r>
              <a:rPr lang="fr-BE" sz="1100" b="1" i="1" dirty="0">
                <a:solidFill>
                  <a:srgbClr val="FF0000"/>
                </a:solidFill>
              </a:rPr>
              <a:t> </a:t>
            </a:r>
            <a:r>
              <a:rPr lang="fr-BE" sz="1100" b="1" i="1" dirty="0" err="1">
                <a:solidFill>
                  <a:srgbClr val="FF0000"/>
                </a:solidFill>
              </a:rPr>
              <a:t>access</a:t>
            </a:r>
            <a:r>
              <a:rPr lang="fr-BE" sz="1100" b="1" i="1" dirty="0">
                <a:solidFill>
                  <a:srgbClr val="FF0000"/>
                </a:solidFill>
              </a:rPr>
              <a:t> to the </a:t>
            </a:r>
            <a:r>
              <a:rPr lang="fr-BE" sz="1100" b="1" i="1" dirty="0" err="1">
                <a:solidFill>
                  <a:srgbClr val="FF0000"/>
                </a:solidFill>
              </a:rPr>
              <a:t>Databriks</a:t>
            </a:r>
            <a:r>
              <a:rPr lang="fr-BE" sz="1100" b="1" i="1" dirty="0">
                <a:solidFill>
                  <a:srgbClr val="FF0000"/>
                </a:solidFill>
              </a:rPr>
              <a:t> </a:t>
            </a:r>
            <a:r>
              <a:rPr lang="fr-BE" sz="1100" b="1" i="1" dirty="0" err="1">
                <a:solidFill>
                  <a:srgbClr val="FF0000"/>
                </a:solidFill>
              </a:rPr>
              <a:t>connector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we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created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previously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endParaRPr lang="en-BE" sz="1100" i="1" dirty="0">
              <a:solidFill>
                <a:srgbClr val="FF000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C7B76DF-680C-3D67-6A36-280B6F43DC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5128" y="5681025"/>
            <a:ext cx="3580326" cy="77281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14ADB36-0EE1-B6D3-DE2C-3764ECACD6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3671" y="4852378"/>
            <a:ext cx="5082980" cy="192040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B997FE8-E41D-263A-2F73-6EEBAF2E7EC5}"/>
              </a:ext>
            </a:extLst>
          </p:cNvPr>
          <p:cNvSpPr txBox="1"/>
          <p:nvPr/>
        </p:nvSpPr>
        <p:spPr>
          <a:xfrm>
            <a:off x="5325454" y="5015589"/>
            <a:ext cx="46378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dirty="0">
                <a:solidFill>
                  <a:srgbClr val="FF0000"/>
                </a:solidFill>
              </a:rPr>
              <a:t>Copy the url of the </a:t>
            </a:r>
            <a:r>
              <a:rPr lang="fr-BE" sz="1100" dirty="0" err="1">
                <a:solidFill>
                  <a:srgbClr val="FF0000"/>
                </a:solidFill>
              </a:rPr>
              <a:t>connector</a:t>
            </a:r>
            <a:r>
              <a:rPr lang="fr-BE" sz="1100" dirty="0">
                <a:solidFill>
                  <a:srgbClr val="FF0000"/>
                </a:solidFill>
              </a:rPr>
              <a:t> and </a:t>
            </a:r>
            <a:r>
              <a:rPr lang="fr-BE" sz="1100" dirty="0" err="1">
                <a:solidFill>
                  <a:srgbClr val="FF0000"/>
                </a:solidFill>
              </a:rPr>
              <a:t>past</a:t>
            </a:r>
            <a:r>
              <a:rPr lang="fr-BE" sz="1100" dirty="0">
                <a:solidFill>
                  <a:srgbClr val="FF0000"/>
                </a:solidFill>
              </a:rPr>
              <a:t> </a:t>
            </a:r>
            <a:r>
              <a:rPr lang="fr-BE" sz="1100" dirty="0" err="1">
                <a:solidFill>
                  <a:srgbClr val="FF0000"/>
                </a:solidFill>
              </a:rPr>
              <a:t>here</a:t>
            </a:r>
            <a:r>
              <a:rPr lang="fr-BE" sz="1100" dirty="0">
                <a:solidFill>
                  <a:srgbClr val="FF0000"/>
                </a:solidFill>
              </a:rPr>
              <a:t> and </a:t>
            </a:r>
            <a:r>
              <a:rPr lang="fr-BE" sz="1100" dirty="0" err="1">
                <a:solidFill>
                  <a:srgbClr val="FF0000"/>
                </a:solidFill>
              </a:rPr>
              <a:t>create</a:t>
            </a:r>
            <a:r>
              <a:rPr lang="fr-BE" sz="11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18F3E7D8-916C-82F2-0A93-22DA0BE5D7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4281" y="3160149"/>
            <a:ext cx="3317396" cy="184922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C5669CF-831D-4A28-DE78-988A23A59C03}"/>
              </a:ext>
            </a:extLst>
          </p:cNvPr>
          <p:cNvSpPr txBox="1"/>
          <p:nvPr/>
        </p:nvSpPr>
        <p:spPr>
          <a:xfrm>
            <a:off x="9963295" y="3213386"/>
            <a:ext cx="180347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dirty="0" err="1">
                <a:solidFill>
                  <a:srgbClr val="FF0000"/>
                </a:solidFill>
              </a:rPr>
              <a:t>Assign</a:t>
            </a:r>
            <a:r>
              <a:rPr lang="fr-BE" sz="1100" dirty="0">
                <a:solidFill>
                  <a:srgbClr val="FF0000"/>
                </a:solidFill>
              </a:rPr>
              <a:t> and </a:t>
            </a:r>
            <a:r>
              <a:rPr lang="fr-BE" sz="1100" dirty="0" err="1">
                <a:solidFill>
                  <a:srgbClr val="FF0000"/>
                </a:solidFill>
              </a:rPr>
              <a:t>done</a:t>
            </a:r>
            <a:endParaRPr lang="fr-BE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12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36A87-111D-863F-0683-912B55C53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2FF88-0CC7-DF64-3C1D-300F49111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4000" dirty="0" err="1"/>
              <a:t>Databriks</a:t>
            </a:r>
            <a:r>
              <a:rPr lang="en-GB" sz="4000" dirty="0"/>
              <a:t> set ups / </a:t>
            </a:r>
            <a:r>
              <a:rPr lang="en-GB" sz="4000" dirty="0" err="1"/>
              <a:t>Catalog</a:t>
            </a:r>
            <a:endParaRPr lang="en-BE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9C4D27-A626-B8E0-C7D4-C8E582A0C5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67" y="956733"/>
            <a:ext cx="11929533" cy="5634037"/>
          </a:xfrm>
        </p:spPr>
        <p:txBody>
          <a:bodyPr>
            <a:normAutofit/>
          </a:bodyPr>
          <a:lstStyle/>
          <a:p>
            <a:pPr algn="l"/>
            <a:r>
              <a:rPr lang="en-GB" sz="1400" dirty="0"/>
              <a:t>When </a:t>
            </a:r>
            <a:r>
              <a:rPr lang="en-GB" sz="1400" dirty="0" err="1"/>
              <a:t>metasotre</a:t>
            </a:r>
            <a:r>
              <a:rPr lang="en-GB" sz="1400" dirty="0"/>
              <a:t> is created. Now it’s time to create 1 or more </a:t>
            </a:r>
            <a:r>
              <a:rPr lang="en-GB" sz="1400" dirty="0" err="1"/>
              <a:t>catalogs</a:t>
            </a:r>
            <a:r>
              <a:rPr lang="en-GB" sz="1400" dirty="0"/>
              <a:t>. </a:t>
            </a:r>
            <a:r>
              <a:rPr lang="en-GB" sz="1400" dirty="0" err="1"/>
              <a:t>Catalog</a:t>
            </a:r>
            <a:r>
              <a:rPr lang="en-GB" sz="1400" dirty="0"/>
              <a:t> is like a server in SQL or a </a:t>
            </a:r>
            <a:r>
              <a:rPr lang="en-GB" sz="1400" dirty="0" err="1"/>
              <a:t>contenair</a:t>
            </a:r>
            <a:r>
              <a:rPr lang="en-GB" sz="1400" dirty="0"/>
              <a:t> when all schema will be created. </a:t>
            </a:r>
          </a:p>
          <a:p>
            <a:pPr algn="l"/>
            <a:r>
              <a:rPr lang="en-GB" sz="1400" dirty="0" err="1"/>
              <a:t>Metastore</a:t>
            </a:r>
            <a:r>
              <a:rPr lang="en-GB" sz="1400" dirty="0"/>
              <a:t>/</a:t>
            </a:r>
            <a:r>
              <a:rPr lang="en-GB" sz="1400" dirty="0" err="1"/>
              <a:t>Catalog</a:t>
            </a:r>
            <a:r>
              <a:rPr lang="en-GB" sz="1400" dirty="0"/>
              <a:t>/schema/</a:t>
            </a:r>
            <a:r>
              <a:rPr lang="en-GB" sz="1400" dirty="0" err="1"/>
              <a:t>tables|views|volume|functions</a:t>
            </a:r>
            <a:r>
              <a:rPr lang="en-GB" sz="1400" dirty="0"/>
              <a:t> </a:t>
            </a:r>
            <a:endParaRPr lang="en-GB" sz="1400" b="1" i="1" dirty="0"/>
          </a:p>
          <a:p>
            <a:pPr algn="l"/>
            <a:r>
              <a:rPr lang="en-GB" sz="1200" i="1" dirty="0">
                <a:hlinkClick r:id="rId2"/>
              </a:rPr>
              <a:t>https://wvww.youtube.com/watch?v=4uKRzDf0zIc&amp;t=274s</a:t>
            </a:r>
            <a:r>
              <a:rPr lang="en-GB" sz="1200" i="1" dirty="0"/>
              <a:t> </a:t>
            </a:r>
            <a:r>
              <a:rPr lang="en-GB" sz="1100" i="1" dirty="0"/>
              <a:t>( from 1:05 </a:t>
            </a:r>
            <a:r>
              <a:rPr lang="en-GB" sz="1100" i="1" dirty="0" err="1"/>
              <a:t>th</a:t>
            </a:r>
            <a:r>
              <a:rPr lang="en-GB" sz="1100" i="1" dirty="0"/>
              <a:t> MIN)</a:t>
            </a:r>
            <a:endParaRPr lang="en-BE" sz="12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02D1F0-2F84-8F02-0029-7D371ABACD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4879" y="1237799"/>
            <a:ext cx="3251120" cy="153603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1D67DE-ACF6-B686-4E06-D9FED56C2F50}"/>
              </a:ext>
            </a:extLst>
          </p:cNvPr>
          <p:cNvSpPr txBox="1"/>
          <p:nvPr/>
        </p:nvSpPr>
        <p:spPr>
          <a:xfrm>
            <a:off x="186267" y="1819923"/>
            <a:ext cx="13627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i="1" dirty="0" err="1">
                <a:solidFill>
                  <a:srgbClr val="FF0000"/>
                </a:solidFill>
              </a:rPr>
              <a:t>Create</a:t>
            </a:r>
            <a:r>
              <a:rPr lang="fr-BE" sz="1100" i="1" dirty="0">
                <a:solidFill>
                  <a:srgbClr val="FF0000"/>
                </a:solidFill>
              </a:rPr>
              <a:t> a </a:t>
            </a:r>
            <a:r>
              <a:rPr lang="fr-BE" sz="1100" i="1" dirty="0" err="1">
                <a:solidFill>
                  <a:srgbClr val="FF0000"/>
                </a:solidFill>
              </a:rPr>
              <a:t>catalog</a:t>
            </a:r>
            <a:endParaRPr lang="en-BE" sz="1100" i="1" dirty="0">
              <a:solidFill>
                <a:srgbClr val="FF000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6AB8B4-34A2-283F-1CB0-C1B84CBDF0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267" y="2043861"/>
            <a:ext cx="4252328" cy="17298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CAA951-5906-4977-4516-D9DCFBB960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6267" y="4088226"/>
            <a:ext cx="4252329" cy="15453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B900350-F37B-C151-0109-530506DECAF0}"/>
              </a:ext>
            </a:extLst>
          </p:cNvPr>
          <p:cNvSpPr txBox="1"/>
          <p:nvPr/>
        </p:nvSpPr>
        <p:spPr>
          <a:xfrm>
            <a:off x="109665" y="3866884"/>
            <a:ext cx="48010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i="1" dirty="0">
                <a:solidFill>
                  <a:srgbClr val="FF0000"/>
                </a:solidFill>
              </a:rPr>
              <a:t>Manage </a:t>
            </a:r>
            <a:r>
              <a:rPr lang="fr-BE" sz="1100" i="1" dirty="0" err="1">
                <a:solidFill>
                  <a:srgbClr val="FF0000"/>
                </a:solidFill>
              </a:rPr>
              <a:t>access</a:t>
            </a:r>
            <a:r>
              <a:rPr lang="fr-BE" sz="1100" i="1" dirty="0">
                <a:solidFill>
                  <a:srgbClr val="FF0000"/>
                </a:solidFill>
              </a:rPr>
              <a:t> to the </a:t>
            </a:r>
            <a:r>
              <a:rPr lang="fr-BE" sz="1100" i="1" dirty="0" err="1">
                <a:solidFill>
                  <a:srgbClr val="FF0000"/>
                </a:solidFill>
              </a:rPr>
              <a:t>catalog</a:t>
            </a:r>
            <a:r>
              <a:rPr lang="fr-BE" sz="1100" i="1" dirty="0">
                <a:solidFill>
                  <a:srgbClr val="FF0000"/>
                </a:solidFill>
              </a:rPr>
              <a:t> , </a:t>
            </a:r>
            <a:r>
              <a:rPr lang="fr-BE" sz="1100" i="1" dirty="0" err="1">
                <a:solidFill>
                  <a:srgbClr val="FF0000"/>
                </a:solidFill>
              </a:rPr>
              <a:t>browse</a:t>
            </a:r>
            <a:r>
              <a:rPr lang="fr-BE" sz="1100" i="1" dirty="0">
                <a:solidFill>
                  <a:srgbClr val="FF0000"/>
                </a:solidFill>
              </a:rPr>
              <a:t> = </a:t>
            </a:r>
            <a:r>
              <a:rPr lang="fr-BE" sz="1100" i="1" dirty="0" err="1">
                <a:solidFill>
                  <a:srgbClr val="FF0000"/>
                </a:solidFill>
              </a:rPr>
              <a:t>readOnly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access</a:t>
            </a:r>
            <a:endParaRPr lang="en-BE" sz="1100" i="1" dirty="0">
              <a:solidFill>
                <a:srgbClr val="FF000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F82E636-B752-01B6-372B-EEE6F65C9F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666" y="3226756"/>
            <a:ext cx="2758679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23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51A40-FC60-2F89-B9DB-5FB084F9D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16DB2-EF58-7C6E-82B1-139F49F4B9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3600" dirty="0" err="1"/>
              <a:t>Databriks</a:t>
            </a:r>
            <a:r>
              <a:rPr lang="en-GB" sz="3600" dirty="0"/>
              <a:t> set ups / External data</a:t>
            </a:r>
            <a:endParaRPr lang="en-BE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CE72E-B56B-F022-A4EC-317F2F8BC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67" y="762001"/>
            <a:ext cx="11929533" cy="5828770"/>
          </a:xfrm>
        </p:spPr>
        <p:txBody>
          <a:bodyPr>
            <a:normAutofit/>
          </a:bodyPr>
          <a:lstStyle/>
          <a:p>
            <a:pPr algn="l"/>
            <a:r>
              <a:rPr lang="en-GB" sz="1200" i="1" dirty="0"/>
              <a:t>When the </a:t>
            </a:r>
            <a:r>
              <a:rPr lang="en-GB" sz="1200" i="1" dirty="0" err="1"/>
              <a:t>catalog</a:t>
            </a:r>
            <a:r>
              <a:rPr lang="en-GB" sz="1200" i="1" dirty="0"/>
              <a:t> is ready , now it’s time to configure some </a:t>
            </a:r>
            <a:r>
              <a:rPr lang="en-GB" sz="1200" b="1" i="1" dirty="0"/>
              <a:t>external location </a:t>
            </a:r>
            <a:r>
              <a:rPr lang="en-GB" sz="1200" i="1" dirty="0"/>
              <a:t>(where data will be read and write for processing). And this different from the location you create for the </a:t>
            </a:r>
            <a:r>
              <a:rPr lang="en-GB" sz="1200" i="1" dirty="0" err="1"/>
              <a:t>metastore</a:t>
            </a:r>
            <a:r>
              <a:rPr lang="en-GB" sz="1200" i="1" dirty="0"/>
              <a:t> (that one remain always the same) the external location can change depending on the project.</a:t>
            </a:r>
          </a:p>
          <a:p>
            <a:pPr algn="l"/>
            <a:r>
              <a:rPr lang="en-GB" sz="1200" i="1" dirty="0">
                <a:hlinkClick r:id="rId2"/>
              </a:rPr>
              <a:t>https://wvww.youtube.com/watch?v=4uKRzDf0zIc&amp;t=274s</a:t>
            </a:r>
            <a:r>
              <a:rPr lang="en-GB" sz="1200" i="1" dirty="0"/>
              <a:t> </a:t>
            </a:r>
            <a:r>
              <a:rPr lang="en-GB" sz="1100" i="1" dirty="0"/>
              <a:t>( from 1:09 </a:t>
            </a:r>
            <a:r>
              <a:rPr lang="en-GB" sz="1100" i="1" dirty="0" err="1"/>
              <a:t>th</a:t>
            </a:r>
            <a:r>
              <a:rPr lang="en-GB" sz="1100" i="1" dirty="0"/>
              <a:t> MIN)</a:t>
            </a:r>
            <a:endParaRPr lang="en-BE" sz="1200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F5B4CD-25D2-3D4D-AC14-ED018253CE74}"/>
              </a:ext>
            </a:extLst>
          </p:cNvPr>
          <p:cNvSpPr txBox="1"/>
          <p:nvPr/>
        </p:nvSpPr>
        <p:spPr>
          <a:xfrm>
            <a:off x="76199" y="2987911"/>
            <a:ext cx="174413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i="1" dirty="0" err="1"/>
              <a:t>Clicking</a:t>
            </a:r>
            <a:r>
              <a:rPr lang="fr-BE" sz="1100" i="1" dirty="0"/>
              <a:t> on the external data , </a:t>
            </a:r>
            <a:r>
              <a:rPr lang="fr-BE" sz="1100" i="1" dirty="0" err="1"/>
              <a:t>you</a:t>
            </a:r>
            <a:r>
              <a:rPr lang="fr-BE" sz="1100" i="1" dirty="0"/>
              <a:t> </a:t>
            </a:r>
            <a:r>
              <a:rPr lang="fr-BE" sz="1100" i="1" dirty="0" err="1"/>
              <a:t>will</a:t>
            </a:r>
            <a:r>
              <a:rPr lang="fr-BE" sz="1100" i="1" dirty="0"/>
              <a:t>  </a:t>
            </a:r>
            <a:r>
              <a:rPr lang="fr-BE" sz="1100" i="1" dirty="0" err="1"/>
              <a:t>be</a:t>
            </a:r>
            <a:r>
              <a:rPr lang="fr-BE" sz="1100" i="1" dirty="0"/>
              <a:t> </a:t>
            </a:r>
            <a:r>
              <a:rPr lang="fr-BE" sz="1100" i="1" dirty="0" err="1"/>
              <a:t>asked</a:t>
            </a:r>
            <a:r>
              <a:rPr lang="fr-BE" sz="1100" i="1" dirty="0"/>
              <a:t> to </a:t>
            </a:r>
            <a:r>
              <a:rPr lang="fr-BE" sz="1100" i="1" dirty="0" err="1"/>
              <a:t>create</a:t>
            </a:r>
            <a:r>
              <a:rPr lang="fr-BE" sz="1100" i="1" dirty="0"/>
              <a:t> a </a:t>
            </a:r>
            <a:r>
              <a:rPr lang="fr-BE" sz="1100" i="1" dirty="0" err="1"/>
              <a:t>credential</a:t>
            </a:r>
            <a:r>
              <a:rPr lang="fr-BE" sz="1100" i="1" dirty="0"/>
              <a:t> . </a:t>
            </a:r>
            <a:r>
              <a:rPr lang="fr-BE" sz="1100" b="1" i="1" dirty="0">
                <a:solidFill>
                  <a:srgbClr val="FF0000"/>
                </a:solidFill>
              </a:rPr>
              <a:t>As </a:t>
            </a:r>
            <a:r>
              <a:rPr lang="fr-BE" sz="1100" b="1" i="1" dirty="0" err="1">
                <a:solidFill>
                  <a:srgbClr val="FF0000"/>
                </a:solidFill>
              </a:rPr>
              <a:t>connector</a:t>
            </a:r>
            <a:r>
              <a:rPr lang="fr-BE" sz="1100" b="1" i="1" dirty="0">
                <a:solidFill>
                  <a:srgbClr val="FF0000"/>
                </a:solidFill>
              </a:rPr>
              <a:t> Id paste the url of </a:t>
            </a:r>
            <a:r>
              <a:rPr lang="fr-BE" sz="1100" b="1" i="1" dirty="0" err="1">
                <a:solidFill>
                  <a:srgbClr val="FF0000"/>
                </a:solidFill>
              </a:rPr>
              <a:t>you</a:t>
            </a:r>
            <a:r>
              <a:rPr lang="fr-BE" sz="1100" b="1" i="1" dirty="0">
                <a:solidFill>
                  <a:srgbClr val="FF0000"/>
                </a:solidFill>
              </a:rPr>
              <a:t> </a:t>
            </a:r>
            <a:r>
              <a:rPr lang="fr-BE" sz="1100" b="1" i="1" dirty="0" err="1">
                <a:solidFill>
                  <a:srgbClr val="FF0000"/>
                </a:solidFill>
              </a:rPr>
              <a:t>connector</a:t>
            </a:r>
            <a:r>
              <a:rPr lang="fr-BE" sz="1100" b="1" i="1" dirty="0">
                <a:solidFill>
                  <a:srgbClr val="FF0000"/>
                </a:solidFill>
              </a:rPr>
              <a:t> </a:t>
            </a:r>
          </a:p>
          <a:p>
            <a:endParaRPr lang="fr-BE" sz="1100" b="1" i="1" dirty="0">
              <a:solidFill>
                <a:srgbClr val="FF0000"/>
              </a:solidFill>
            </a:endParaRPr>
          </a:p>
          <a:p>
            <a:endParaRPr lang="fr-BE" sz="1100" b="1" i="1" dirty="0">
              <a:solidFill>
                <a:srgbClr val="FF0000"/>
              </a:solidFill>
            </a:endParaRPr>
          </a:p>
          <a:p>
            <a:endParaRPr lang="fr-BE" sz="1100" b="1" i="1" dirty="0">
              <a:solidFill>
                <a:srgbClr val="FF0000"/>
              </a:solidFill>
            </a:endParaRPr>
          </a:p>
          <a:p>
            <a:endParaRPr lang="en-BE" sz="1100" b="1" i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82244-D56B-B5FE-C143-D621502765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7" y="1751333"/>
            <a:ext cx="8893311" cy="96782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D6D2C7F-B8EE-D4C4-2E69-C70496EEA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58" y="4043769"/>
            <a:ext cx="3660007" cy="199749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ECD945-307F-AFBD-CF10-5889088072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43510" y="2762210"/>
            <a:ext cx="4578823" cy="21049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98613F-2B03-F115-D146-9A3ED9C1CF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1900" y="2486571"/>
            <a:ext cx="3043142" cy="15034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712B7CA-2526-1B6E-B5E2-7CCAAC521B95}"/>
              </a:ext>
            </a:extLst>
          </p:cNvPr>
          <p:cNvSpPr txBox="1"/>
          <p:nvPr/>
        </p:nvSpPr>
        <p:spPr>
          <a:xfrm>
            <a:off x="4720165" y="2706056"/>
            <a:ext cx="286173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i="1" dirty="0" err="1">
                <a:solidFill>
                  <a:srgbClr val="FF0000"/>
                </a:solidFill>
              </a:rPr>
              <a:t>Create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your</a:t>
            </a:r>
            <a:r>
              <a:rPr lang="fr-BE" sz="1100" i="1" dirty="0">
                <a:solidFill>
                  <a:srgbClr val="FF0000"/>
                </a:solidFill>
              </a:rPr>
              <a:t> external location , in the </a:t>
            </a:r>
            <a:r>
              <a:rPr lang="fr-BE" sz="1100" i="1" dirty="0" err="1">
                <a:solidFill>
                  <a:srgbClr val="FF0000"/>
                </a:solidFill>
              </a:rPr>
              <a:t>same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way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you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will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be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creating</a:t>
            </a:r>
            <a:r>
              <a:rPr lang="fr-BE" sz="1100" i="1" dirty="0">
                <a:solidFill>
                  <a:srgbClr val="FF0000"/>
                </a:solidFill>
              </a:rPr>
              <a:t> a location for silver and gold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CFE4524-845D-3D15-4C94-BE2FBB27D424}"/>
              </a:ext>
            </a:extLst>
          </p:cNvPr>
          <p:cNvSpPr txBox="1"/>
          <p:nvPr/>
        </p:nvSpPr>
        <p:spPr>
          <a:xfrm>
            <a:off x="8668529" y="2326560"/>
            <a:ext cx="286173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100" b="1" i="1" dirty="0">
                <a:solidFill>
                  <a:srgbClr val="FF0000"/>
                </a:solidFill>
              </a:rPr>
              <a:t>external location </a:t>
            </a:r>
            <a:r>
              <a:rPr lang="fr-BE" sz="1100" b="1" i="1" dirty="0" err="1">
                <a:solidFill>
                  <a:srgbClr val="FF0000"/>
                </a:solidFill>
              </a:rPr>
              <a:t>created</a:t>
            </a:r>
            <a:endParaRPr lang="fr-BE" sz="1100" b="1" i="1" dirty="0">
              <a:solidFill>
                <a:srgbClr val="FF0000"/>
              </a:solidFill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BCC4A43-5439-E89C-0726-9151FBB196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5946" y="4051130"/>
            <a:ext cx="3525088" cy="69426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FF76E9A-835C-C5AE-B90E-E68FEB5B18D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56968" y="4915040"/>
            <a:ext cx="4751905" cy="5978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0D0167D-512E-0D3C-F7E5-6C92EC72735F}"/>
              </a:ext>
            </a:extLst>
          </p:cNvPr>
          <p:cNvSpPr txBox="1"/>
          <p:nvPr/>
        </p:nvSpPr>
        <p:spPr>
          <a:xfrm>
            <a:off x="5688073" y="5314141"/>
            <a:ext cx="28617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000" i="1" dirty="0">
                <a:solidFill>
                  <a:srgbClr val="FF0000"/>
                </a:solidFill>
              </a:rPr>
              <a:t>You can </a:t>
            </a:r>
            <a:r>
              <a:rPr lang="fr-BE" sz="1000" i="1" dirty="0" err="1">
                <a:solidFill>
                  <a:srgbClr val="FF0000"/>
                </a:solidFill>
              </a:rPr>
              <a:t>create</a:t>
            </a:r>
            <a:r>
              <a:rPr lang="fr-BE" sz="1000" i="1" dirty="0">
                <a:solidFill>
                  <a:srgbClr val="FF0000"/>
                </a:solidFill>
              </a:rPr>
              <a:t> a new one by </a:t>
            </a:r>
            <a:r>
              <a:rPr lang="fr-BE" sz="1000" i="1" dirty="0" err="1">
                <a:solidFill>
                  <a:srgbClr val="FF0000"/>
                </a:solidFill>
              </a:rPr>
              <a:t>using</a:t>
            </a:r>
            <a:r>
              <a:rPr lang="fr-BE" sz="1000" i="1" dirty="0">
                <a:solidFill>
                  <a:srgbClr val="FF0000"/>
                </a:solidFill>
              </a:rPr>
              <a:t> the </a:t>
            </a:r>
            <a:r>
              <a:rPr lang="fr-BE" sz="1000" b="1" i="1" dirty="0" err="1">
                <a:solidFill>
                  <a:srgbClr val="FF0000"/>
                </a:solidFill>
              </a:rPr>
              <a:t>resource</a:t>
            </a:r>
            <a:r>
              <a:rPr lang="fr-BE" sz="1000" b="1" i="1" dirty="0">
                <a:solidFill>
                  <a:srgbClr val="FF0000"/>
                </a:solidFill>
              </a:rPr>
              <a:t> ID</a:t>
            </a:r>
            <a:r>
              <a:rPr lang="fr-BE" sz="1000" i="1" dirty="0">
                <a:solidFill>
                  <a:srgbClr val="FF0000"/>
                </a:solidFill>
              </a:rPr>
              <a:t> of the </a:t>
            </a:r>
            <a:r>
              <a:rPr lang="fr-BE" sz="1000" i="1" dirty="0" err="1">
                <a:solidFill>
                  <a:srgbClr val="FF0000"/>
                </a:solidFill>
              </a:rPr>
              <a:t>databriks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connector</a:t>
            </a:r>
            <a:r>
              <a:rPr lang="fr-BE" sz="1000" i="1" dirty="0">
                <a:solidFill>
                  <a:srgbClr val="FF0000"/>
                </a:solidFill>
              </a:rPr>
              <a:t> , and </a:t>
            </a:r>
            <a:r>
              <a:rPr lang="fr-BE" sz="1000" i="1" dirty="0" err="1">
                <a:solidFill>
                  <a:srgbClr val="FF0000"/>
                </a:solidFill>
              </a:rPr>
              <a:t>make</a:t>
            </a:r>
            <a:r>
              <a:rPr lang="fr-BE" sz="1000" i="1" dirty="0">
                <a:solidFill>
                  <a:srgbClr val="FF0000"/>
                </a:solidFill>
              </a:rPr>
              <a:t> sure </a:t>
            </a:r>
            <a:r>
              <a:rPr lang="fr-BE" sz="1000" i="1" dirty="0" err="1">
                <a:solidFill>
                  <a:srgbClr val="FF0000"/>
                </a:solidFill>
              </a:rPr>
              <a:t>this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connector</a:t>
            </a:r>
            <a:r>
              <a:rPr lang="fr-BE" sz="1000" i="1" dirty="0">
                <a:solidFill>
                  <a:srgbClr val="FF0000"/>
                </a:solidFill>
              </a:rPr>
              <a:t> has a Storage blob data </a:t>
            </a:r>
            <a:r>
              <a:rPr lang="fr-BE" sz="1000" i="1" dirty="0" err="1">
                <a:solidFill>
                  <a:srgbClr val="FF0000"/>
                </a:solidFill>
              </a:rPr>
              <a:t>contributor</a:t>
            </a:r>
            <a:r>
              <a:rPr lang="fr-BE" sz="1000" i="1" dirty="0">
                <a:solidFill>
                  <a:srgbClr val="FF0000"/>
                </a:solidFill>
              </a:rPr>
              <a:t> </a:t>
            </a:r>
            <a:r>
              <a:rPr lang="fr-BE" sz="1000" i="1" dirty="0" err="1">
                <a:solidFill>
                  <a:srgbClr val="FF0000"/>
                </a:solidFill>
              </a:rPr>
              <a:t>access</a:t>
            </a:r>
            <a:r>
              <a:rPr lang="fr-BE" sz="1000" i="1" dirty="0">
                <a:solidFill>
                  <a:srgbClr val="FF0000"/>
                </a:solidFill>
              </a:rPr>
              <a:t> to the </a:t>
            </a:r>
            <a:r>
              <a:rPr lang="fr-BE" sz="1000" i="1" dirty="0" err="1">
                <a:solidFill>
                  <a:srgbClr val="FF0000"/>
                </a:solidFill>
              </a:rPr>
              <a:t>adls</a:t>
            </a:r>
            <a:endParaRPr lang="fr-BE" sz="1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43618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AD66-4FF6-575D-B1BF-C8AC39B43A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422AC-2014-6491-BACD-D663FD816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3600" dirty="0"/>
              <a:t>Schema</a:t>
            </a:r>
            <a:endParaRPr lang="en-BE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1877B0-45A0-BDDE-6E2C-7E136A5586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67" y="762001"/>
            <a:ext cx="11929533" cy="5828770"/>
          </a:xfrm>
        </p:spPr>
        <p:txBody>
          <a:bodyPr>
            <a:normAutofit/>
          </a:bodyPr>
          <a:lstStyle/>
          <a:p>
            <a:pPr algn="l"/>
            <a:r>
              <a:rPr lang="en-GB" sz="1200" i="1" dirty="0"/>
              <a:t>When the </a:t>
            </a:r>
            <a:r>
              <a:rPr lang="en-GB" sz="1200" i="1" dirty="0" err="1"/>
              <a:t>catalog</a:t>
            </a:r>
            <a:r>
              <a:rPr lang="en-GB" sz="1200" i="1" dirty="0"/>
              <a:t> is created you can use a notebook (or use design view ) to create the needed schema (</a:t>
            </a:r>
            <a:r>
              <a:rPr lang="en-GB" sz="1200" b="1" i="1" dirty="0"/>
              <a:t>bronze , silver , gold</a:t>
            </a:r>
            <a:r>
              <a:rPr lang="en-GB" sz="1200" i="1" dirty="0"/>
              <a:t>) </a:t>
            </a:r>
          </a:p>
          <a:p>
            <a:pPr algn="l"/>
            <a:r>
              <a:rPr lang="en-GB" sz="1200" i="1" dirty="0">
                <a:hlinkClick r:id="rId2"/>
              </a:rPr>
              <a:t>https://wvww.youtube.com/watch?v=4uKRzDf0zIc&amp;t=274s</a:t>
            </a:r>
            <a:r>
              <a:rPr lang="en-GB" sz="1200" i="1" dirty="0"/>
              <a:t> </a:t>
            </a:r>
            <a:r>
              <a:rPr lang="en-GB" sz="1100" i="1" dirty="0"/>
              <a:t>( from 1:18 </a:t>
            </a:r>
            <a:r>
              <a:rPr lang="en-GB" sz="1100" i="1" dirty="0" err="1"/>
              <a:t>th</a:t>
            </a:r>
            <a:r>
              <a:rPr lang="en-GB" sz="1100" i="1" dirty="0"/>
              <a:t> MIN)</a:t>
            </a:r>
            <a:endParaRPr lang="en-BE" sz="12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CEE03B-4752-6988-1CD7-DB084D07C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8" y="1358371"/>
            <a:ext cx="9838796" cy="1742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720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1DD59-0B18-4639-7B5B-DA6ECB1D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6A4C3-B37B-4046-8EAD-4DB0A131FC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-18601"/>
            <a:ext cx="9144000" cy="596370"/>
          </a:xfrm>
        </p:spPr>
        <p:txBody>
          <a:bodyPr>
            <a:noAutofit/>
          </a:bodyPr>
          <a:lstStyle/>
          <a:p>
            <a:r>
              <a:rPr lang="en-GB" sz="2400" dirty="0"/>
              <a:t>Medallion architecture </a:t>
            </a:r>
            <a:endParaRPr lang="en-BE" sz="2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67189-AC8D-B60C-882A-A38D40FD64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2613" y="516467"/>
            <a:ext cx="11953187" cy="6074304"/>
          </a:xfrm>
        </p:spPr>
        <p:txBody>
          <a:bodyPr>
            <a:normAutofit/>
          </a:bodyPr>
          <a:lstStyle/>
          <a:p>
            <a:pPr algn="l"/>
            <a:r>
              <a:rPr lang="en-GB" sz="1200" i="1" dirty="0" err="1"/>
              <a:t>Databriks</a:t>
            </a:r>
            <a:r>
              <a:rPr lang="en-GB" sz="1200" i="1" dirty="0"/>
              <a:t> support also medallion architecture : </a:t>
            </a:r>
          </a:p>
          <a:p>
            <a:pPr algn="l"/>
            <a:r>
              <a:rPr lang="en-GB" sz="1200" i="1" dirty="0">
                <a:hlinkClick r:id="rId2"/>
              </a:rPr>
              <a:t>https://wvww.youtube.com/watch?v=4uKRzDf0zIc&amp;t=274s</a:t>
            </a:r>
            <a:r>
              <a:rPr lang="en-GB" sz="1200" i="1" dirty="0"/>
              <a:t> </a:t>
            </a:r>
            <a:r>
              <a:rPr lang="en-GB" sz="1100" i="1" dirty="0"/>
              <a:t>( from 1:10  to 18</a:t>
            </a:r>
            <a:r>
              <a:rPr lang="en-GB" sz="1100" i="1" baseline="30000" dirty="0"/>
              <a:t>th</a:t>
            </a:r>
            <a:r>
              <a:rPr lang="en-GB" sz="1100" i="1" dirty="0"/>
              <a:t>  MIN)</a:t>
            </a:r>
            <a:endParaRPr lang="en-BE" sz="1200" i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84DB69-7A08-2F13-6EA7-B8232FABE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724" y="1667933"/>
            <a:ext cx="3506985" cy="293608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6EE28B-39A1-4D69-FF2F-F48DBF239B97}"/>
              </a:ext>
            </a:extLst>
          </p:cNvPr>
          <p:cNvSpPr txBox="1"/>
          <p:nvPr/>
        </p:nvSpPr>
        <p:spPr>
          <a:xfrm>
            <a:off x="388473" y="1358371"/>
            <a:ext cx="26754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List of external location (in ADLS)</a:t>
            </a:r>
            <a:endParaRPr lang="en-BE" sz="1200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C6B0F78-3627-558B-8F6B-09A16FC793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840" y="1760517"/>
            <a:ext cx="4108260" cy="43603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BFDE13-3A78-6218-B647-EAFD5DDCCA08}"/>
              </a:ext>
            </a:extLst>
          </p:cNvPr>
          <p:cNvSpPr txBox="1"/>
          <p:nvPr/>
        </p:nvSpPr>
        <p:spPr>
          <a:xfrm>
            <a:off x="4813299" y="1483518"/>
            <a:ext cx="680296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For each folder in </a:t>
            </a:r>
            <a:r>
              <a:rPr lang="en-GB" sz="1200" dirty="0" err="1">
                <a:solidFill>
                  <a:srgbClr val="FF0000"/>
                </a:solidFill>
              </a:rPr>
              <a:t>adls</a:t>
            </a:r>
            <a:r>
              <a:rPr lang="en-GB" sz="1200" dirty="0">
                <a:solidFill>
                  <a:srgbClr val="FF0000"/>
                </a:solidFill>
              </a:rPr>
              <a:t> , we need to create an </a:t>
            </a:r>
            <a:r>
              <a:rPr lang="en-GB" sz="1200" dirty="0" err="1">
                <a:solidFill>
                  <a:srgbClr val="FF0000"/>
                </a:solidFill>
              </a:rPr>
              <a:t>databriks</a:t>
            </a:r>
            <a:r>
              <a:rPr lang="en-GB" sz="1200" dirty="0">
                <a:solidFill>
                  <a:srgbClr val="FF0000"/>
                </a:solidFill>
              </a:rPr>
              <a:t>  external </a:t>
            </a:r>
            <a:r>
              <a:rPr lang="en-GB" sz="1200" dirty="0" err="1">
                <a:solidFill>
                  <a:srgbClr val="FF0000"/>
                </a:solidFill>
              </a:rPr>
              <a:t>localion</a:t>
            </a:r>
            <a:r>
              <a:rPr lang="en-GB" sz="1200" dirty="0">
                <a:solidFill>
                  <a:srgbClr val="FF0000"/>
                </a:solidFill>
              </a:rPr>
              <a:t> pointing to each </a:t>
            </a:r>
            <a:r>
              <a:rPr lang="en-GB" sz="1200" dirty="0" err="1">
                <a:solidFill>
                  <a:srgbClr val="FF0000"/>
                </a:solidFill>
              </a:rPr>
              <a:t>adls</a:t>
            </a:r>
            <a:r>
              <a:rPr lang="en-GB" sz="1200" dirty="0">
                <a:solidFill>
                  <a:srgbClr val="FF0000"/>
                </a:solidFill>
              </a:rPr>
              <a:t> folder </a:t>
            </a:r>
            <a:endParaRPr lang="en-BE" sz="1200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693A7-A003-00CD-2C45-0A1CADED0319}"/>
              </a:ext>
            </a:extLst>
          </p:cNvPr>
          <p:cNvSpPr txBox="1"/>
          <p:nvPr/>
        </p:nvSpPr>
        <p:spPr>
          <a:xfrm>
            <a:off x="512233" y="6187971"/>
            <a:ext cx="680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solidFill>
                  <a:srgbClr val="FF0000"/>
                </a:solidFill>
              </a:rPr>
              <a:t>Note : Storage credential is the </a:t>
            </a:r>
            <a:r>
              <a:rPr lang="en-GB" sz="1200" dirty="0" err="1">
                <a:solidFill>
                  <a:srgbClr val="FF0000"/>
                </a:solidFill>
              </a:rPr>
              <a:t>databriks</a:t>
            </a:r>
            <a:r>
              <a:rPr lang="en-GB" sz="1200" dirty="0">
                <a:solidFill>
                  <a:srgbClr val="FF0000"/>
                </a:solidFill>
              </a:rPr>
              <a:t> connector resource ID , after it being made contributor on the </a:t>
            </a:r>
            <a:r>
              <a:rPr lang="en-GB" sz="1200" dirty="0" err="1">
                <a:solidFill>
                  <a:srgbClr val="FF0000"/>
                </a:solidFill>
              </a:rPr>
              <a:t>adls</a:t>
            </a:r>
            <a:r>
              <a:rPr lang="en-GB" sz="1200" dirty="0">
                <a:solidFill>
                  <a:srgbClr val="FF0000"/>
                </a:solidFill>
              </a:rPr>
              <a:t> (</a:t>
            </a:r>
            <a:r>
              <a:rPr lang="en-GB" sz="1200" dirty="0" err="1">
                <a:solidFill>
                  <a:srgbClr val="FF0000"/>
                </a:solidFill>
              </a:rPr>
              <a:t>ocoadlstoragefiles</a:t>
            </a:r>
            <a:r>
              <a:rPr lang="en-GB" sz="1200" dirty="0">
                <a:solidFill>
                  <a:srgbClr val="FF0000"/>
                </a:solidFill>
              </a:rPr>
              <a:t>)</a:t>
            </a:r>
            <a:endParaRPr lang="en-BE" sz="1200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6D7BBE-32E6-DBEC-BC45-ADCB75798E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8393" y="5033678"/>
            <a:ext cx="2800994" cy="161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52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9F2AE-844A-25CD-487C-C1E464ACE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F2692-5A8B-A90A-3099-BD6741BAC1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3600" dirty="0"/>
              <a:t>Ingestion from ADLS</a:t>
            </a:r>
            <a:endParaRPr lang="en-BE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43B065-4F1C-5B64-B2AA-7B86217B50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67" y="762001"/>
            <a:ext cx="11929533" cy="5828770"/>
          </a:xfrm>
        </p:spPr>
        <p:txBody>
          <a:bodyPr>
            <a:normAutofit/>
          </a:bodyPr>
          <a:lstStyle/>
          <a:p>
            <a:pPr algn="l"/>
            <a:r>
              <a:rPr lang="en-GB" sz="1200" i="1" dirty="0" err="1"/>
              <a:t>Databriks</a:t>
            </a:r>
            <a:r>
              <a:rPr lang="en-GB" sz="1200" i="1" dirty="0"/>
              <a:t> has some native connector  with </a:t>
            </a:r>
            <a:r>
              <a:rPr lang="en-GB" sz="1200" i="1" dirty="0" err="1"/>
              <a:t>SalesForce</a:t>
            </a:r>
            <a:r>
              <a:rPr lang="en-GB" sz="1200" i="1" dirty="0"/>
              <a:t> and more apps , files systems and </a:t>
            </a:r>
            <a:r>
              <a:rPr lang="en-GB" sz="1200" i="1" dirty="0" err="1"/>
              <a:t>fivetran</a:t>
            </a:r>
            <a:r>
              <a:rPr lang="en-GB" sz="1200" i="1" dirty="0"/>
              <a:t>. </a:t>
            </a:r>
          </a:p>
          <a:p>
            <a:pPr algn="l"/>
            <a:r>
              <a:rPr lang="en-GB" sz="1200" i="1" dirty="0">
                <a:hlinkClick r:id="rId2"/>
              </a:rPr>
              <a:t>https://wvww.youtube.com/watch?v=4uKRzDf0zIc&amp;t=274s</a:t>
            </a:r>
            <a:r>
              <a:rPr lang="en-GB" sz="1200" i="1" dirty="0"/>
              <a:t> </a:t>
            </a:r>
            <a:r>
              <a:rPr lang="en-GB" sz="1100" i="1" dirty="0"/>
              <a:t>( from 1:20 </a:t>
            </a:r>
            <a:r>
              <a:rPr lang="en-GB" sz="1100" i="1" dirty="0" err="1"/>
              <a:t>th</a:t>
            </a:r>
            <a:r>
              <a:rPr lang="en-GB" sz="1100" i="1" dirty="0"/>
              <a:t> MIN)</a:t>
            </a:r>
            <a:endParaRPr lang="en-BE" sz="12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DB4875-FEC2-A8E5-AC5B-7436062F27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8" y="1358372"/>
            <a:ext cx="6956050" cy="39417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B92FEE-FF44-0818-1D02-A0F6CA15D66C}"/>
              </a:ext>
            </a:extLst>
          </p:cNvPr>
          <p:cNvSpPr txBox="1"/>
          <p:nvPr/>
        </p:nvSpPr>
        <p:spPr>
          <a:xfrm>
            <a:off x="7931303" y="789130"/>
            <a:ext cx="424180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>
                <a:solidFill>
                  <a:srgbClr val="FF0000"/>
                </a:solidFill>
              </a:rPr>
              <a:t>In the data ingestion section , you can choose for the </a:t>
            </a:r>
            <a:r>
              <a:rPr lang="en-GB" sz="1100" b="1" i="1" dirty="0">
                <a:solidFill>
                  <a:srgbClr val="FF0000"/>
                </a:solidFill>
              </a:rPr>
              <a:t>connector ADLS , </a:t>
            </a:r>
            <a:r>
              <a:rPr lang="en-GB" sz="1100" i="1" dirty="0" err="1">
                <a:solidFill>
                  <a:srgbClr val="FF0000"/>
                </a:solidFill>
              </a:rPr>
              <a:t>en</a:t>
            </a:r>
            <a:r>
              <a:rPr lang="en-GB" sz="1100" i="1" dirty="0">
                <a:solidFill>
                  <a:srgbClr val="FF0000"/>
                </a:solidFill>
              </a:rPr>
              <a:t> select folder you want in you </a:t>
            </a:r>
            <a:r>
              <a:rPr lang="en-GB" sz="1100" i="1" dirty="0" err="1">
                <a:solidFill>
                  <a:srgbClr val="FF0000"/>
                </a:solidFill>
              </a:rPr>
              <a:t>creared</a:t>
            </a:r>
            <a:r>
              <a:rPr lang="en-GB" sz="1100" i="1" dirty="0">
                <a:solidFill>
                  <a:srgbClr val="FF0000"/>
                </a:solidFill>
              </a:rPr>
              <a:t> ADLS like source, bronze….When you choose a folder it will list you all the </a:t>
            </a:r>
            <a:r>
              <a:rPr lang="en-GB" sz="1100" i="1" dirty="0" err="1">
                <a:solidFill>
                  <a:srgbClr val="FF0000"/>
                </a:solidFill>
              </a:rPr>
              <a:t>subfoder</a:t>
            </a:r>
            <a:r>
              <a:rPr lang="en-GB" sz="1100" i="1" dirty="0">
                <a:solidFill>
                  <a:srgbClr val="FF0000"/>
                </a:solidFill>
              </a:rPr>
              <a:t> inside. By few clicks you create related table within a corresponding schema</a:t>
            </a:r>
            <a:endParaRPr lang="en-BE" sz="1100" i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C09CFC-EF51-5FBF-6A1F-5D851F33F1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636" y="1674163"/>
            <a:ext cx="3824216" cy="12254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D55934-51E7-54F3-6D6D-F2ADC9520E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6322" y="2612808"/>
            <a:ext cx="3758497" cy="120517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86138F-91F5-087A-F8BA-968325EF35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77" y="4061690"/>
            <a:ext cx="2021563" cy="178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445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15CF5-C71C-5171-FB12-F46489436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356AE-49C3-BF1F-31BB-1C46662676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3600" dirty="0"/>
              <a:t>Ingestion data from Azure </a:t>
            </a:r>
            <a:r>
              <a:rPr lang="en-GB" sz="3600" dirty="0" err="1"/>
              <a:t>sql</a:t>
            </a:r>
            <a:r>
              <a:rPr lang="en-GB" sz="3600" dirty="0"/>
              <a:t> setup</a:t>
            </a:r>
            <a:endParaRPr lang="en-BE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3A24D5-0D02-9FA4-68EE-4F5DF885AF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67" y="762001"/>
            <a:ext cx="11929533" cy="5828770"/>
          </a:xfrm>
        </p:spPr>
        <p:txBody>
          <a:bodyPr>
            <a:normAutofit/>
          </a:bodyPr>
          <a:lstStyle/>
          <a:p>
            <a:pPr algn="l"/>
            <a:r>
              <a:rPr lang="en-GB" sz="1200" i="1"/>
              <a:t>Databriks allow  ingestion of data from SQL database. For this you need to enable CDC on the database and related tables</a:t>
            </a:r>
          </a:p>
          <a:p>
            <a:pPr algn="l"/>
            <a:r>
              <a:rPr lang="en-GB" sz="1200" i="1">
                <a:hlinkClick r:id="rId2"/>
              </a:rPr>
              <a:t>https://www.youtube.com/watch?v=IkBtdBjKFDQ</a:t>
            </a:r>
            <a:endParaRPr lang="en-BE" sz="1200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AC47A0-A4C8-7D4C-EFA7-B77CF37D9E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7" y="1473579"/>
            <a:ext cx="7935432" cy="2981741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E5413AE-5DE0-2456-D45A-4F6486E39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4391551"/>
            <a:ext cx="3440081" cy="20350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DFC68C-AEB9-222A-D572-D04799E5BEE7}"/>
              </a:ext>
            </a:extLst>
          </p:cNvPr>
          <p:cNvSpPr txBox="1"/>
          <p:nvPr/>
        </p:nvSpPr>
        <p:spPr>
          <a:xfrm>
            <a:off x="389466" y="1298179"/>
            <a:ext cx="3276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200" i="1" dirty="0" err="1">
                <a:solidFill>
                  <a:srgbClr val="FF0000"/>
                </a:solidFill>
              </a:rPr>
              <a:t>Enabling</a:t>
            </a:r>
            <a:r>
              <a:rPr lang="fr-BE" sz="1200" i="1" dirty="0">
                <a:solidFill>
                  <a:srgbClr val="FF0000"/>
                </a:solidFill>
              </a:rPr>
              <a:t> </a:t>
            </a:r>
            <a:r>
              <a:rPr lang="fr-BE" sz="1200" i="1" dirty="0" err="1">
                <a:solidFill>
                  <a:srgbClr val="FF0000"/>
                </a:solidFill>
              </a:rPr>
              <a:t>necessary</a:t>
            </a:r>
            <a:r>
              <a:rPr lang="fr-BE" sz="1200" i="1" dirty="0">
                <a:solidFill>
                  <a:srgbClr val="FF0000"/>
                </a:solidFill>
              </a:rPr>
              <a:t> change </a:t>
            </a:r>
            <a:r>
              <a:rPr lang="fr-BE" sz="1200" i="1" dirty="0" err="1">
                <a:solidFill>
                  <a:srgbClr val="FF0000"/>
                </a:solidFill>
              </a:rPr>
              <a:t>tracking</a:t>
            </a:r>
            <a:r>
              <a:rPr lang="fr-BE" sz="1200" i="1" dirty="0">
                <a:solidFill>
                  <a:srgbClr val="FF0000"/>
                </a:solidFill>
              </a:rPr>
              <a:t> </a:t>
            </a:r>
            <a:r>
              <a:rPr lang="fr-BE" sz="1200" i="1" dirty="0" err="1">
                <a:solidFill>
                  <a:srgbClr val="FF0000"/>
                </a:solidFill>
              </a:rPr>
              <a:t>features</a:t>
            </a:r>
            <a:endParaRPr lang="en-BE" sz="1200" i="1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8EB410-F6F9-0980-33D6-F55E18B77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2288" y="2345013"/>
            <a:ext cx="4731846" cy="30066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2DC7D8-596B-DC9F-7BAF-D85640B3C222}"/>
              </a:ext>
            </a:extLst>
          </p:cNvPr>
          <p:cNvSpPr txBox="1"/>
          <p:nvPr/>
        </p:nvSpPr>
        <p:spPr>
          <a:xfrm>
            <a:off x="5909733" y="2056150"/>
            <a:ext cx="2921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100" i="1" dirty="0">
                <a:solidFill>
                  <a:srgbClr val="FF0000"/>
                </a:solidFill>
              </a:rPr>
              <a:t>Set up </a:t>
            </a:r>
            <a:r>
              <a:rPr lang="fr-BE" sz="1100" i="1" dirty="0" err="1">
                <a:solidFill>
                  <a:srgbClr val="FF0000"/>
                </a:solidFill>
              </a:rPr>
              <a:t>query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from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Dbr</a:t>
            </a:r>
            <a:endParaRPr lang="en-BE" sz="1100" i="1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1521C22-EA12-7207-86F4-B7893B9BDCA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0733" y="4894201"/>
            <a:ext cx="2908404" cy="1696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75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C6943-61E1-021E-8913-F51FF166B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4EB38-AC5F-822D-0C70-3446F6E8B1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3600" dirty="0"/>
              <a:t>Ingest data from Azure </a:t>
            </a:r>
            <a:r>
              <a:rPr lang="en-GB" sz="3600" dirty="0" err="1"/>
              <a:t>sql</a:t>
            </a:r>
            <a:r>
              <a:rPr lang="en-GB" sz="3600" dirty="0"/>
              <a:t>  implementation</a:t>
            </a:r>
            <a:endParaRPr lang="en-BE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B903BB-2869-6BDF-F097-93C43F0672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267" y="762001"/>
            <a:ext cx="11929533" cy="5828770"/>
          </a:xfrm>
        </p:spPr>
        <p:txBody>
          <a:bodyPr>
            <a:normAutofit/>
          </a:bodyPr>
          <a:lstStyle/>
          <a:p>
            <a:pPr algn="l"/>
            <a:r>
              <a:rPr lang="en-GB" sz="1200" i="1" dirty="0" err="1"/>
              <a:t>Databriks</a:t>
            </a:r>
            <a:r>
              <a:rPr lang="en-GB" sz="1200" i="1" dirty="0"/>
              <a:t> allow  ingestion of data from SQL database. For this you need to enable CDC on the database and related tables</a:t>
            </a:r>
          </a:p>
          <a:p>
            <a:pPr algn="l"/>
            <a:r>
              <a:rPr lang="en-GB" sz="1200" i="1" dirty="0">
                <a:hlinkClick r:id="rId2"/>
              </a:rPr>
              <a:t>https://www.youtube.com/watch?v=IkBtdBjKFDQ</a:t>
            </a:r>
            <a:r>
              <a:rPr lang="en-GB" sz="1200" i="1" dirty="0"/>
              <a:t> 16 </a:t>
            </a:r>
            <a:r>
              <a:rPr lang="en-GB" sz="1200" i="1" dirty="0" err="1"/>
              <a:t>th</a:t>
            </a:r>
            <a:r>
              <a:rPr lang="en-GB" sz="1200" i="1" dirty="0"/>
              <a:t> min</a:t>
            </a:r>
            <a:endParaRPr lang="en-BE" sz="1200" i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8FF031-B9D0-0C8E-048B-F76986B99141}"/>
              </a:ext>
            </a:extLst>
          </p:cNvPr>
          <p:cNvSpPr txBox="1"/>
          <p:nvPr/>
        </p:nvSpPr>
        <p:spPr>
          <a:xfrm>
            <a:off x="389466" y="1298179"/>
            <a:ext cx="32765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1200" i="1" dirty="0" err="1">
                <a:solidFill>
                  <a:srgbClr val="FF0000"/>
                </a:solidFill>
              </a:rPr>
              <a:t>Enablin</a:t>
            </a:r>
            <a:r>
              <a:rPr lang="fr-BE" sz="1200" i="1" dirty="0">
                <a:solidFill>
                  <a:srgbClr val="FF0000"/>
                </a:solidFill>
              </a:rPr>
              <a:t> </a:t>
            </a:r>
            <a:r>
              <a:rPr lang="fr-BE" sz="1200" i="1" dirty="0" err="1">
                <a:solidFill>
                  <a:srgbClr val="FF0000"/>
                </a:solidFill>
              </a:rPr>
              <a:t>LakeFolow</a:t>
            </a:r>
            <a:r>
              <a:rPr lang="fr-BE" sz="1200" i="1" dirty="0">
                <a:solidFill>
                  <a:srgbClr val="FF0000"/>
                </a:solidFill>
              </a:rPr>
              <a:t> </a:t>
            </a:r>
            <a:r>
              <a:rPr lang="fr-BE" sz="1200" i="1" dirty="0" err="1">
                <a:solidFill>
                  <a:srgbClr val="FF0000"/>
                </a:solidFill>
              </a:rPr>
              <a:t>connect</a:t>
            </a:r>
            <a:r>
              <a:rPr lang="fr-BE" sz="1200" i="1" dirty="0">
                <a:solidFill>
                  <a:srgbClr val="FF0000"/>
                </a:solidFill>
              </a:rPr>
              <a:t> for </a:t>
            </a:r>
            <a:r>
              <a:rPr lang="fr-BE" sz="1200" i="1" dirty="0" err="1">
                <a:solidFill>
                  <a:srgbClr val="FF0000"/>
                </a:solidFill>
              </a:rPr>
              <a:t>SQl</a:t>
            </a:r>
            <a:r>
              <a:rPr lang="fr-BE" sz="1200" i="1" dirty="0">
                <a:solidFill>
                  <a:srgbClr val="FF0000"/>
                </a:solidFill>
              </a:rPr>
              <a:t> server </a:t>
            </a:r>
            <a:endParaRPr lang="en-BE" sz="1200" i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549669-F607-B813-1091-B0EE29E907C2}"/>
              </a:ext>
            </a:extLst>
          </p:cNvPr>
          <p:cNvSpPr txBox="1"/>
          <p:nvPr/>
        </p:nvSpPr>
        <p:spPr>
          <a:xfrm>
            <a:off x="76200" y="2731405"/>
            <a:ext cx="2921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100" i="1" dirty="0" err="1">
                <a:solidFill>
                  <a:srgbClr val="FF0000"/>
                </a:solidFill>
              </a:rPr>
              <a:t>Creating</a:t>
            </a:r>
            <a:r>
              <a:rPr lang="fr-BE" sz="1100" i="1" dirty="0">
                <a:solidFill>
                  <a:srgbClr val="FF0000"/>
                </a:solidFill>
              </a:rPr>
              <a:t>  </a:t>
            </a:r>
            <a:r>
              <a:rPr lang="fr-BE" sz="1100" i="1" dirty="0" err="1">
                <a:solidFill>
                  <a:srgbClr val="FF0000"/>
                </a:solidFill>
              </a:rPr>
              <a:t>dedicated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r>
              <a:rPr lang="fr-BE" sz="1100" i="1" dirty="0" err="1">
                <a:solidFill>
                  <a:srgbClr val="FF0000"/>
                </a:solidFill>
              </a:rPr>
              <a:t>catalog</a:t>
            </a:r>
            <a:r>
              <a:rPr lang="fr-BE" sz="1100" i="1" dirty="0">
                <a:solidFill>
                  <a:srgbClr val="FF0000"/>
                </a:solidFill>
              </a:rPr>
              <a:t> and </a:t>
            </a:r>
            <a:r>
              <a:rPr lang="fr-BE" sz="1100" i="1" dirty="0" err="1">
                <a:solidFill>
                  <a:srgbClr val="FF0000"/>
                </a:solidFill>
              </a:rPr>
              <a:t>schema</a:t>
            </a:r>
            <a:r>
              <a:rPr lang="fr-BE" sz="1100" i="1" dirty="0">
                <a:solidFill>
                  <a:srgbClr val="FF0000"/>
                </a:solidFill>
              </a:rPr>
              <a:t> </a:t>
            </a:r>
            <a:endParaRPr lang="en-BE" sz="1100" i="1" dirty="0">
              <a:solidFill>
                <a:srgbClr val="FF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041D44-40D7-AC5F-DFD7-B40C7A57E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67" y="1575179"/>
            <a:ext cx="3854925" cy="10623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E29104-E44A-BE3F-5615-D05B0D0078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9" y="2993015"/>
            <a:ext cx="2006600" cy="224364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B7BC3F6-1596-D17F-518E-5992BC91A0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133" y="5004408"/>
            <a:ext cx="3507637" cy="16633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329F256-A536-CEC2-3391-F5E3BDAFB71E}"/>
              </a:ext>
            </a:extLst>
          </p:cNvPr>
          <p:cNvSpPr txBox="1"/>
          <p:nvPr/>
        </p:nvSpPr>
        <p:spPr>
          <a:xfrm>
            <a:off x="1979331" y="4742798"/>
            <a:ext cx="2921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1100" i="1" dirty="0" err="1">
                <a:solidFill>
                  <a:srgbClr val="FF0000"/>
                </a:solidFill>
              </a:rPr>
              <a:t>Findin</a:t>
            </a:r>
            <a:r>
              <a:rPr lang="fr-BE" sz="1100" i="1" dirty="0">
                <a:solidFill>
                  <a:srgbClr val="FF0000"/>
                </a:solidFill>
              </a:rPr>
              <a:t> the </a:t>
            </a:r>
            <a:r>
              <a:rPr lang="fr-BE" sz="1100" i="1" dirty="0" err="1">
                <a:solidFill>
                  <a:srgbClr val="FF0000"/>
                </a:solidFill>
              </a:rPr>
              <a:t>sql</a:t>
            </a:r>
            <a:r>
              <a:rPr lang="fr-BE" sz="1100" i="1" dirty="0">
                <a:solidFill>
                  <a:srgbClr val="FF0000"/>
                </a:solidFill>
              </a:rPr>
              <a:t> server </a:t>
            </a:r>
            <a:r>
              <a:rPr lang="fr-BE" sz="1100" i="1" dirty="0" err="1">
                <a:solidFill>
                  <a:srgbClr val="FF0000"/>
                </a:solidFill>
              </a:rPr>
              <a:t>connector</a:t>
            </a:r>
            <a:endParaRPr lang="en-BE" sz="1100" i="1" dirty="0">
              <a:solidFill>
                <a:srgbClr val="FF000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A6EA22B-CFF0-C30A-BA1B-5C0C1F1EF0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5770" y="3352062"/>
            <a:ext cx="3079667" cy="323870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801314D-077D-0B9B-CC7E-87072563DC5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33965" y="1701536"/>
            <a:ext cx="5826418" cy="151232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15E16B9-BD17-3B74-03D7-6F0FD5E5980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6856" y="3007947"/>
            <a:ext cx="4264435" cy="178246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E2DB181-7DB7-01DA-F7E4-F6F76140D5E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75504" y="4742798"/>
            <a:ext cx="3507637" cy="20945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F28032A-F90A-4D45-B0D8-CBC3572143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39521" y="809362"/>
            <a:ext cx="2312165" cy="215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6828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C6B3F-C69B-0BC6-E970-A92A9E06B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A8685-F4FC-01FB-629A-F02A2AE5F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3600" dirty="0"/>
              <a:t>Prod , dev , test in </a:t>
            </a:r>
            <a:r>
              <a:rPr lang="en-GB" sz="3600" dirty="0" err="1"/>
              <a:t>Databriks</a:t>
            </a:r>
            <a:r>
              <a:rPr lang="en-GB" sz="3600" dirty="0"/>
              <a:t> hierarchy</a:t>
            </a:r>
            <a:endParaRPr lang="en-BE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984341-39AD-3A7E-3CAD-C2F5F5CA39FC}"/>
              </a:ext>
            </a:extLst>
          </p:cNvPr>
          <p:cNvSpPr txBox="1"/>
          <p:nvPr/>
        </p:nvSpPr>
        <p:spPr>
          <a:xfrm>
            <a:off x="575733" y="664274"/>
            <a:ext cx="10668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In </a:t>
            </a:r>
            <a:r>
              <a:rPr lang="en-GB" sz="1200" i="1" dirty="0" err="1"/>
              <a:t>databriks</a:t>
            </a:r>
            <a:r>
              <a:rPr lang="en-GB" sz="1200" i="1" dirty="0"/>
              <a:t> we have the (unique)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i="1" dirty="0" err="1"/>
              <a:t>metastore</a:t>
            </a:r>
            <a:r>
              <a:rPr lang="en-GB" sz="1200" i="1" dirty="0"/>
              <a:t> (the highest level ; the account level ; centralized repository that will contain all the managed tables)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i="1" dirty="0"/>
              <a:t>A </a:t>
            </a:r>
            <a:r>
              <a:rPr lang="en-GB" sz="1200" b="1" i="1" dirty="0" err="1"/>
              <a:t>catalog</a:t>
            </a:r>
            <a:r>
              <a:rPr lang="en-GB" sz="1200" b="1" i="1" dirty="0"/>
              <a:t> </a:t>
            </a:r>
            <a:r>
              <a:rPr lang="en-GB" sz="1200" i="1" dirty="0"/>
              <a:t>layer (when you can define you Dev , test and Prod </a:t>
            </a:r>
            <a:r>
              <a:rPr lang="en-GB" sz="1200" i="1" dirty="0" err="1"/>
              <a:t>catalogs</a:t>
            </a:r>
            <a:r>
              <a:rPr lang="en-GB" sz="1200" i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i="1" dirty="0"/>
              <a:t>A </a:t>
            </a:r>
            <a:r>
              <a:rPr lang="en-GB" sz="1200" b="1" i="1" dirty="0"/>
              <a:t>schema </a:t>
            </a:r>
            <a:r>
              <a:rPr lang="en-GB" sz="1200" i="1" dirty="0"/>
              <a:t>layer (a kind of database or project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200" b="1" i="1" dirty="0"/>
              <a:t>Tables , views </a:t>
            </a:r>
            <a:r>
              <a:rPr lang="en-GB" sz="1200" i="1" dirty="0"/>
              <a:t>layer  where the </a:t>
            </a:r>
            <a:r>
              <a:rPr lang="en-GB" sz="1200" i="1" dirty="0" err="1"/>
              <a:t>onderlaying</a:t>
            </a:r>
            <a:r>
              <a:rPr lang="en-GB" sz="1200" i="1" dirty="0"/>
              <a:t> tables can be created </a:t>
            </a:r>
          </a:p>
          <a:p>
            <a:r>
              <a:rPr lang="en-GB" sz="1200" i="1" dirty="0">
                <a:hlinkClick r:id="rId2"/>
              </a:rPr>
              <a:t>https://www.udemy.com/course/azure-data-engineer-masterclass-the-complete-guide/learn/lecture/52021001#overview</a:t>
            </a:r>
            <a:r>
              <a:rPr lang="en-GB" sz="1200" i="1" dirty="0"/>
              <a:t> </a:t>
            </a:r>
          </a:p>
          <a:p>
            <a:r>
              <a:rPr lang="en-GB" sz="1600" b="1" i="1" dirty="0"/>
              <a:t>ACCOUNT= CATALOG.SCHEMA.TABLE/VIEW</a:t>
            </a:r>
            <a:endParaRPr lang="en-BE" sz="1600" b="1" i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EC3D37-9777-7189-E51C-E4C37FFEF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91" y="2036592"/>
            <a:ext cx="3094845" cy="13924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8DE3F7F-291F-82EF-45F9-0D2845180B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635" y="3202963"/>
            <a:ext cx="2279541" cy="152143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7209501-0B6D-3247-2565-52DBE4018B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91" y="4901065"/>
            <a:ext cx="5356919" cy="163148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CEEB00B-F16A-6F40-1AE6-014CD1F4B0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3479" y="2133135"/>
            <a:ext cx="3701587" cy="269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693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D93B6-7443-77D7-4A67-2718A8D18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90BB9-B465-A597-77CA-5FC75C9D7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733" y="267230"/>
            <a:ext cx="9144000" cy="596370"/>
          </a:xfrm>
        </p:spPr>
        <p:txBody>
          <a:bodyPr>
            <a:noAutofit/>
          </a:bodyPr>
          <a:lstStyle/>
          <a:p>
            <a:r>
              <a:rPr lang="en-GB" sz="3600" dirty="0"/>
              <a:t>Federation in </a:t>
            </a:r>
            <a:r>
              <a:rPr lang="en-GB" sz="3600" dirty="0" err="1"/>
              <a:t>databriks</a:t>
            </a:r>
            <a:r>
              <a:rPr lang="en-GB" sz="3600" dirty="0"/>
              <a:t> </a:t>
            </a:r>
            <a:endParaRPr lang="en-BE" sz="3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8B7374-03AE-C263-D026-0C8CF50D4836}"/>
              </a:ext>
            </a:extLst>
          </p:cNvPr>
          <p:cNvSpPr txBox="1"/>
          <p:nvPr/>
        </p:nvSpPr>
        <p:spPr>
          <a:xfrm>
            <a:off x="575733" y="664274"/>
            <a:ext cx="106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i="1" dirty="0"/>
              <a:t>In </a:t>
            </a:r>
            <a:r>
              <a:rPr lang="en-GB" sz="1200" i="1" dirty="0" err="1"/>
              <a:t>databriks</a:t>
            </a:r>
            <a:r>
              <a:rPr lang="en-GB" sz="1200" i="1" dirty="0"/>
              <a:t> like (</a:t>
            </a:r>
            <a:r>
              <a:rPr lang="en-GB" sz="1200" i="1" dirty="0" err="1"/>
              <a:t>shotcut</a:t>
            </a:r>
            <a:r>
              <a:rPr lang="en-GB" sz="1200" i="1" dirty="0"/>
              <a:t> and mirroring) in MS Fabric , there are federation. Witch  is connection to an </a:t>
            </a:r>
            <a:r>
              <a:rPr lang="en-GB" sz="1200" i="1" dirty="0" err="1"/>
              <a:t>externaml</a:t>
            </a:r>
            <a:r>
              <a:rPr lang="en-GB" sz="1200" i="1" dirty="0"/>
              <a:t> data source like SQL , </a:t>
            </a:r>
            <a:r>
              <a:rPr lang="en-GB" sz="1200" i="1" dirty="0" err="1"/>
              <a:t>Snowflke</a:t>
            </a:r>
            <a:r>
              <a:rPr lang="en-GB" sz="1200" i="1" dirty="0"/>
              <a:t>, synapse…And start the analytical work. See the below video for the full </a:t>
            </a:r>
            <a:r>
              <a:rPr lang="en-GB" sz="1200" i="1" dirty="0" err="1"/>
              <a:t>setps</a:t>
            </a:r>
            <a:r>
              <a:rPr lang="en-GB" sz="1200" i="1" dirty="0"/>
              <a:t> </a:t>
            </a:r>
          </a:p>
          <a:p>
            <a:r>
              <a:rPr lang="en-GB" sz="1200" i="1" dirty="0">
                <a:hlinkClick r:id="rId2"/>
              </a:rPr>
              <a:t>https://www.udemy.com/course/azure-data-engineer-masterclass-the-complete-guide/learn/lecture/52139183#overview</a:t>
            </a:r>
            <a:r>
              <a:rPr lang="en-GB" sz="1200" i="1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4C045F-151F-957E-FC07-8F543CC95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557" y="1426121"/>
            <a:ext cx="5680510" cy="7296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A16B270-D787-066B-764A-3EB771D4F6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2155728"/>
            <a:ext cx="7955718" cy="143440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6A53ED-06CA-3972-AF6B-A4C97BBBAA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4000" y="3681202"/>
            <a:ext cx="4197829" cy="26870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785C11-22A7-302E-ECE3-F95CD2FE27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1236" y="4319744"/>
            <a:ext cx="2197847" cy="180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6552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10241</TotalTime>
  <Words>1048</Words>
  <Application>Microsoft Office PowerPoint</Application>
  <PresentationFormat>Widescreen</PresentationFormat>
  <Paragraphs>114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Databriks set ups</vt:lpstr>
      <vt:lpstr>Databriks set ups</vt:lpstr>
      <vt:lpstr>Databriks set ups / Metastore</vt:lpstr>
      <vt:lpstr>Databriks set ups / Catalog</vt:lpstr>
      <vt:lpstr>Databriks set ups / External data</vt:lpstr>
      <vt:lpstr>Schema</vt:lpstr>
      <vt:lpstr>Medallion architecture </vt:lpstr>
      <vt:lpstr>Ingestion from ADLS</vt:lpstr>
      <vt:lpstr>Ingestion data from Azure sql setup</vt:lpstr>
      <vt:lpstr>Ingest data from Azure sql  implementation</vt:lpstr>
      <vt:lpstr>Prod , dev , test in Databriks hierarchy</vt:lpstr>
      <vt:lpstr>Federation in databriks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Coulibaly Oumar</dc:creator>
  <cp:lastModifiedBy>Coulibaly Oumar</cp:lastModifiedBy>
  <cp:revision>58</cp:revision>
  <dcterms:created xsi:type="dcterms:W3CDTF">2026-03-13T11:08:05Z</dcterms:created>
  <dcterms:modified xsi:type="dcterms:W3CDTF">2026-03-31T17:07:06Z</dcterms:modified>
</cp:coreProperties>
</file>